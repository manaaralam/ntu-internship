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41470C-1BC6-42BA-A2D7-46EB472F757C}" type="datetimeFigureOut">
              <a:rPr lang="en-US" smtClean="0"/>
              <a:t>8/28/2017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126BE-1A7A-4F71-B3C0-F5D825D18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902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B1E2BD-2D4C-4365-A05B-3F8037A66EF3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FC02B-687E-4F46-8B5A-7AD2318CCB3B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1ABD4-8422-4C87-83DB-D8315500EE01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8A5CC-E27C-4001-AFC1-4367D1F81078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E9591-9136-46FB-AD15-59162C18D235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191FC7-19EF-4F51-9163-C09600C88C2F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71F16-0FAD-4520-9844-B9CD2E8EBEBC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5DE45-0AF2-476B-9D6D-782F27A19F52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1A11F-4446-4913-875F-BE2E81E327AE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5DDC7-E354-4AAB-86C2-03C1BD879FBE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18E86-B5C7-4D8E-8B3E-3F1A6476A55A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70BF-0CE7-4C99-80F8-7BB9A7882004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83D2D-62A4-472F-B056-8E3615585778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8D961-FC1F-4443-8BA9-EA4859F51DB0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2DA31-7CDF-4FB1-9681-482AE50494F6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0E30D-A13F-493C-B2FE-834158BBC05B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FE156D-CAA6-4157-B7E0-3D324BB69E01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Practical Black-Box Attack against Machine Learning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dirty="0" smtClean="0"/>
              <a:t>Papernot et. al.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168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274410"/>
            <a:ext cx="8915400" cy="4636812"/>
          </a:xfrm>
        </p:spPr>
        <p:txBody>
          <a:bodyPr/>
          <a:lstStyle/>
          <a:p>
            <a:pPr algn="just"/>
            <a:r>
              <a:rPr lang="en-US" dirty="0" smtClean="0"/>
              <a:t>Classifiers learns a mapping between inputs and set of classes</a:t>
            </a:r>
            <a:r>
              <a:rPr lang="en-US" dirty="0" smtClean="0"/>
              <a:t>.</a:t>
            </a:r>
          </a:p>
          <a:p>
            <a:pPr lvl="1" algn="just"/>
            <a:r>
              <a:rPr lang="en-SG" dirty="0" smtClean="0"/>
              <a:t>A </a:t>
            </a:r>
            <a:r>
              <a:rPr lang="en-SG" dirty="0"/>
              <a:t>malware </a:t>
            </a:r>
            <a:r>
              <a:rPr lang="en-SG" dirty="0" smtClean="0"/>
              <a:t>detector is </a:t>
            </a:r>
            <a:r>
              <a:rPr lang="en-SG" dirty="0"/>
              <a:t>a </a:t>
            </a:r>
            <a:r>
              <a:rPr lang="en-SG" dirty="0" smtClean="0"/>
              <a:t>classifier </a:t>
            </a:r>
            <a:r>
              <a:rPr lang="en-SG" dirty="0"/>
              <a:t>taking executables as inputs and assigning </a:t>
            </a:r>
            <a:r>
              <a:rPr lang="en-SG" dirty="0" smtClean="0"/>
              <a:t>them to </a:t>
            </a:r>
            <a:r>
              <a:rPr lang="en-SG" dirty="0"/>
              <a:t>the benign or malware class.</a:t>
            </a:r>
            <a:endParaRPr lang="en-US" dirty="0"/>
          </a:p>
          <a:p>
            <a:pPr algn="just"/>
            <a:endParaRPr lang="en-US" dirty="0" smtClean="0"/>
          </a:p>
          <a:p>
            <a:pPr algn="just"/>
            <a:endParaRPr lang="en-US" dirty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  <a:p>
            <a:pPr algn="just"/>
            <a:r>
              <a:rPr lang="en-US" dirty="0" smtClean="0"/>
              <a:t>Adversarial examples can compromise the integrity of a classifier.</a:t>
            </a:r>
          </a:p>
          <a:p>
            <a:pPr lvl="1" algn="just"/>
            <a:r>
              <a:rPr lang="en-US" dirty="0" smtClean="0"/>
              <a:t>To humans, the images appear to be same. But, forces a particular DNN to classify it as a </a:t>
            </a:r>
            <a:r>
              <a:rPr lang="en-US" i="1" dirty="0" smtClean="0"/>
              <a:t>yield sign</a:t>
            </a:r>
            <a:r>
              <a:rPr lang="en-US" dirty="0" smtClean="0"/>
              <a:t>.</a:t>
            </a:r>
            <a:endParaRPr lang="en-US" dirty="0"/>
          </a:p>
        </p:txBody>
      </p:sp>
      <p:grpSp>
        <p:nvGrpSpPr>
          <p:cNvPr id="23" name="Group 22"/>
          <p:cNvGrpSpPr/>
          <p:nvPr/>
        </p:nvGrpSpPr>
        <p:grpSpPr>
          <a:xfrm>
            <a:off x="5342803" y="2288003"/>
            <a:ext cx="3507970" cy="1557467"/>
            <a:chOff x="5054138" y="2998216"/>
            <a:chExt cx="3507970" cy="1557467"/>
          </a:xfrm>
        </p:grpSpPr>
        <p:sp>
          <p:nvSpPr>
            <p:cNvPr id="4" name="Rounded Rectangle 3"/>
            <p:cNvSpPr/>
            <p:nvPr/>
          </p:nvSpPr>
          <p:spPr>
            <a:xfrm>
              <a:off x="6184669" y="3275215"/>
              <a:ext cx="1188720" cy="82296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smtClean="0">
                  <a:solidFill>
                    <a:schemeClr val="tx1"/>
                  </a:solidFill>
                </a:rPr>
                <a:t>Classifier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6" name="Straight Arrow Connector 5"/>
            <p:cNvCxnSpPr>
              <a:endCxn id="4" idx="1"/>
            </p:cNvCxnSpPr>
            <p:nvPr/>
          </p:nvCxnSpPr>
          <p:spPr>
            <a:xfrm>
              <a:off x="5694218" y="3682538"/>
              <a:ext cx="490451" cy="41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5054138" y="3544038"/>
              <a:ext cx="6400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Inputs</a:t>
              </a:r>
              <a:endParaRPr lang="en-US" sz="12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838901" y="2998216"/>
              <a:ext cx="72320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Class 1</a:t>
              </a:r>
              <a:endParaRPr lang="en-US" sz="1200" dirty="0"/>
            </a:p>
          </p:txBody>
        </p:sp>
        <p:cxnSp>
          <p:nvCxnSpPr>
            <p:cNvPr id="11" name="Straight Arrow Connector 10"/>
            <p:cNvCxnSpPr>
              <a:stCxn id="4" idx="3"/>
              <a:endCxn id="9" idx="1"/>
            </p:cNvCxnSpPr>
            <p:nvPr/>
          </p:nvCxnSpPr>
          <p:spPr>
            <a:xfrm flipV="1">
              <a:off x="7373389" y="3136716"/>
              <a:ext cx="465512" cy="5499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7838902" y="4098175"/>
              <a:ext cx="7232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Class N</a:t>
              </a:r>
              <a:endParaRPr lang="en-US" sz="1200" dirty="0"/>
            </a:p>
          </p:txBody>
        </p:sp>
        <p:cxnSp>
          <p:nvCxnSpPr>
            <p:cNvPr id="15" name="Straight Arrow Connector 14"/>
            <p:cNvCxnSpPr>
              <a:endCxn id="12" idx="1"/>
            </p:cNvCxnSpPr>
            <p:nvPr/>
          </p:nvCxnSpPr>
          <p:spPr>
            <a:xfrm>
              <a:off x="7373389" y="3682537"/>
              <a:ext cx="465513" cy="5541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7838902" y="3273874"/>
              <a:ext cx="7232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Class 2</a:t>
              </a:r>
              <a:endParaRPr lang="en-US" sz="1200" dirty="0"/>
            </a:p>
          </p:txBody>
        </p:sp>
        <p:cxnSp>
          <p:nvCxnSpPr>
            <p:cNvPr id="18" name="Straight Arrow Connector 17"/>
            <p:cNvCxnSpPr>
              <a:stCxn id="4" idx="3"/>
              <a:endCxn id="16" idx="1"/>
            </p:cNvCxnSpPr>
            <p:nvPr/>
          </p:nvCxnSpPr>
          <p:spPr>
            <a:xfrm flipV="1">
              <a:off x="7373389" y="3412374"/>
              <a:ext cx="465513" cy="274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6010102" y="4094018"/>
              <a:ext cx="15378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smtClean="0"/>
                <a:t>Machine Learning Model</a:t>
              </a:r>
              <a:endParaRPr lang="en-US" sz="1200" dirty="0"/>
            </a:p>
          </p:txBody>
        </p:sp>
      </p:grpSp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B6F28-65EE-44D6-BFFE-56AB02E1ABA6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grpSp>
        <p:nvGrpSpPr>
          <p:cNvPr id="14" name="Group 13"/>
          <p:cNvGrpSpPr/>
          <p:nvPr/>
        </p:nvGrpSpPr>
        <p:grpSpPr>
          <a:xfrm>
            <a:off x="6000017" y="4807493"/>
            <a:ext cx="2135353" cy="1424403"/>
            <a:chOff x="5956681" y="4262713"/>
            <a:chExt cx="2135353" cy="1424403"/>
          </a:xfrm>
        </p:grpSpPr>
        <p:grpSp>
          <p:nvGrpSpPr>
            <p:cNvPr id="10" name="Group 9"/>
            <p:cNvGrpSpPr/>
            <p:nvPr/>
          </p:nvGrpSpPr>
          <p:grpSpPr>
            <a:xfrm>
              <a:off x="5956682" y="4262713"/>
              <a:ext cx="2135351" cy="906700"/>
              <a:chOff x="4385656" y="3751694"/>
              <a:chExt cx="2135351" cy="906700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4385656" y="3752462"/>
                <a:ext cx="907271" cy="905932"/>
              </a:xfrm>
              <a:prstGeom prst="rect">
                <a:avLst/>
              </a:prstGeom>
            </p:spPr>
          </p:pic>
          <p:pic>
            <p:nvPicPr>
              <p:cNvPr id="7" name="Picture 6"/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612967" y="3751694"/>
                <a:ext cx="908040" cy="906700"/>
              </a:xfrm>
              <a:prstGeom prst="rect">
                <a:avLst/>
              </a:prstGeom>
            </p:spPr>
          </p:pic>
        </p:grpSp>
        <p:sp>
          <p:nvSpPr>
            <p:cNvPr id="13" name="TextBox 12"/>
            <p:cNvSpPr txBox="1"/>
            <p:nvPr/>
          </p:nvSpPr>
          <p:spPr>
            <a:xfrm>
              <a:off x="5956681" y="5102341"/>
              <a:ext cx="9072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smtClean="0"/>
                <a:t>Ordinary Stop Sign</a:t>
              </a:r>
              <a:endParaRPr lang="en-US" sz="800" dirty="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183994" y="5102341"/>
              <a:ext cx="9080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smtClean="0"/>
                <a:t>Image produced after precise perturbation</a:t>
              </a:r>
              <a:endParaRPr 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17257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207</TotalTime>
  <Words>98</Words>
  <Application>Microsoft Office PowerPoint</Application>
  <PresentationFormat>Widescreen</PresentationFormat>
  <Paragraphs>21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Century Gothic</vt:lpstr>
      <vt:lpstr>Wingdings 3</vt:lpstr>
      <vt:lpstr>Wisp</vt:lpstr>
      <vt:lpstr>Practical Black-Box Attack against Machine Learning</vt:lpstr>
      <vt:lpstr>Introduction</vt:lpstr>
    </vt:vector>
  </TitlesOfParts>
  <Company>NTU, Singapore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Practical Black-Box Attack against Machine Learning</dc:title>
  <dc:creator>#ALAM MANAAR#</dc:creator>
  <cp:lastModifiedBy>#ALAM MANAAR#</cp:lastModifiedBy>
  <cp:revision>7</cp:revision>
  <dcterms:created xsi:type="dcterms:W3CDTF">2017-08-28T05:11:15Z</dcterms:created>
  <dcterms:modified xsi:type="dcterms:W3CDTF">2017-08-28T08:42:47Z</dcterms:modified>
</cp:coreProperties>
</file>