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25"/>
  </p:notesMasterIdLst>
  <p:handoutMasterIdLst>
    <p:handoutMasterId r:id="rId26"/>
  </p:handoutMasterIdLst>
  <p:sldIdLst>
    <p:sldId id="256" r:id="rId2"/>
    <p:sldId id="258" r:id="rId3"/>
    <p:sldId id="259" r:id="rId4"/>
    <p:sldId id="260" r:id="rId5"/>
    <p:sldId id="261" r:id="rId6"/>
    <p:sldId id="262" r:id="rId7"/>
    <p:sldId id="263" r:id="rId8"/>
    <p:sldId id="264" r:id="rId9"/>
    <p:sldId id="265" r:id="rId10"/>
    <p:sldId id="267" r:id="rId11"/>
    <p:sldId id="279" r:id="rId12"/>
    <p:sldId id="280" r:id="rId13"/>
    <p:sldId id="266" r:id="rId14"/>
    <p:sldId id="278" r:id="rId15"/>
    <p:sldId id="268" r:id="rId16"/>
    <p:sldId id="270" r:id="rId17"/>
    <p:sldId id="271" r:id="rId18"/>
    <p:sldId id="272" r:id="rId19"/>
    <p:sldId id="274" r:id="rId20"/>
    <p:sldId id="276" r:id="rId21"/>
    <p:sldId id="277" r:id="rId22"/>
    <p:sldId id="281" r:id="rId23"/>
    <p:sldId id="282"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53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1" d="100"/>
          <a:sy n="111" d="100"/>
        </p:scale>
        <p:origin x="456" y="96"/>
      </p:cViewPr>
      <p:guideLst/>
    </p:cSldViewPr>
  </p:slideViewPr>
  <p:notesTextViewPr>
    <p:cViewPr>
      <p:scale>
        <a:sx n="1" d="1"/>
        <a:sy n="1" d="1"/>
      </p:scale>
      <p:origin x="0" y="0"/>
    </p:cViewPr>
  </p:notesTextViewPr>
  <p:notesViewPr>
    <p:cSldViewPr snapToGrid="0">
      <p:cViewPr varScale="1">
        <p:scale>
          <a:sx n="84" d="100"/>
          <a:sy n="84" d="100"/>
        </p:scale>
        <p:origin x="3828"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CBE21E6-4335-46CF-B593-642B3150FB7B}"/>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E31292D7-AC2B-401D-8DAD-13B3FD94D3F6}" type="datetimeFigureOut">
              <a:rPr lang="en-IN" smtClean="0"/>
              <a:t>05-09-2017</a:t>
            </a:fld>
            <a:endParaRPr lang="en-IN"/>
          </a:p>
        </p:txBody>
      </p:sp>
    </p:spTree>
    <p:extLst>
      <p:ext uri="{BB962C8B-B14F-4D97-AF65-F5344CB8AC3E}">
        <p14:creationId xmlns:p14="http://schemas.microsoft.com/office/powerpoint/2010/main" val="14689933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2"/>
            <a:ext cx="2971800" cy="458788"/>
          </a:xfrm>
          <a:prstGeom prst="rect">
            <a:avLst/>
          </a:prstGeom>
        </p:spPr>
        <p:txBody>
          <a:bodyPr vert="horz" lIns="91440" tIns="45720" rIns="91440" bIns="45720" rtlCol="0"/>
          <a:lstStyle>
            <a:lvl1pPr algn="r">
              <a:defRPr sz="1200"/>
            </a:lvl1pPr>
          </a:lstStyle>
          <a:p>
            <a:fld id="{7741470C-1BC6-42BA-A2D7-46EB472F757C}" type="datetimeFigureOut">
              <a:rPr lang="en-US" smtClean="0"/>
              <a:t>9/5/2017</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E126BE-1A7A-4F71-B3C0-F5D825D182F2}" type="slidenum">
              <a:rPr lang="en-US" smtClean="0"/>
              <a:t>‹#›</a:t>
            </a:fld>
            <a:endParaRPr lang="en-US" dirty="0"/>
          </a:p>
        </p:txBody>
      </p:sp>
    </p:spTree>
    <p:extLst>
      <p:ext uri="{BB962C8B-B14F-4D97-AF65-F5344CB8AC3E}">
        <p14:creationId xmlns:p14="http://schemas.microsoft.com/office/powerpoint/2010/main" val="2860902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1</a:t>
            </a:fld>
            <a:endParaRPr lang="en-US" dirty="0"/>
          </a:p>
        </p:txBody>
      </p:sp>
    </p:spTree>
    <p:extLst>
      <p:ext uri="{BB962C8B-B14F-4D97-AF65-F5344CB8AC3E}">
        <p14:creationId xmlns:p14="http://schemas.microsoft.com/office/powerpoint/2010/main" val="4203232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2</a:t>
            </a:fld>
            <a:endParaRPr lang="en-US" dirty="0"/>
          </a:p>
        </p:txBody>
      </p:sp>
    </p:spTree>
    <p:extLst>
      <p:ext uri="{BB962C8B-B14F-4D97-AF65-F5344CB8AC3E}">
        <p14:creationId xmlns:p14="http://schemas.microsoft.com/office/powerpoint/2010/main" val="1593402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3</a:t>
            </a:fld>
            <a:endParaRPr lang="en-US" dirty="0"/>
          </a:p>
        </p:txBody>
      </p:sp>
    </p:spTree>
    <p:extLst>
      <p:ext uri="{BB962C8B-B14F-4D97-AF65-F5344CB8AC3E}">
        <p14:creationId xmlns:p14="http://schemas.microsoft.com/office/powerpoint/2010/main" val="1065255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4</a:t>
            </a:fld>
            <a:endParaRPr lang="en-US" dirty="0"/>
          </a:p>
        </p:txBody>
      </p:sp>
    </p:spTree>
    <p:extLst>
      <p:ext uri="{BB962C8B-B14F-4D97-AF65-F5344CB8AC3E}">
        <p14:creationId xmlns:p14="http://schemas.microsoft.com/office/powerpoint/2010/main" val="21071907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5</a:t>
            </a:fld>
            <a:endParaRPr lang="en-US" dirty="0"/>
          </a:p>
        </p:txBody>
      </p:sp>
    </p:spTree>
    <p:extLst>
      <p:ext uri="{BB962C8B-B14F-4D97-AF65-F5344CB8AC3E}">
        <p14:creationId xmlns:p14="http://schemas.microsoft.com/office/powerpoint/2010/main" val="4459069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6</a:t>
            </a:fld>
            <a:endParaRPr lang="en-US" dirty="0"/>
          </a:p>
        </p:txBody>
      </p:sp>
    </p:spTree>
    <p:extLst>
      <p:ext uri="{BB962C8B-B14F-4D97-AF65-F5344CB8AC3E}">
        <p14:creationId xmlns:p14="http://schemas.microsoft.com/office/powerpoint/2010/main" val="2876915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7</a:t>
            </a:fld>
            <a:endParaRPr lang="en-US" dirty="0"/>
          </a:p>
        </p:txBody>
      </p:sp>
    </p:spTree>
    <p:extLst>
      <p:ext uri="{BB962C8B-B14F-4D97-AF65-F5344CB8AC3E}">
        <p14:creationId xmlns:p14="http://schemas.microsoft.com/office/powerpoint/2010/main" val="1015499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8</a:t>
            </a:fld>
            <a:endParaRPr lang="en-US" dirty="0"/>
          </a:p>
        </p:txBody>
      </p:sp>
    </p:spTree>
    <p:extLst>
      <p:ext uri="{BB962C8B-B14F-4D97-AF65-F5344CB8AC3E}">
        <p14:creationId xmlns:p14="http://schemas.microsoft.com/office/powerpoint/2010/main" val="42718899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9</a:t>
            </a:fld>
            <a:endParaRPr lang="en-US" dirty="0"/>
          </a:p>
        </p:txBody>
      </p:sp>
    </p:spTree>
    <p:extLst>
      <p:ext uri="{BB962C8B-B14F-4D97-AF65-F5344CB8AC3E}">
        <p14:creationId xmlns:p14="http://schemas.microsoft.com/office/powerpoint/2010/main" val="11611370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10</a:t>
            </a:fld>
            <a:endParaRPr lang="en-US" dirty="0"/>
          </a:p>
        </p:txBody>
      </p:sp>
    </p:spTree>
    <p:extLst>
      <p:ext uri="{BB962C8B-B14F-4D97-AF65-F5344CB8AC3E}">
        <p14:creationId xmlns:p14="http://schemas.microsoft.com/office/powerpoint/2010/main" val="4088689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11</a:t>
            </a:fld>
            <a:endParaRPr lang="en-US" dirty="0"/>
          </a:p>
        </p:txBody>
      </p:sp>
    </p:spTree>
    <p:extLst>
      <p:ext uri="{BB962C8B-B14F-4D97-AF65-F5344CB8AC3E}">
        <p14:creationId xmlns:p14="http://schemas.microsoft.com/office/powerpoint/2010/main" val="8015418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12</a:t>
            </a:fld>
            <a:endParaRPr lang="en-US" dirty="0"/>
          </a:p>
        </p:txBody>
      </p:sp>
    </p:spTree>
    <p:extLst>
      <p:ext uri="{BB962C8B-B14F-4D97-AF65-F5344CB8AC3E}">
        <p14:creationId xmlns:p14="http://schemas.microsoft.com/office/powerpoint/2010/main" val="576646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13</a:t>
            </a:fld>
            <a:endParaRPr lang="en-US" dirty="0"/>
          </a:p>
        </p:txBody>
      </p:sp>
    </p:spTree>
    <p:extLst>
      <p:ext uri="{BB962C8B-B14F-4D97-AF65-F5344CB8AC3E}">
        <p14:creationId xmlns:p14="http://schemas.microsoft.com/office/powerpoint/2010/main" val="7984195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14</a:t>
            </a:fld>
            <a:endParaRPr lang="en-US" dirty="0"/>
          </a:p>
        </p:txBody>
      </p:sp>
    </p:spTree>
    <p:extLst>
      <p:ext uri="{BB962C8B-B14F-4D97-AF65-F5344CB8AC3E}">
        <p14:creationId xmlns:p14="http://schemas.microsoft.com/office/powerpoint/2010/main" val="3843557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15</a:t>
            </a:fld>
            <a:endParaRPr lang="en-US" dirty="0"/>
          </a:p>
        </p:txBody>
      </p:sp>
    </p:spTree>
    <p:extLst>
      <p:ext uri="{BB962C8B-B14F-4D97-AF65-F5344CB8AC3E}">
        <p14:creationId xmlns:p14="http://schemas.microsoft.com/office/powerpoint/2010/main" val="35510012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16</a:t>
            </a:fld>
            <a:endParaRPr lang="en-US" dirty="0"/>
          </a:p>
        </p:txBody>
      </p:sp>
    </p:spTree>
    <p:extLst>
      <p:ext uri="{BB962C8B-B14F-4D97-AF65-F5344CB8AC3E}">
        <p14:creationId xmlns:p14="http://schemas.microsoft.com/office/powerpoint/2010/main" val="29144809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17</a:t>
            </a:fld>
            <a:endParaRPr lang="en-US" dirty="0"/>
          </a:p>
        </p:txBody>
      </p:sp>
    </p:spTree>
    <p:extLst>
      <p:ext uri="{BB962C8B-B14F-4D97-AF65-F5344CB8AC3E}">
        <p14:creationId xmlns:p14="http://schemas.microsoft.com/office/powerpoint/2010/main" val="12707954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18</a:t>
            </a:fld>
            <a:endParaRPr lang="en-US" dirty="0"/>
          </a:p>
        </p:txBody>
      </p:sp>
    </p:spTree>
    <p:extLst>
      <p:ext uri="{BB962C8B-B14F-4D97-AF65-F5344CB8AC3E}">
        <p14:creationId xmlns:p14="http://schemas.microsoft.com/office/powerpoint/2010/main" val="19009889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19</a:t>
            </a:fld>
            <a:endParaRPr lang="en-US" dirty="0"/>
          </a:p>
        </p:txBody>
      </p:sp>
    </p:spTree>
    <p:extLst>
      <p:ext uri="{BB962C8B-B14F-4D97-AF65-F5344CB8AC3E}">
        <p14:creationId xmlns:p14="http://schemas.microsoft.com/office/powerpoint/2010/main" val="23787472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20</a:t>
            </a:fld>
            <a:endParaRPr lang="en-US" dirty="0"/>
          </a:p>
        </p:txBody>
      </p:sp>
    </p:spTree>
    <p:extLst>
      <p:ext uri="{BB962C8B-B14F-4D97-AF65-F5344CB8AC3E}">
        <p14:creationId xmlns:p14="http://schemas.microsoft.com/office/powerpoint/2010/main" val="12988161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21</a:t>
            </a:fld>
            <a:endParaRPr lang="en-US" dirty="0"/>
          </a:p>
        </p:txBody>
      </p:sp>
    </p:spTree>
    <p:extLst>
      <p:ext uri="{BB962C8B-B14F-4D97-AF65-F5344CB8AC3E}">
        <p14:creationId xmlns:p14="http://schemas.microsoft.com/office/powerpoint/2010/main" val="9098653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9E126BE-1A7A-4F71-B3C0-F5D825D182F2}" type="slidenum">
              <a:rPr lang="en-US" smtClean="0"/>
              <a:t>22</a:t>
            </a:fld>
            <a:endParaRPr lang="en-US" dirty="0"/>
          </a:p>
        </p:txBody>
      </p:sp>
    </p:spTree>
    <p:extLst>
      <p:ext uri="{BB962C8B-B14F-4D97-AF65-F5344CB8AC3E}">
        <p14:creationId xmlns:p14="http://schemas.microsoft.com/office/powerpoint/2010/main" val="1061236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B1E2BD-2D4C-4365-A05B-3F8037A66EF3}" type="datetime1">
              <a:rPr lang="en-US" smtClean="0"/>
              <a:t>9/5/2017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FC02B-687E-4F46-8B5A-7AD2318CCB3B}" type="datetime1">
              <a:rPr lang="en-US" smtClean="0"/>
              <a:t>9/5/2017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031ABD4-8422-4C87-83DB-D8315500EE01}" type="datetime1">
              <a:rPr lang="en-US" smtClean="0"/>
              <a:t>9/5/2017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28A5CC-E27C-4001-AFC1-4367D1F81078}" type="datetime1">
              <a:rPr lang="en-US" smtClean="0"/>
              <a:t>9/5/2017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F9E9591-9136-46FB-AD15-59162C18D235}" type="datetime1">
              <a:rPr lang="en-US" smtClean="0"/>
              <a:t>9/5/2017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2191FC7-19EF-4F51-9163-C09600C88C2F}" type="datetime1">
              <a:rPr lang="en-US" smtClean="0"/>
              <a:t>9/5/2017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A71F16-0FAD-4520-9844-B9CD2E8EBEBC}" type="datetime1">
              <a:rPr lang="en-US" smtClean="0"/>
              <a:t>9/5/2017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255DE45-0AF2-476B-9D6D-782F27A19F52}" type="datetime1">
              <a:rPr lang="en-US" smtClean="0"/>
              <a:t>9/5/2017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871A11F-4446-4913-875F-BE2E81E327AE}" type="datetime1">
              <a:rPr lang="en-US" smtClean="0"/>
              <a:t>9/5/2017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D35DDC7-E354-4AAB-86C2-03C1BD879FBE}" type="datetime1">
              <a:rPr lang="en-US" smtClean="0"/>
              <a:t>9/5/2017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2218E86-B5C7-4D8E-8B3E-3F1A6476A55A}" type="datetime1">
              <a:rPr lang="en-US" smtClean="0"/>
              <a:t>9/5/2017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D6070BF-0CE7-4C99-80F8-7BB9A7882004}" type="datetime1">
              <a:rPr lang="en-US" smtClean="0"/>
              <a:t>9/5/2017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74A83D2D-62A4-472F-B056-8E3615585778}" type="datetime1">
              <a:rPr lang="en-US" smtClean="0"/>
              <a:t>9/5/2017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A28D961-FC1F-4443-8BA9-EA4859F51DB0}" type="datetime1">
              <a:rPr lang="en-US" smtClean="0"/>
              <a:t>9/5/2017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E2DA31-7CDF-4FB1-9681-482AE50494F6}" type="datetime1">
              <a:rPr lang="en-US" smtClean="0"/>
              <a:t>9/5/2017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10E30D-A13F-493C-B2FE-834158BBC05B}" type="datetime1">
              <a:rPr lang="en-US" smtClean="0"/>
              <a:t>9/5/2017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3FE156D-CAA6-4157-B7E0-3D324BB69E01}" type="datetime1">
              <a:rPr lang="en-US" smtClean="0"/>
              <a:t>9/5/2017</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hf hdr="0" ftr="0"/>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arxiv.org/abs/1606.04435"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arxiv.org/abs/1705.08131"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Black-Box Attack against Machine Learning</a:t>
            </a:r>
          </a:p>
        </p:txBody>
      </p:sp>
    </p:spTree>
    <p:extLst>
      <p:ext uri="{BB962C8B-B14F-4D97-AF65-F5344CB8AC3E}">
        <p14:creationId xmlns:p14="http://schemas.microsoft.com/office/powerpoint/2010/main" val="1489168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300"/>
          </a:xfrm>
        </p:spPr>
        <p:txBody>
          <a:bodyPr/>
          <a:lstStyle/>
          <a:p>
            <a:r>
              <a:rPr lang="en-US" dirty="0"/>
              <a:t>Introduction</a:t>
            </a:r>
          </a:p>
        </p:txBody>
      </p:sp>
      <p:sp>
        <p:nvSpPr>
          <p:cNvPr id="3" name="Content Placeholder 2"/>
          <p:cNvSpPr>
            <a:spLocks noGrp="1"/>
          </p:cNvSpPr>
          <p:nvPr>
            <p:ph idx="1"/>
          </p:nvPr>
        </p:nvSpPr>
        <p:spPr>
          <a:xfrm>
            <a:off x="2589212" y="1274410"/>
            <a:ext cx="8915400" cy="4636812"/>
          </a:xfrm>
        </p:spPr>
        <p:txBody>
          <a:bodyPr/>
          <a:lstStyle/>
          <a:p>
            <a:pPr algn="just"/>
            <a:r>
              <a:rPr lang="en-US" dirty="0"/>
              <a:t>Classifiers learns a mapping between inputs and set of classes.</a:t>
            </a:r>
          </a:p>
          <a:p>
            <a:pPr lvl="1" algn="just"/>
            <a:r>
              <a:rPr lang="en-SG" dirty="0"/>
              <a:t>A malware detector is a classifier taking executables as inputs and assigning them to the benign or malware class.</a:t>
            </a:r>
            <a:endParaRPr lang="en-US" dirty="0"/>
          </a:p>
          <a:p>
            <a:pPr algn="just"/>
            <a:endParaRPr lang="en-US" dirty="0"/>
          </a:p>
          <a:p>
            <a:pPr algn="just"/>
            <a:endParaRPr lang="en-US" dirty="0"/>
          </a:p>
          <a:p>
            <a:pPr algn="just"/>
            <a:endParaRPr lang="en-US" dirty="0"/>
          </a:p>
          <a:p>
            <a:pPr algn="just"/>
            <a:endParaRPr lang="en-US" dirty="0"/>
          </a:p>
          <a:p>
            <a:pPr algn="just"/>
            <a:r>
              <a:rPr lang="en-US" i="1" u="sng" dirty="0"/>
              <a:t>Adversarial examples</a:t>
            </a:r>
            <a:r>
              <a:rPr lang="en-US" dirty="0"/>
              <a:t> can compromise the integrity of a classifier.</a:t>
            </a:r>
          </a:p>
          <a:p>
            <a:pPr lvl="1" algn="just"/>
            <a:r>
              <a:rPr lang="en-US" dirty="0"/>
              <a:t>To humans, the images appear to be same. But, forces a particular DNN to classify it as a </a:t>
            </a:r>
            <a:r>
              <a:rPr lang="en-US" i="1" dirty="0"/>
              <a:t>yield sign</a:t>
            </a:r>
            <a:r>
              <a:rPr lang="en-US" dirty="0"/>
              <a:t>.</a:t>
            </a:r>
          </a:p>
        </p:txBody>
      </p:sp>
      <p:grpSp>
        <p:nvGrpSpPr>
          <p:cNvPr id="23" name="Group 22"/>
          <p:cNvGrpSpPr/>
          <p:nvPr/>
        </p:nvGrpSpPr>
        <p:grpSpPr>
          <a:xfrm>
            <a:off x="5342803" y="2288003"/>
            <a:ext cx="3507970" cy="1557467"/>
            <a:chOff x="5054138" y="2998216"/>
            <a:chExt cx="3507970" cy="1557467"/>
          </a:xfrm>
        </p:grpSpPr>
        <p:sp>
          <p:nvSpPr>
            <p:cNvPr id="4" name="Rounded Rectangle 3"/>
            <p:cNvSpPr/>
            <p:nvPr/>
          </p:nvSpPr>
          <p:spPr>
            <a:xfrm>
              <a:off x="6184669" y="3275215"/>
              <a:ext cx="1188720" cy="82296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Classifier</a:t>
              </a:r>
            </a:p>
          </p:txBody>
        </p:sp>
        <p:cxnSp>
          <p:nvCxnSpPr>
            <p:cNvPr id="6" name="Straight Arrow Connector 5"/>
            <p:cNvCxnSpPr>
              <a:endCxn id="4" idx="1"/>
            </p:cNvCxnSpPr>
            <p:nvPr/>
          </p:nvCxnSpPr>
          <p:spPr>
            <a:xfrm>
              <a:off x="5694218" y="3682538"/>
              <a:ext cx="490451" cy="4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5054138" y="3544038"/>
              <a:ext cx="640080" cy="276999"/>
            </a:xfrm>
            <a:prstGeom prst="rect">
              <a:avLst/>
            </a:prstGeom>
            <a:noFill/>
          </p:spPr>
          <p:txBody>
            <a:bodyPr wrap="square" rtlCol="0">
              <a:spAutoFit/>
            </a:bodyPr>
            <a:lstStyle/>
            <a:p>
              <a:r>
                <a:rPr lang="en-US" sz="1200" dirty="0"/>
                <a:t>Inputs</a:t>
              </a:r>
            </a:p>
          </p:txBody>
        </p:sp>
        <p:sp>
          <p:nvSpPr>
            <p:cNvPr id="9" name="TextBox 8"/>
            <p:cNvSpPr txBox="1"/>
            <p:nvPr/>
          </p:nvSpPr>
          <p:spPr>
            <a:xfrm>
              <a:off x="7838901" y="2998216"/>
              <a:ext cx="723207" cy="276999"/>
            </a:xfrm>
            <a:prstGeom prst="rect">
              <a:avLst/>
            </a:prstGeom>
            <a:noFill/>
          </p:spPr>
          <p:txBody>
            <a:bodyPr wrap="square" rtlCol="0">
              <a:spAutoFit/>
            </a:bodyPr>
            <a:lstStyle/>
            <a:p>
              <a:r>
                <a:rPr lang="en-US" sz="1200" dirty="0"/>
                <a:t>Class 1</a:t>
              </a:r>
            </a:p>
          </p:txBody>
        </p:sp>
        <p:cxnSp>
          <p:nvCxnSpPr>
            <p:cNvPr id="11" name="Straight Arrow Connector 10"/>
            <p:cNvCxnSpPr>
              <a:stCxn id="4" idx="3"/>
              <a:endCxn id="9" idx="1"/>
            </p:cNvCxnSpPr>
            <p:nvPr/>
          </p:nvCxnSpPr>
          <p:spPr>
            <a:xfrm flipV="1">
              <a:off x="7373389" y="3136716"/>
              <a:ext cx="465512" cy="549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838902" y="4098175"/>
              <a:ext cx="723206" cy="276999"/>
            </a:xfrm>
            <a:prstGeom prst="rect">
              <a:avLst/>
            </a:prstGeom>
            <a:noFill/>
          </p:spPr>
          <p:txBody>
            <a:bodyPr wrap="square" rtlCol="0">
              <a:spAutoFit/>
            </a:bodyPr>
            <a:lstStyle/>
            <a:p>
              <a:r>
                <a:rPr lang="en-US" sz="1200" dirty="0"/>
                <a:t>Class N</a:t>
              </a:r>
            </a:p>
          </p:txBody>
        </p:sp>
        <p:cxnSp>
          <p:nvCxnSpPr>
            <p:cNvPr id="15" name="Straight Arrow Connector 14"/>
            <p:cNvCxnSpPr>
              <a:endCxn id="12" idx="1"/>
            </p:cNvCxnSpPr>
            <p:nvPr/>
          </p:nvCxnSpPr>
          <p:spPr>
            <a:xfrm>
              <a:off x="7373389" y="3682537"/>
              <a:ext cx="465513" cy="5541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7838902" y="3273874"/>
              <a:ext cx="723206" cy="276999"/>
            </a:xfrm>
            <a:prstGeom prst="rect">
              <a:avLst/>
            </a:prstGeom>
            <a:noFill/>
          </p:spPr>
          <p:txBody>
            <a:bodyPr wrap="square" rtlCol="0">
              <a:spAutoFit/>
            </a:bodyPr>
            <a:lstStyle/>
            <a:p>
              <a:r>
                <a:rPr lang="en-US" sz="1200" dirty="0"/>
                <a:t>Class 2</a:t>
              </a:r>
            </a:p>
          </p:txBody>
        </p:sp>
        <p:cxnSp>
          <p:nvCxnSpPr>
            <p:cNvPr id="18" name="Straight Arrow Connector 17"/>
            <p:cNvCxnSpPr>
              <a:stCxn id="4" idx="3"/>
              <a:endCxn id="16" idx="1"/>
            </p:cNvCxnSpPr>
            <p:nvPr/>
          </p:nvCxnSpPr>
          <p:spPr>
            <a:xfrm flipV="1">
              <a:off x="7373389" y="3412374"/>
              <a:ext cx="465513" cy="2743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6010102" y="4094018"/>
              <a:ext cx="1537854" cy="461665"/>
            </a:xfrm>
            <a:prstGeom prst="rect">
              <a:avLst/>
            </a:prstGeom>
            <a:noFill/>
          </p:spPr>
          <p:txBody>
            <a:bodyPr wrap="square" rtlCol="0">
              <a:spAutoFit/>
            </a:bodyPr>
            <a:lstStyle/>
            <a:p>
              <a:pPr algn="ctr"/>
              <a:r>
                <a:rPr lang="en-US" sz="1200" dirty="0"/>
                <a:t>Machine Learning Model</a:t>
              </a:r>
            </a:p>
          </p:txBody>
        </p:sp>
      </p:grpSp>
      <p:sp>
        <p:nvSpPr>
          <p:cNvPr id="24" name="Date Placeholder 23"/>
          <p:cNvSpPr>
            <a:spLocks noGrp="1"/>
          </p:cNvSpPr>
          <p:nvPr>
            <p:ph type="dt" sz="half" idx="10"/>
          </p:nvPr>
        </p:nvSpPr>
        <p:spPr/>
        <p:txBody>
          <a:bodyPr/>
          <a:lstStyle/>
          <a:p>
            <a:fld id="{2EFB6F28-65EE-44D6-BFFE-56AB02E1ABA6}" type="datetime1">
              <a:rPr lang="en-US" smtClean="0"/>
              <a:t>9/5/2017</a:t>
            </a:fld>
            <a:endParaRPr lang="en-US" dirty="0"/>
          </a:p>
        </p:txBody>
      </p:sp>
      <p:sp>
        <p:nvSpPr>
          <p:cNvPr id="26" name="Slide Number Placeholder 25"/>
          <p:cNvSpPr>
            <a:spLocks noGrp="1"/>
          </p:cNvSpPr>
          <p:nvPr>
            <p:ph type="sldNum" sz="quarter" idx="12"/>
          </p:nvPr>
        </p:nvSpPr>
        <p:spPr/>
        <p:txBody>
          <a:bodyPr/>
          <a:lstStyle/>
          <a:p>
            <a:fld id="{D57F1E4F-1CFF-5643-939E-217C01CDF565}" type="slidenum">
              <a:rPr lang="en-US" smtClean="0"/>
              <a:pPr/>
              <a:t>2</a:t>
            </a:fld>
            <a:endParaRPr lang="en-US" dirty="0"/>
          </a:p>
        </p:txBody>
      </p:sp>
      <p:grpSp>
        <p:nvGrpSpPr>
          <p:cNvPr id="38" name="Group 37"/>
          <p:cNvGrpSpPr/>
          <p:nvPr/>
        </p:nvGrpSpPr>
        <p:grpSpPr>
          <a:xfrm>
            <a:off x="6000017" y="4807493"/>
            <a:ext cx="2135353" cy="1424403"/>
            <a:chOff x="6000017" y="4807493"/>
            <a:chExt cx="2135353" cy="1424403"/>
          </a:xfrm>
        </p:grpSpPr>
        <p:grpSp>
          <p:nvGrpSpPr>
            <p:cNvPr id="10" name="Group 9"/>
            <p:cNvGrpSpPr/>
            <p:nvPr/>
          </p:nvGrpSpPr>
          <p:grpSpPr>
            <a:xfrm>
              <a:off x="6000018" y="4807493"/>
              <a:ext cx="2135351" cy="906700"/>
              <a:chOff x="4385656" y="3751694"/>
              <a:chExt cx="2135351" cy="906700"/>
            </a:xfrm>
          </p:grpSpPr>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385656" y="3752462"/>
                <a:ext cx="907271" cy="905932"/>
              </a:xfrm>
              <a:prstGeom prst="rect">
                <a:avLst/>
              </a:prstGeom>
            </p:spPr>
          </p:pic>
          <p:pic>
            <p:nvPicPr>
              <p:cNvPr id="7" name="Picture 6"/>
              <p:cNvPicPr>
                <a:picLocks noChangeAspect="1"/>
              </p:cNvPicPr>
              <p:nvPr/>
            </p:nvPicPr>
            <p:blipFill>
              <a:blip r:embed="rId4">
                <a:clrChange>
                  <a:clrFrom>
                    <a:srgbClr val="FFFFFF"/>
                  </a:clrFrom>
                  <a:clrTo>
                    <a:srgbClr val="FFFFFF">
                      <a:alpha val="0"/>
                    </a:srgbClr>
                  </a:clrTo>
                </a:clrChange>
              </a:blip>
              <a:stretch>
                <a:fillRect/>
              </a:stretch>
            </p:blipFill>
            <p:spPr>
              <a:xfrm>
                <a:off x="5612967" y="3751694"/>
                <a:ext cx="908040" cy="906700"/>
              </a:xfrm>
              <a:prstGeom prst="rect">
                <a:avLst/>
              </a:prstGeom>
            </p:spPr>
          </p:pic>
        </p:grpSp>
        <p:sp>
          <p:nvSpPr>
            <p:cNvPr id="13" name="TextBox 12"/>
            <p:cNvSpPr txBox="1"/>
            <p:nvPr/>
          </p:nvSpPr>
          <p:spPr>
            <a:xfrm>
              <a:off x="6000017" y="5647121"/>
              <a:ext cx="907271" cy="338554"/>
            </a:xfrm>
            <a:prstGeom prst="rect">
              <a:avLst/>
            </a:prstGeom>
            <a:noFill/>
          </p:spPr>
          <p:txBody>
            <a:bodyPr wrap="square" rtlCol="0">
              <a:spAutoFit/>
            </a:bodyPr>
            <a:lstStyle/>
            <a:p>
              <a:pPr algn="ctr"/>
              <a:r>
                <a:rPr lang="en-US" sz="800" dirty="0"/>
                <a:t>Ordinary Stop Sign</a:t>
              </a:r>
            </a:p>
          </p:txBody>
        </p:sp>
        <p:sp>
          <p:nvSpPr>
            <p:cNvPr id="27" name="TextBox 26"/>
            <p:cNvSpPr txBox="1"/>
            <p:nvPr/>
          </p:nvSpPr>
          <p:spPr>
            <a:xfrm>
              <a:off x="7227330" y="5647121"/>
              <a:ext cx="908040" cy="584775"/>
            </a:xfrm>
            <a:prstGeom prst="rect">
              <a:avLst/>
            </a:prstGeom>
            <a:noFill/>
          </p:spPr>
          <p:txBody>
            <a:bodyPr wrap="square" rtlCol="0">
              <a:spAutoFit/>
            </a:bodyPr>
            <a:lstStyle/>
            <a:p>
              <a:pPr algn="ctr"/>
              <a:r>
                <a:rPr lang="en-US" sz="800" dirty="0"/>
                <a:t>Image produced after precise perturbation</a:t>
              </a:r>
            </a:p>
          </p:txBody>
        </p:sp>
      </p:grpSp>
      <p:sp>
        <p:nvSpPr>
          <p:cNvPr id="17" name="TextBox 16"/>
          <p:cNvSpPr txBox="1"/>
          <p:nvPr/>
        </p:nvSpPr>
        <p:spPr>
          <a:xfrm>
            <a:off x="2589212" y="6465498"/>
            <a:ext cx="8915400" cy="272415"/>
          </a:xfrm>
          <a:prstGeom prst="roundRect">
            <a:avLst/>
          </a:prstGeom>
          <a:solidFill>
            <a:srgbClr val="2E5369"/>
          </a:solidFill>
        </p:spPr>
        <p:txBody>
          <a:bodyPr wrap="square" rtlCol="0">
            <a:spAutoFit/>
          </a:bodyPr>
          <a:lstStyle/>
          <a:p>
            <a:pPr algn="ctr"/>
            <a:r>
              <a:rPr lang="en-SG" sz="1000" dirty="0">
                <a:solidFill>
                  <a:schemeClr val="bg1"/>
                </a:solidFill>
              </a:rPr>
              <a:t>Practical Black-Box Attacks against Machine Learning – </a:t>
            </a:r>
            <a:r>
              <a:rPr lang="en-US" sz="1000" dirty="0">
                <a:solidFill>
                  <a:schemeClr val="bg1"/>
                </a:solidFill>
              </a:rPr>
              <a:t>Papernot et. al., ASIA CCS ‘17</a:t>
            </a:r>
          </a:p>
        </p:txBody>
      </p:sp>
      <p:sp>
        <p:nvSpPr>
          <p:cNvPr id="19" name="TextBox 18"/>
          <p:cNvSpPr txBox="1"/>
          <p:nvPr/>
        </p:nvSpPr>
        <p:spPr>
          <a:xfrm>
            <a:off x="1179556" y="5247011"/>
            <a:ext cx="2678530" cy="400110"/>
          </a:xfrm>
          <a:prstGeom prst="rect">
            <a:avLst/>
          </a:prstGeom>
          <a:solidFill>
            <a:schemeClr val="bg1"/>
          </a:solidFill>
          <a:ln>
            <a:solidFill>
              <a:schemeClr val="tx1"/>
            </a:solidFill>
          </a:ln>
        </p:spPr>
        <p:txBody>
          <a:bodyPr wrap="square" rtlCol="0">
            <a:spAutoFit/>
          </a:bodyPr>
          <a:lstStyle/>
          <a:p>
            <a:pPr algn="just"/>
            <a:r>
              <a:rPr lang="en-US" sz="1000" dirty="0"/>
              <a:t>Legitimate </a:t>
            </a:r>
            <a:r>
              <a:rPr lang="en-SG" sz="1000" dirty="0"/>
              <a:t>inputs altered by adding small, often imperceptible, perturbations</a:t>
            </a:r>
            <a:endParaRPr lang="en-US" sz="1000" dirty="0"/>
          </a:p>
        </p:txBody>
      </p:sp>
      <p:cxnSp>
        <p:nvCxnSpPr>
          <p:cNvPr id="35" name="Straight Arrow Connector 34"/>
          <p:cNvCxnSpPr>
            <a:endCxn id="19" idx="0"/>
          </p:cNvCxnSpPr>
          <p:nvPr/>
        </p:nvCxnSpPr>
        <p:spPr>
          <a:xfrm flipH="1">
            <a:off x="2518821" y="4206240"/>
            <a:ext cx="671720" cy="1040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8854247"/>
      </p:ext>
    </p:extLst>
  </p:cSld>
  <p:clrMapOvr>
    <a:masterClrMapping/>
  </p:clrMapOvr>
  <mc:AlternateContent xmlns:mc="http://schemas.openxmlformats.org/markup-compatibility/2006">
    <mc:Choice xmlns:p14="http://schemas.microsoft.com/office/powerpoint/2010/main" Requires="p14">
      <p:transition p14:dur="250">
        <p:push/>
      </p:transition>
    </mc:Choice>
    <mc:Fallback>
      <p:transition>
        <p:push/>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300"/>
          </a:xfrm>
        </p:spPr>
        <p:txBody>
          <a:bodyPr/>
          <a:lstStyle/>
          <a:p>
            <a:r>
              <a:rPr lang="en-US" dirty="0"/>
              <a:t>Introduction</a:t>
            </a:r>
          </a:p>
        </p:txBody>
      </p:sp>
      <p:sp>
        <p:nvSpPr>
          <p:cNvPr id="3" name="Content Placeholder 2"/>
          <p:cNvSpPr>
            <a:spLocks noGrp="1"/>
          </p:cNvSpPr>
          <p:nvPr>
            <p:ph idx="1"/>
          </p:nvPr>
        </p:nvSpPr>
        <p:spPr>
          <a:xfrm>
            <a:off x="2589212" y="1274410"/>
            <a:ext cx="8915400" cy="4636812"/>
          </a:xfrm>
        </p:spPr>
        <p:txBody>
          <a:bodyPr>
            <a:normAutofit fontScale="92500"/>
          </a:bodyPr>
          <a:lstStyle/>
          <a:p>
            <a:pPr algn="just"/>
            <a:r>
              <a:rPr lang="en-SG" dirty="0"/>
              <a:t>The paper first introduced the demonstration of practical real-world black-box attacks against DNN classifiers.</a:t>
            </a:r>
          </a:p>
          <a:p>
            <a:pPr algn="just"/>
            <a:r>
              <a:rPr lang="en-SG" dirty="0"/>
              <a:t>Assumptions</a:t>
            </a:r>
          </a:p>
          <a:p>
            <a:pPr lvl="1" algn="just"/>
            <a:r>
              <a:rPr lang="en-SG" dirty="0"/>
              <a:t>The adversary has no information about the structure or parameters of the DNN.</a:t>
            </a:r>
          </a:p>
          <a:p>
            <a:pPr lvl="1" algn="just"/>
            <a:r>
              <a:rPr lang="en-SG" dirty="0"/>
              <a:t>The adversary does not have access to any large training dataset.</a:t>
            </a:r>
          </a:p>
          <a:p>
            <a:pPr algn="just"/>
            <a:r>
              <a:rPr lang="en-SG" dirty="0"/>
              <a:t>Capability</a:t>
            </a:r>
          </a:p>
          <a:p>
            <a:pPr lvl="1" algn="just"/>
            <a:r>
              <a:rPr lang="en-SG" dirty="0"/>
              <a:t>The adversary's only capability is to observe labels assigned by the DNN for chosen inputs, in a manner analogous to a cryptographic oracle.</a:t>
            </a:r>
          </a:p>
          <a:p>
            <a:pPr algn="just"/>
            <a:r>
              <a:rPr lang="en-SG" dirty="0"/>
              <a:t>Strategy</a:t>
            </a:r>
          </a:p>
          <a:p>
            <a:pPr lvl="1" algn="just"/>
            <a:r>
              <a:rPr lang="en-SG" dirty="0"/>
              <a:t>Train a local substitute DNN with a </a:t>
            </a:r>
            <a:r>
              <a:rPr lang="en-SG" i="1" u="sng" dirty="0"/>
              <a:t>synthetic dataset</a:t>
            </a:r>
            <a:r>
              <a:rPr lang="en-SG" dirty="0"/>
              <a:t>.</a:t>
            </a:r>
          </a:p>
          <a:p>
            <a:pPr lvl="1" algn="just"/>
            <a:r>
              <a:rPr lang="en-SG" dirty="0"/>
              <a:t>Adversarial examples are crafted using the substitute parameters, which are known.</a:t>
            </a:r>
          </a:p>
          <a:p>
            <a:pPr lvl="1" algn="just"/>
            <a:r>
              <a:rPr lang="en-SG" dirty="0"/>
              <a:t>They are not only misclassified by the substitute but also by the target DNN, because both models have similar decision boundaries due to </a:t>
            </a:r>
            <a:r>
              <a:rPr lang="en-SG" i="1" u="sng" dirty="0"/>
              <a:t>transferability</a:t>
            </a:r>
            <a:r>
              <a:rPr lang="en-SG" dirty="0"/>
              <a:t> between architectures.</a:t>
            </a:r>
          </a:p>
        </p:txBody>
      </p:sp>
      <p:sp>
        <p:nvSpPr>
          <p:cNvPr id="24" name="Date Placeholder 23"/>
          <p:cNvSpPr>
            <a:spLocks noGrp="1"/>
          </p:cNvSpPr>
          <p:nvPr>
            <p:ph type="dt" sz="half" idx="10"/>
          </p:nvPr>
        </p:nvSpPr>
        <p:spPr/>
        <p:txBody>
          <a:bodyPr/>
          <a:lstStyle/>
          <a:p>
            <a:fld id="{2EFB6F28-65EE-44D6-BFFE-56AB02E1ABA6}" type="datetime1">
              <a:rPr lang="en-US" smtClean="0"/>
              <a:t>9/5/2017</a:t>
            </a:fld>
            <a:endParaRPr lang="en-US" dirty="0"/>
          </a:p>
        </p:txBody>
      </p:sp>
      <p:sp>
        <p:nvSpPr>
          <p:cNvPr id="26" name="Slide Number Placeholder 25"/>
          <p:cNvSpPr>
            <a:spLocks noGrp="1"/>
          </p:cNvSpPr>
          <p:nvPr>
            <p:ph type="sldNum" sz="quarter" idx="12"/>
          </p:nvPr>
        </p:nvSpPr>
        <p:spPr/>
        <p:txBody>
          <a:bodyPr/>
          <a:lstStyle/>
          <a:p>
            <a:fld id="{D57F1E4F-1CFF-5643-939E-217C01CDF565}" type="slidenum">
              <a:rPr lang="en-US" smtClean="0"/>
              <a:pPr/>
              <a:t>3</a:t>
            </a:fld>
            <a:endParaRPr lang="en-US" dirty="0"/>
          </a:p>
        </p:txBody>
      </p:sp>
      <p:sp>
        <p:nvSpPr>
          <p:cNvPr id="17" name="TextBox 16"/>
          <p:cNvSpPr txBox="1"/>
          <p:nvPr/>
        </p:nvSpPr>
        <p:spPr>
          <a:xfrm>
            <a:off x="2589212" y="6465498"/>
            <a:ext cx="8915400" cy="272415"/>
          </a:xfrm>
          <a:prstGeom prst="roundRect">
            <a:avLst/>
          </a:prstGeom>
          <a:solidFill>
            <a:srgbClr val="2E5369"/>
          </a:solidFill>
        </p:spPr>
        <p:txBody>
          <a:bodyPr wrap="square" rtlCol="0">
            <a:spAutoFit/>
          </a:bodyPr>
          <a:lstStyle/>
          <a:p>
            <a:pPr algn="ctr"/>
            <a:r>
              <a:rPr lang="en-SG" sz="1000" dirty="0">
                <a:solidFill>
                  <a:schemeClr val="bg1"/>
                </a:solidFill>
              </a:rPr>
              <a:t>Practical Black-Box Attacks against Machine Learning – </a:t>
            </a:r>
            <a:r>
              <a:rPr lang="en-US" sz="1000" dirty="0">
                <a:solidFill>
                  <a:schemeClr val="bg1"/>
                </a:solidFill>
              </a:rPr>
              <a:t>Papernot et. al., ASIA CCS ‘17</a:t>
            </a:r>
          </a:p>
        </p:txBody>
      </p:sp>
      <p:sp>
        <p:nvSpPr>
          <p:cNvPr id="14" name="TextBox 13"/>
          <p:cNvSpPr txBox="1"/>
          <p:nvPr/>
        </p:nvSpPr>
        <p:spPr>
          <a:xfrm>
            <a:off x="9900457" y="3841573"/>
            <a:ext cx="2011681" cy="553998"/>
          </a:xfrm>
          <a:prstGeom prst="rect">
            <a:avLst/>
          </a:prstGeom>
          <a:solidFill>
            <a:schemeClr val="bg1"/>
          </a:solidFill>
          <a:ln>
            <a:solidFill>
              <a:schemeClr val="tx1"/>
            </a:solidFill>
          </a:ln>
        </p:spPr>
        <p:txBody>
          <a:bodyPr wrap="square" rtlCol="0">
            <a:spAutoFit/>
          </a:bodyPr>
          <a:lstStyle/>
          <a:p>
            <a:pPr algn="just"/>
            <a:r>
              <a:rPr lang="en-SG" sz="1000" dirty="0"/>
              <a:t>Generated by the adversary, while the outputs are labels assigned by the target DNN</a:t>
            </a:r>
            <a:endParaRPr lang="en-US" sz="1000" dirty="0"/>
          </a:p>
        </p:txBody>
      </p:sp>
      <p:cxnSp>
        <p:nvCxnSpPr>
          <p:cNvPr id="21" name="Straight Arrow Connector 20"/>
          <p:cNvCxnSpPr>
            <a:cxnSpLocks/>
            <a:endCxn id="14" idx="1"/>
          </p:cNvCxnSpPr>
          <p:nvPr/>
        </p:nvCxnSpPr>
        <p:spPr>
          <a:xfrm flipV="1">
            <a:off x="8220974" y="4118572"/>
            <a:ext cx="1679483" cy="3757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8DFDFFA-9D5C-4932-A515-BA2374AC520A}"/>
                  </a:ext>
                </a:extLst>
              </p:cNvPr>
              <p:cNvSpPr txBox="1"/>
              <p:nvPr/>
            </p:nvSpPr>
            <p:spPr>
              <a:xfrm>
                <a:off x="6036683" y="5666887"/>
                <a:ext cx="2848526" cy="707886"/>
              </a:xfrm>
              <a:prstGeom prst="rect">
                <a:avLst/>
              </a:prstGeom>
              <a:solidFill>
                <a:schemeClr val="bg1"/>
              </a:solidFill>
              <a:ln>
                <a:solidFill>
                  <a:srgbClr val="2E5369"/>
                </a:solidFill>
              </a:ln>
            </p:spPr>
            <p:txBody>
              <a:bodyPr wrap="square" rtlCol="0">
                <a:spAutoFit/>
              </a:bodyPr>
              <a:lstStyle/>
              <a:p>
                <a:r>
                  <a:rPr lang="en-GB" sz="1000" dirty="0"/>
                  <a:t>Is a property that some adversarial samples produced to mislead a speciﬁc model </a:t>
                </a:r>
                <a14:m>
                  <m:oMath xmlns:m="http://schemas.openxmlformats.org/officeDocument/2006/math">
                    <m:r>
                      <a:rPr lang="en-GB" sz="1000" i="1" dirty="0" smtClean="0">
                        <a:latin typeface="Cambria Math" panose="02040503050406030204" pitchFamily="18" charset="0"/>
                      </a:rPr>
                      <m:t>𝐹</m:t>
                    </m:r>
                  </m:oMath>
                </a14:m>
                <a:r>
                  <a:rPr lang="en-GB" sz="1000" dirty="0"/>
                  <a:t> can mislead other models </a:t>
                </a:r>
                <a14:m>
                  <m:oMath xmlns:m="http://schemas.openxmlformats.org/officeDocument/2006/math">
                    <m:r>
                      <a:rPr lang="en-IN" sz="1000" b="0" i="1" smtClean="0">
                        <a:latin typeface="Cambria Math" panose="02040503050406030204" pitchFamily="18" charset="0"/>
                      </a:rPr>
                      <m:t>𝐹</m:t>
                    </m:r>
                    <m:r>
                      <a:rPr lang="en-IN" sz="1000" b="0" i="1" smtClean="0">
                        <a:latin typeface="Cambria Math" panose="02040503050406030204" pitchFamily="18" charset="0"/>
                      </a:rPr>
                      <m:t>′</m:t>
                    </m:r>
                  </m:oMath>
                </a14:m>
                <a:r>
                  <a:rPr lang="en-GB" sz="1000" dirty="0"/>
                  <a:t> - even if their architectures greatly diﬀer</a:t>
                </a:r>
                <a:r>
                  <a:rPr lang="en-IN" sz="1000" dirty="0"/>
                  <a:t>.</a:t>
                </a:r>
                <a:endParaRPr lang="en-GB" sz="1000" dirty="0"/>
              </a:p>
            </p:txBody>
          </p:sp>
        </mc:Choice>
        <mc:Fallback>
          <p:sp>
            <p:nvSpPr>
              <p:cNvPr id="5" name="TextBox 4">
                <a:extLst>
                  <a:ext uri="{FF2B5EF4-FFF2-40B4-BE49-F238E27FC236}">
                    <a16:creationId xmlns:a16="http://schemas.microsoft.com/office/drawing/2014/main" id="{D8DFDFFA-9D5C-4932-A515-BA2374AC520A}"/>
                  </a:ext>
                </a:extLst>
              </p:cNvPr>
              <p:cNvSpPr txBox="1">
                <a:spLocks noRot="1" noChangeAspect="1" noMove="1" noResize="1" noEditPoints="1" noAdjustHandles="1" noChangeArrowheads="1" noChangeShapeType="1" noTextEdit="1"/>
              </p:cNvSpPr>
              <p:nvPr/>
            </p:nvSpPr>
            <p:spPr>
              <a:xfrm>
                <a:off x="6036683" y="5666887"/>
                <a:ext cx="2848526" cy="707886"/>
              </a:xfrm>
              <a:prstGeom prst="rect">
                <a:avLst/>
              </a:prstGeom>
              <a:blipFill>
                <a:blip r:embed="rId3"/>
                <a:stretch>
                  <a:fillRect b="-2542"/>
                </a:stretch>
              </a:blipFill>
              <a:ln>
                <a:solidFill>
                  <a:srgbClr val="2E5369"/>
                </a:solidFill>
              </a:ln>
            </p:spPr>
            <p:txBody>
              <a:bodyPr/>
              <a:lstStyle/>
              <a:p>
                <a:r>
                  <a:rPr lang="en-IN">
                    <a:noFill/>
                  </a:rPr>
                  <a:t> </a:t>
                </a:r>
              </a:p>
            </p:txBody>
          </p:sp>
        </mc:Fallback>
      </mc:AlternateContent>
      <p:cxnSp>
        <p:nvCxnSpPr>
          <p:cNvPr id="7" name="Connector: Elbow 6">
            <a:extLst>
              <a:ext uri="{FF2B5EF4-FFF2-40B4-BE49-F238E27FC236}">
                <a16:creationId xmlns:a16="http://schemas.microsoft.com/office/drawing/2014/main" id="{1269847F-FA94-4025-B14F-9E7FA228DE34}"/>
              </a:ext>
            </a:extLst>
          </p:cNvPr>
          <p:cNvCxnSpPr>
            <a:cxnSpLocks/>
            <a:endCxn id="5" idx="3"/>
          </p:cNvCxnSpPr>
          <p:nvPr/>
        </p:nvCxnSpPr>
        <p:spPr>
          <a:xfrm rot="10800000" flipV="1">
            <a:off x="8885209" y="5576162"/>
            <a:ext cx="861128" cy="444668"/>
          </a:xfrm>
          <a:prstGeom prst="bentConnector3">
            <a:avLst>
              <a:gd name="adj1" fmla="val 914"/>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222662"/>
      </p:ext>
    </p:extLst>
  </p:cSld>
  <p:clrMapOvr>
    <a:masterClrMapping/>
  </p:clrMapOvr>
  <mc:AlternateContent xmlns:mc="http://schemas.openxmlformats.org/markup-compatibility/2006">
    <mc:Choice xmlns:p14="http://schemas.microsoft.com/office/powerpoint/2010/main" Requires="p14">
      <p:transition p14:dur="250">
        <p:push/>
      </p:transition>
    </mc:Choice>
    <mc:Fallback>
      <p:transition>
        <p:push/>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300"/>
          </a:xfrm>
        </p:spPr>
        <p:txBody>
          <a:bodyPr/>
          <a:lstStyle/>
          <a:p>
            <a:r>
              <a:rPr lang="en-US" dirty="0"/>
              <a:t>Introduction</a:t>
            </a:r>
          </a:p>
        </p:txBody>
      </p:sp>
      <p:sp>
        <p:nvSpPr>
          <p:cNvPr id="3" name="Content Placeholder 2"/>
          <p:cNvSpPr>
            <a:spLocks noGrp="1"/>
          </p:cNvSpPr>
          <p:nvPr>
            <p:ph idx="1"/>
          </p:nvPr>
        </p:nvSpPr>
        <p:spPr>
          <a:xfrm>
            <a:off x="2589212" y="1274410"/>
            <a:ext cx="8915400" cy="4636812"/>
          </a:xfrm>
        </p:spPr>
        <p:txBody>
          <a:bodyPr>
            <a:normAutofit fontScale="92500" lnSpcReduction="10000"/>
          </a:bodyPr>
          <a:lstStyle/>
          <a:p>
            <a:pPr algn="just"/>
            <a:r>
              <a:rPr lang="en-SG" dirty="0"/>
              <a:t>Advantages</a:t>
            </a:r>
          </a:p>
          <a:p>
            <a:pPr lvl="1" algn="just"/>
            <a:r>
              <a:rPr lang="en-SG" dirty="0"/>
              <a:t>In comparison to previous works</a:t>
            </a:r>
          </a:p>
          <a:p>
            <a:pPr lvl="2" algn="just"/>
            <a:r>
              <a:rPr lang="en-SG" dirty="0"/>
              <a:t>Detailed knowledge of the DNN architecture and parameters.</a:t>
            </a:r>
          </a:p>
          <a:p>
            <a:pPr lvl="3" algn="just"/>
            <a:r>
              <a:rPr lang="en-SG" i="1" dirty="0"/>
              <a:t>Learning a substitute - gives the benefit of having full access to the model and apply previous adversarial example crafting methods.</a:t>
            </a:r>
          </a:p>
          <a:p>
            <a:pPr lvl="2" algn="just"/>
            <a:r>
              <a:rPr lang="en-SG" dirty="0"/>
              <a:t>An independently collected training set to fit an auxiliary model.</a:t>
            </a:r>
          </a:p>
          <a:p>
            <a:pPr lvl="3" algn="just"/>
            <a:r>
              <a:rPr lang="en-SG" i="1" dirty="0"/>
              <a:t>Replacing with a synthetic dataset constructed by the adversary with synthetic inputs and labelled by observing the target DNN's output.</a:t>
            </a:r>
          </a:p>
          <a:p>
            <a:pPr lvl="1" algn="just"/>
            <a:r>
              <a:rPr lang="en-SG" dirty="0"/>
              <a:t>Corresponds to the real-world scenario of users interacting with classifiers hosted remotely by a third-party keeping the model internals secret.</a:t>
            </a:r>
          </a:p>
          <a:p>
            <a:pPr lvl="2" algn="just"/>
            <a:r>
              <a:rPr lang="en-SG" dirty="0"/>
              <a:t>Classifiers automatically trained by MetaMind, Amazon, and Google.</a:t>
            </a:r>
          </a:p>
          <a:p>
            <a:pPr algn="just"/>
            <a:r>
              <a:rPr lang="en-SG" dirty="0"/>
              <a:t>Applicability</a:t>
            </a:r>
          </a:p>
          <a:p>
            <a:pPr lvl="1"/>
            <a:r>
              <a:rPr lang="en-US" dirty="0"/>
              <a:t>The capabilities required </a:t>
            </a:r>
            <a:r>
              <a:rPr lang="en-SG" dirty="0"/>
              <a:t>are limited to observing output class labels only.</a:t>
            </a:r>
          </a:p>
          <a:p>
            <a:pPr lvl="1"/>
            <a:r>
              <a:rPr lang="en-SG" dirty="0"/>
              <a:t>The number of labels queried are limited.</a:t>
            </a:r>
          </a:p>
          <a:p>
            <a:pPr lvl="1"/>
            <a:r>
              <a:rPr lang="en-SG" dirty="0"/>
              <a:t>Scales to different ML classifier types in addition to state-of-the-art DNNs.</a:t>
            </a:r>
          </a:p>
        </p:txBody>
      </p:sp>
      <p:sp>
        <p:nvSpPr>
          <p:cNvPr id="24" name="Date Placeholder 23"/>
          <p:cNvSpPr>
            <a:spLocks noGrp="1"/>
          </p:cNvSpPr>
          <p:nvPr>
            <p:ph type="dt" sz="half" idx="10"/>
          </p:nvPr>
        </p:nvSpPr>
        <p:spPr/>
        <p:txBody>
          <a:bodyPr/>
          <a:lstStyle/>
          <a:p>
            <a:fld id="{2EFB6F28-65EE-44D6-BFFE-56AB02E1ABA6}" type="datetime1">
              <a:rPr lang="en-US" smtClean="0"/>
              <a:t>9/5/2017</a:t>
            </a:fld>
            <a:endParaRPr lang="en-US" dirty="0"/>
          </a:p>
        </p:txBody>
      </p:sp>
      <p:sp>
        <p:nvSpPr>
          <p:cNvPr id="26" name="Slide Number Placeholder 25"/>
          <p:cNvSpPr>
            <a:spLocks noGrp="1"/>
          </p:cNvSpPr>
          <p:nvPr>
            <p:ph type="sldNum" sz="quarter" idx="12"/>
          </p:nvPr>
        </p:nvSpPr>
        <p:spPr/>
        <p:txBody>
          <a:bodyPr/>
          <a:lstStyle/>
          <a:p>
            <a:fld id="{D57F1E4F-1CFF-5643-939E-217C01CDF565}" type="slidenum">
              <a:rPr lang="en-US" smtClean="0"/>
              <a:pPr/>
              <a:t>4</a:t>
            </a:fld>
            <a:endParaRPr lang="en-US" dirty="0"/>
          </a:p>
        </p:txBody>
      </p:sp>
      <p:sp>
        <p:nvSpPr>
          <p:cNvPr id="17" name="TextBox 16"/>
          <p:cNvSpPr txBox="1"/>
          <p:nvPr/>
        </p:nvSpPr>
        <p:spPr>
          <a:xfrm>
            <a:off x="2589212" y="6465498"/>
            <a:ext cx="8915400" cy="272415"/>
          </a:xfrm>
          <a:prstGeom prst="roundRect">
            <a:avLst/>
          </a:prstGeom>
          <a:solidFill>
            <a:srgbClr val="2E5369"/>
          </a:solidFill>
        </p:spPr>
        <p:txBody>
          <a:bodyPr wrap="square" rtlCol="0">
            <a:spAutoFit/>
          </a:bodyPr>
          <a:lstStyle/>
          <a:p>
            <a:pPr algn="ctr"/>
            <a:r>
              <a:rPr lang="en-SG" sz="1000" dirty="0">
                <a:solidFill>
                  <a:schemeClr val="bg1"/>
                </a:solidFill>
              </a:rPr>
              <a:t>Practical Black-Box Attacks against Machine Learning – </a:t>
            </a:r>
            <a:r>
              <a:rPr lang="en-US" sz="1000" dirty="0">
                <a:solidFill>
                  <a:schemeClr val="bg1"/>
                </a:solidFill>
              </a:rPr>
              <a:t>Papernot et. al., ASIA CCS ‘17</a:t>
            </a:r>
          </a:p>
        </p:txBody>
      </p:sp>
    </p:spTree>
    <p:extLst>
      <p:ext uri="{BB962C8B-B14F-4D97-AF65-F5344CB8AC3E}">
        <p14:creationId xmlns:p14="http://schemas.microsoft.com/office/powerpoint/2010/main" val="1008209850"/>
      </p:ext>
    </p:extLst>
  </p:cSld>
  <p:clrMapOvr>
    <a:masterClrMapping/>
  </p:clrMapOvr>
  <mc:AlternateContent xmlns:mc="http://schemas.openxmlformats.org/markup-compatibility/2006">
    <mc:Choice xmlns:p14="http://schemas.microsoft.com/office/powerpoint/2010/main" Requires="p14">
      <p:transition p14:dur="250">
        <p:push/>
      </p:transition>
    </mc:Choice>
    <mc:Fallback>
      <p:transition>
        <p:push/>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300"/>
          </a:xfrm>
        </p:spPr>
        <p:txBody>
          <a:bodyPr/>
          <a:lstStyle/>
          <a:p>
            <a:r>
              <a:rPr lang="en-US" dirty="0"/>
              <a:t>Deep Neural Network</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589212" y="2128058"/>
                <a:ext cx="8915400" cy="3783165"/>
              </a:xfrm>
            </p:spPr>
            <p:txBody>
              <a:bodyPr>
                <a:normAutofit/>
              </a:bodyPr>
              <a:lstStyle/>
              <a:p>
                <a:pPr algn="just"/>
                <a:r>
                  <a:rPr lang="en-SG" dirty="0"/>
                  <a:t>Uses a hierarchical composition of n parametric functions to model an input </a:t>
                </a:r>
                <a14:m>
                  <m:oMath xmlns:m="http://schemas.openxmlformats.org/officeDocument/2006/math">
                    <m:acc>
                      <m:accPr>
                        <m:chr m:val="⃗"/>
                        <m:ctrlPr>
                          <a:rPr lang="en-SG" i="1" dirty="0" smtClean="0">
                            <a:latin typeface="Cambria Math" panose="02040503050406030204" pitchFamily="18" charset="0"/>
                          </a:rPr>
                        </m:ctrlPr>
                      </m:accPr>
                      <m:e>
                        <m:r>
                          <a:rPr lang="en-US" b="0" i="1" dirty="0" smtClean="0">
                            <a:latin typeface="Cambria Math" panose="02040503050406030204" pitchFamily="18" charset="0"/>
                          </a:rPr>
                          <m:t>𝑥</m:t>
                        </m:r>
                      </m:e>
                    </m:acc>
                  </m:oMath>
                </a14:m>
                <a:r>
                  <a:rPr lang="en-SG" dirty="0"/>
                  <a:t>.</a:t>
                </a:r>
              </a:p>
              <a:p>
                <a:pPr algn="just"/>
                <a:r>
                  <a:rPr lang="en-SG" dirty="0"/>
                  <a:t>Each function </a:t>
                </a:r>
                <a14:m>
                  <m:oMath xmlns:m="http://schemas.openxmlformats.org/officeDocument/2006/math">
                    <m:acc>
                      <m:accPr>
                        <m:chr m:val="⃗"/>
                        <m:ctrlPr>
                          <a:rPr lang="en-SG" i="1" smtClean="0">
                            <a:latin typeface="Cambria Math" panose="02040503050406030204" pitchFamily="18" charset="0"/>
                          </a:rPr>
                        </m:ctrlPr>
                      </m:accPr>
                      <m:e>
                        <m:sSub>
                          <m:sSubPr>
                            <m:ctrlPr>
                              <a:rPr lang="en-SG"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sub>
                        </m:sSub>
                      </m:e>
                    </m:acc>
                  </m:oMath>
                </a14:m>
                <a:r>
                  <a:rPr lang="en-SG" dirty="0"/>
                  <a:t> for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=1..</m:t>
                    </m:r>
                    <m:r>
                      <a:rPr lang="en-US" b="0" i="1" smtClean="0">
                        <a:latin typeface="Cambria Math" panose="02040503050406030204" pitchFamily="18" charset="0"/>
                      </a:rPr>
                      <m:t>𝑛</m:t>
                    </m:r>
                  </m:oMath>
                </a14:m>
                <a:r>
                  <a:rPr lang="en-SG" dirty="0"/>
                  <a:t> is modeled using a layer of neurons applying an activation function to the previous layer's weighted representation of the input to generate a new representation.</a:t>
                </a:r>
              </a:p>
              <a:p>
                <a:pPr algn="just"/>
                <a:r>
                  <a:rPr lang="en-SG" dirty="0"/>
                  <a:t>Each layer is parameterized by a weight vector </a:t>
                </a:r>
                <a14:m>
                  <m:oMath xmlns:m="http://schemas.openxmlformats.org/officeDocument/2006/math">
                    <m:acc>
                      <m:accPr>
                        <m:chr m:val="⃗"/>
                        <m:ctrlPr>
                          <a:rPr lang="en-SG" i="1" smtClean="0">
                            <a:latin typeface="Cambria Math" panose="02040503050406030204" pitchFamily="18" charset="0"/>
                          </a:rPr>
                        </m:ctrlPr>
                      </m:accPr>
                      <m:e>
                        <m:sSub>
                          <m:sSubPr>
                            <m:ctrlPr>
                              <a:rPr lang="en-SG" i="1" smtClean="0">
                                <a:latin typeface="Cambria Math" panose="02040503050406030204" pitchFamily="18" charset="0"/>
                              </a:rPr>
                            </m:ctrlPr>
                          </m:sSubPr>
                          <m:e>
                            <m:r>
                              <a:rPr lang="en-SG"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𝑖</m:t>
                            </m:r>
                          </m:sub>
                        </m:sSub>
                      </m:e>
                    </m:acc>
                  </m:oMath>
                </a14:m>
                <a:r>
                  <a:rPr lang="en-SG" dirty="0"/>
                  <a:t> impacting each neuron's activation. Such weights hold the knowledge of a DNN model </a:t>
                </a:r>
                <a14:m>
                  <m:oMath xmlns:m="http://schemas.openxmlformats.org/officeDocument/2006/math">
                    <m:r>
                      <a:rPr lang="en-US" b="0" i="1" smtClean="0">
                        <a:latin typeface="Cambria Math" panose="02040503050406030204" pitchFamily="18" charset="0"/>
                      </a:rPr>
                      <m:t>𝐹</m:t>
                    </m:r>
                  </m:oMath>
                </a14:m>
                <a:r>
                  <a:rPr lang="en-SG" dirty="0"/>
                  <a:t> and are evaluated during its training phase.</a:t>
                </a:r>
              </a:p>
              <a:p>
                <a:pPr algn="just"/>
                <a:r>
                  <a:rPr lang="en-SG" dirty="0"/>
                  <a:t>Thus, a DNN defines and computes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589212" y="2128058"/>
                <a:ext cx="8915400" cy="3783165"/>
              </a:xfrm>
              <a:blipFill>
                <a:blip r:embed="rId3"/>
                <a:stretch>
                  <a:fillRect l="-479" t="-805" r="-547"/>
                </a:stretch>
              </a:blipFill>
            </p:spPr>
            <p:txBody>
              <a:bodyPr/>
              <a:lstStyle/>
              <a:p>
                <a:r>
                  <a:rPr lang="en-US">
                    <a:noFill/>
                  </a:rPr>
                  <a:t> </a:t>
                </a:r>
              </a:p>
            </p:txBody>
          </p:sp>
        </mc:Fallback>
      </mc:AlternateContent>
      <p:sp>
        <p:nvSpPr>
          <p:cNvPr id="24" name="Date Placeholder 23"/>
          <p:cNvSpPr>
            <a:spLocks noGrp="1"/>
          </p:cNvSpPr>
          <p:nvPr>
            <p:ph type="dt" sz="half" idx="10"/>
          </p:nvPr>
        </p:nvSpPr>
        <p:spPr/>
        <p:txBody>
          <a:bodyPr/>
          <a:lstStyle/>
          <a:p>
            <a:fld id="{2EFB6F28-65EE-44D6-BFFE-56AB02E1ABA6}" type="datetime1">
              <a:rPr lang="en-US" smtClean="0"/>
              <a:t>9/5/2017</a:t>
            </a:fld>
            <a:endParaRPr lang="en-US" dirty="0"/>
          </a:p>
        </p:txBody>
      </p:sp>
      <p:sp>
        <p:nvSpPr>
          <p:cNvPr id="26" name="Slide Number Placeholder 25"/>
          <p:cNvSpPr>
            <a:spLocks noGrp="1"/>
          </p:cNvSpPr>
          <p:nvPr>
            <p:ph type="sldNum" sz="quarter" idx="12"/>
          </p:nvPr>
        </p:nvSpPr>
        <p:spPr/>
        <p:txBody>
          <a:bodyPr/>
          <a:lstStyle/>
          <a:p>
            <a:fld id="{D57F1E4F-1CFF-5643-939E-217C01CDF565}" type="slidenum">
              <a:rPr lang="en-US" smtClean="0"/>
              <a:pPr/>
              <a:t>5</a:t>
            </a:fld>
            <a:endParaRPr lang="en-US" dirty="0"/>
          </a:p>
        </p:txBody>
      </p:sp>
      <p:sp>
        <p:nvSpPr>
          <p:cNvPr id="17" name="TextBox 16"/>
          <p:cNvSpPr txBox="1"/>
          <p:nvPr/>
        </p:nvSpPr>
        <p:spPr>
          <a:xfrm>
            <a:off x="2589212" y="6465498"/>
            <a:ext cx="8915400" cy="272415"/>
          </a:xfrm>
          <a:prstGeom prst="roundRect">
            <a:avLst/>
          </a:prstGeom>
          <a:solidFill>
            <a:srgbClr val="2E5369"/>
          </a:solidFill>
        </p:spPr>
        <p:txBody>
          <a:bodyPr wrap="square" rtlCol="0">
            <a:spAutoFit/>
          </a:bodyPr>
          <a:lstStyle/>
          <a:p>
            <a:pPr algn="ctr"/>
            <a:r>
              <a:rPr lang="en-SG" sz="1000" dirty="0">
                <a:solidFill>
                  <a:schemeClr val="bg1"/>
                </a:solidFill>
              </a:rPr>
              <a:t>Practical Black-Box Attacks against Machine Learning – </a:t>
            </a:r>
            <a:r>
              <a:rPr lang="en-US" sz="1000" dirty="0">
                <a:solidFill>
                  <a:schemeClr val="bg1"/>
                </a:solidFill>
              </a:rPr>
              <a:t>Papernot et. al., ASIA CCS ‘17</a:t>
            </a:r>
          </a:p>
        </p:txBody>
      </p:sp>
      <p:pic>
        <p:nvPicPr>
          <p:cNvPr id="5" name="Picture 4"/>
          <p:cNvPicPr>
            <a:picLocks noChangeAspect="1"/>
          </p:cNvPicPr>
          <p:nvPr/>
        </p:nvPicPr>
        <p:blipFill>
          <a:blip r:embed="rId4">
            <a:clrChange>
              <a:clrFrom>
                <a:srgbClr val="FFFFFF"/>
              </a:clrFrom>
              <a:clrTo>
                <a:srgbClr val="FFFFFF">
                  <a:alpha val="0"/>
                </a:srgbClr>
              </a:clrTo>
            </a:clrChange>
          </a:blip>
          <a:stretch>
            <a:fillRect/>
          </a:stretch>
        </p:blipFill>
        <p:spPr>
          <a:xfrm>
            <a:off x="9251078" y="0"/>
            <a:ext cx="2940922" cy="2128058"/>
          </a:xfrm>
          <a:prstGeom prst="rect">
            <a:avLst/>
          </a:prstGeom>
        </p:spPr>
      </p:pic>
      <mc:AlternateContent xmlns:mc="http://schemas.openxmlformats.org/markup-compatibility/2006" xmlns:a14="http://schemas.microsoft.com/office/drawing/2010/main">
        <mc:Choice Requires="a14">
          <p:sp>
            <p:nvSpPr>
              <p:cNvPr id="10" name="TextBox 9"/>
              <p:cNvSpPr txBox="1"/>
              <p:nvPr/>
            </p:nvSpPr>
            <p:spPr>
              <a:xfrm>
                <a:off x="4765133" y="5261957"/>
                <a:ext cx="4563557" cy="3196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𝑛</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𝑛</m:t>
                              </m:r>
                            </m:sub>
                          </m:sSub>
                        </m:e>
                      </m:acc>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𝑛</m:t>
                              </m:r>
                              <m:r>
                                <a:rPr lang="en-US" b="0" i="1" smtClean="0">
                                  <a:latin typeface="Cambria Math" panose="02040503050406030204" pitchFamily="18" charset="0"/>
                                </a:rPr>
                                <m:t>−1</m:t>
                              </m:r>
                            </m:sub>
                          </m:sSub>
                        </m:e>
                      </m:acc>
                      <m:r>
                        <a:rPr lang="en-US" i="1">
                          <a:latin typeface="Cambria Math" panose="02040503050406030204" pitchFamily="18" charset="0"/>
                        </a:rPr>
                        <m:t>, </m:t>
                      </m:r>
                      <m:sSub>
                        <m:sSubPr>
                          <m:ctrlPr>
                            <a:rPr lang="en-US" i="1">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rPr>
                            <m:t>𝑓</m:t>
                          </m:r>
                        </m:e>
                        <m:sub>
                          <m:r>
                            <a:rPr lang="en-US" b="0" i="1" smtClean="0">
                              <a:latin typeface="Cambria Math" panose="02040503050406030204" pitchFamily="18" charset="0"/>
                            </a:rPr>
                            <m:t>2</m:t>
                          </m:r>
                        </m:sub>
                      </m:sSub>
                      <m:r>
                        <a:rPr lang="en-US" b="0" i="1" smtClean="0">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2</m:t>
                              </m:r>
                            </m:sub>
                          </m:sSub>
                        </m:e>
                      </m:acc>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1</m:t>
                          </m:r>
                        </m:sub>
                      </m:sSub>
                      <m:r>
                        <a:rPr lang="en-US" b="0" i="1" smtClean="0">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1</m:t>
                              </m:r>
                            </m:sub>
                          </m:sSub>
                        </m:e>
                      </m:acc>
                      <m:r>
                        <a:rPr lang="en-US" i="1">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4765133" y="5261957"/>
                <a:ext cx="4563557" cy="319639"/>
              </a:xfrm>
              <a:prstGeom prst="rect">
                <a:avLst/>
              </a:prstGeom>
              <a:blipFill>
                <a:blip r:embed="rId5"/>
                <a:stretch>
                  <a:fillRect l="-668" t="-24528" r="-1471" b="-30189"/>
                </a:stretch>
              </a:blipFill>
            </p:spPr>
            <p:txBody>
              <a:bodyPr/>
              <a:lstStyle/>
              <a:p>
                <a:r>
                  <a:rPr lang="en-US">
                    <a:noFill/>
                  </a:rPr>
                  <a:t> </a:t>
                </a:r>
              </a:p>
            </p:txBody>
          </p:sp>
        </mc:Fallback>
      </mc:AlternateContent>
    </p:spTree>
    <p:extLst>
      <p:ext uri="{BB962C8B-B14F-4D97-AF65-F5344CB8AC3E}">
        <p14:creationId xmlns:p14="http://schemas.microsoft.com/office/powerpoint/2010/main" val="3578575788"/>
      </p:ext>
    </p:extLst>
  </p:cSld>
  <p:clrMapOvr>
    <a:masterClrMapping/>
  </p:clrMapOvr>
  <mc:AlternateContent xmlns:mc="http://schemas.openxmlformats.org/markup-compatibility/2006">
    <mc:Choice xmlns:p14="http://schemas.microsoft.com/office/powerpoint/2010/main" Requires="p14">
      <p:transition p14:dur="250">
        <p:push/>
      </p:transition>
    </mc:Choice>
    <mc:Fallback>
      <p:transition>
        <p:push/>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300"/>
          </a:xfrm>
        </p:spPr>
        <p:txBody>
          <a:bodyPr/>
          <a:lstStyle/>
          <a:p>
            <a:r>
              <a:rPr lang="en-US" dirty="0"/>
              <a:t>Deep Neural Network</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589212" y="2128058"/>
                <a:ext cx="8915400" cy="3783165"/>
              </a:xfrm>
            </p:spPr>
            <p:txBody>
              <a:bodyPr>
                <a:normAutofit/>
              </a:bodyPr>
              <a:lstStyle/>
              <a:p>
                <a:pPr algn="just"/>
                <a:r>
                  <a:rPr lang="en-SG" dirty="0"/>
                  <a:t>The </a:t>
                </a:r>
                <a:r>
                  <a:rPr lang="en-SG" b="1" i="1" dirty="0"/>
                  <a:t>training phase</a:t>
                </a:r>
                <a:r>
                  <a:rPr lang="en-SG" dirty="0"/>
                  <a:t> of a DNN F learns values for its parameters </a:t>
                </a:r>
                <a14:m>
                  <m:oMath xmlns:m="http://schemas.openxmlformats.org/officeDocument/2006/math">
                    <m:acc>
                      <m:accPr>
                        <m:chr m:val="⃗"/>
                        <m:ctrlPr>
                          <a:rPr lang="en-SG" i="1" smtClean="0">
                            <a:latin typeface="Cambria Math" panose="02040503050406030204" pitchFamily="18" charset="0"/>
                          </a:rPr>
                        </m:ctrlPr>
                      </m:accPr>
                      <m:e>
                        <m:sSub>
                          <m:sSubPr>
                            <m:ctrlPr>
                              <a:rPr lang="en-SG" i="1">
                                <a:latin typeface="Cambria Math" panose="02040503050406030204" pitchFamily="18" charset="0"/>
                              </a:rPr>
                            </m:ctrlPr>
                          </m:sSubPr>
                          <m:e>
                            <m:r>
                              <a:rPr lang="en-SG"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𝐹</m:t>
                            </m:r>
                          </m:sub>
                        </m:sSub>
                      </m:e>
                    </m:acc>
                    <m:r>
                      <a:rPr lang="en-US" i="1">
                        <a:latin typeface="Cambria Math" panose="02040503050406030204" pitchFamily="18" charset="0"/>
                      </a:rPr>
                      <m:t>={</m:t>
                    </m:r>
                    <m:sSub>
                      <m:sSubPr>
                        <m:ctrlPr>
                          <a:rPr lang="en-SG" i="1">
                            <a:latin typeface="Cambria Math" panose="02040503050406030204" pitchFamily="18" charset="0"/>
                          </a:rPr>
                        </m:ctrlPr>
                      </m:sSubPr>
                      <m:e>
                        <m:r>
                          <a:rPr lang="en-SG"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rPr>
                      <m:t>,…,</m:t>
                    </m:r>
                    <m:sSub>
                      <m:sSubPr>
                        <m:ctrlPr>
                          <a:rPr lang="en-SG" i="1">
                            <a:latin typeface="Cambria Math" panose="02040503050406030204" pitchFamily="18" charset="0"/>
                          </a:rPr>
                        </m:ctrlPr>
                      </m:sSubPr>
                      <m:e>
                        <m:r>
                          <a:rPr lang="en-SG"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ea typeface="Cambria Math" panose="02040503050406030204" pitchFamily="18" charset="0"/>
                          </a:rPr>
                          <m:t>𝑛</m:t>
                        </m:r>
                      </m:sub>
                    </m:sSub>
                    <m:r>
                      <a:rPr lang="en-US" i="1">
                        <a:latin typeface="Cambria Math" panose="02040503050406030204" pitchFamily="18" charset="0"/>
                      </a:rPr>
                      <m:t>}</m:t>
                    </m:r>
                  </m:oMath>
                </a14:m>
                <a:r>
                  <a:rPr lang="en-SG" dirty="0"/>
                  <a:t>.</a:t>
                </a:r>
              </a:p>
              <a:p>
                <a:pPr lvl="1" algn="just"/>
                <a:r>
                  <a:rPr lang="en-SG" dirty="0"/>
                  <a:t>For a classification tasks, the DNN is given a large set of known input-output pairs </a:t>
                </a:r>
                <a14:m>
                  <m:oMath xmlns:m="http://schemas.openxmlformats.org/officeDocument/2006/math">
                    <m:r>
                      <a:rPr lang="en-US">
                        <a:latin typeface="Cambria Math" panose="02040503050406030204" pitchFamily="18" charset="0"/>
                      </a:rPr>
                      <m:t>(</m:t>
                    </m:r>
                    <m:acc>
                      <m:accPr>
                        <m:chr m:val="⃗"/>
                        <m:ctrlPr>
                          <a:rPr lang="en-SG"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 </m:t>
                    </m:r>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i="1">
                        <a:latin typeface="Cambria Math" panose="02040503050406030204" pitchFamily="18" charset="0"/>
                      </a:rPr>
                      <m:t>)</m:t>
                    </m:r>
                  </m:oMath>
                </a14:m>
                <a:r>
                  <a:rPr lang="en-SG" dirty="0"/>
                  <a:t> and it adjusts weight parameters to reduce a cost quantifying the prediction error between the prediction </a:t>
                </a:r>
                <a14:m>
                  <m:oMath xmlns:m="http://schemas.openxmlformats.org/officeDocument/2006/math">
                    <m:r>
                      <a:rPr lang="en-US" i="1">
                        <a:latin typeface="Cambria Math" panose="02040503050406030204" pitchFamily="18" charset="0"/>
                      </a:rPr>
                      <m:t>𝐹</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oMath>
                </a14:m>
                <a:r>
                  <a:rPr lang="en-SG" dirty="0"/>
                  <a:t> and the correct output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𝑦</m:t>
                        </m:r>
                      </m:e>
                    </m:acc>
                  </m:oMath>
                </a14:m>
                <a:r>
                  <a:rPr lang="en-SG" dirty="0"/>
                  <a:t>. The adjustment is typically performed using techniques derived from the backpropagation algorithm.</a:t>
                </a:r>
              </a:p>
              <a:p>
                <a:pPr algn="just"/>
                <a:r>
                  <a:rPr lang="en-SG" dirty="0"/>
                  <a:t>During the </a:t>
                </a:r>
                <a:r>
                  <a:rPr lang="en-SG" b="1" i="1" dirty="0"/>
                  <a:t>test phase</a:t>
                </a:r>
                <a:r>
                  <a:rPr lang="en-SG" dirty="0"/>
                  <a:t>, the DNN is deployed with a fixed set of parameters </a:t>
                </a:r>
                <a14:m>
                  <m:oMath xmlns:m="http://schemas.openxmlformats.org/officeDocument/2006/math">
                    <m:acc>
                      <m:accPr>
                        <m:chr m:val="⃗"/>
                        <m:ctrlPr>
                          <a:rPr lang="en-SG" i="1">
                            <a:latin typeface="Cambria Math" panose="02040503050406030204" pitchFamily="18" charset="0"/>
                          </a:rPr>
                        </m:ctrlPr>
                      </m:accPr>
                      <m:e>
                        <m:sSub>
                          <m:sSubPr>
                            <m:ctrlPr>
                              <a:rPr lang="en-SG" i="1">
                                <a:latin typeface="Cambria Math" panose="02040503050406030204" pitchFamily="18" charset="0"/>
                              </a:rPr>
                            </m:ctrlPr>
                          </m:sSubPr>
                          <m:e>
                            <m:r>
                              <a:rPr lang="en-SG"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𝐹</m:t>
                            </m:r>
                          </m:sub>
                        </m:sSub>
                      </m:e>
                    </m:acc>
                  </m:oMath>
                </a14:m>
                <a:r>
                  <a:rPr lang="en-SG" dirty="0"/>
                  <a:t> to make predictions on inputs unseen during training.</a:t>
                </a:r>
              </a:p>
              <a:p>
                <a:pPr lvl="1" algn="just"/>
                <a:r>
                  <a:rPr lang="en-SG" dirty="0"/>
                  <a:t>For a classification task, the DNN produces a probability vector </a:t>
                </a:r>
                <a14:m>
                  <m:oMath xmlns:m="http://schemas.openxmlformats.org/officeDocument/2006/math">
                    <m:r>
                      <a:rPr lang="en-US" i="1">
                        <a:latin typeface="Cambria Math" panose="02040503050406030204" pitchFamily="18" charset="0"/>
                      </a:rPr>
                      <m:t>𝐹</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 </m:t>
                    </m:r>
                  </m:oMath>
                </a14:m>
                <a:r>
                  <a:rPr lang="en-SG" dirty="0"/>
                  <a:t> encoding its belief of input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𝑥</m:t>
                        </m:r>
                      </m:e>
                    </m:acc>
                  </m:oMath>
                </a14:m>
                <a:r>
                  <a:rPr lang="en-SG" dirty="0"/>
                  <a:t> being in each of the classes. The weight parameters </a:t>
                </a:r>
                <a14:m>
                  <m:oMath xmlns:m="http://schemas.openxmlformats.org/officeDocument/2006/math">
                    <m:acc>
                      <m:accPr>
                        <m:chr m:val="⃗"/>
                        <m:ctrlPr>
                          <a:rPr lang="en-SG" i="1">
                            <a:latin typeface="Cambria Math" panose="02040503050406030204" pitchFamily="18" charset="0"/>
                          </a:rPr>
                        </m:ctrlPr>
                      </m:accPr>
                      <m:e>
                        <m:sSub>
                          <m:sSubPr>
                            <m:ctrlPr>
                              <a:rPr lang="en-SG" i="1">
                                <a:latin typeface="Cambria Math" panose="02040503050406030204" pitchFamily="18" charset="0"/>
                              </a:rPr>
                            </m:ctrlPr>
                          </m:sSubPr>
                          <m:e>
                            <m:r>
                              <a:rPr lang="en-SG"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𝐹</m:t>
                            </m:r>
                          </m:sub>
                        </m:sSub>
                      </m:e>
                    </m:acc>
                    <m:r>
                      <a:rPr lang="en-US" i="1">
                        <a:latin typeface="Cambria Math" panose="02040503050406030204" pitchFamily="18" charset="0"/>
                      </a:rPr>
                      <m:t> </m:t>
                    </m:r>
                  </m:oMath>
                </a14:m>
                <a:r>
                  <a:rPr lang="en-SG" dirty="0"/>
                  <a:t>hold the model knowledge acquired by training.</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589212" y="2128058"/>
                <a:ext cx="8915400" cy="3783165"/>
              </a:xfrm>
              <a:blipFill>
                <a:blip r:embed="rId3"/>
                <a:stretch>
                  <a:fillRect l="-479" r="-547"/>
                </a:stretch>
              </a:blipFill>
            </p:spPr>
            <p:txBody>
              <a:bodyPr/>
              <a:lstStyle/>
              <a:p>
                <a:r>
                  <a:rPr lang="en-IN">
                    <a:noFill/>
                  </a:rPr>
                  <a:t> </a:t>
                </a:r>
              </a:p>
            </p:txBody>
          </p:sp>
        </mc:Fallback>
      </mc:AlternateContent>
      <p:sp>
        <p:nvSpPr>
          <p:cNvPr id="24" name="Date Placeholder 23"/>
          <p:cNvSpPr>
            <a:spLocks noGrp="1"/>
          </p:cNvSpPr>
          <p:nvPr>
            <p:ph type="dt" sz="half" idx="10"/>
          </p:nvPr>
        </p:nvSpPr>
        <p:spPr/>
        <p:txBody>
          <a:bodyPr/>
          <a:lstStyle/>
          <a:p>
            <a:fld id="{2EFB6F28-65EE-44D6-BFFE-56AB02E1ABA6}" type="datetime1">
              <a:rPr lang="en-US" smtClean="0"/>
              <a:t>9/5/2017</a:t>
            </a:fld>
            <a:endParaRPr lang="en-US" dirty="0"/>
          </a:p>
        </p:txBody>
      </p:sp>
      <p:sp>
        <p:nvSpPr>
          <p:cNvPr id="26" name="Slide Number Placeholder 25"/>
          <p:cNvSpPr>
            <a:spLocks noGrp="1"/>
          </p:cNvSpPr>
          <p:nvPr>
            <p:ph type="sldNum" sz="quarter" idx="12"/>
          </p:nvPr>
        </p:nvSpPr>
        <p:spPr/>
        <p:txBody>
          <a:bodyPr/>
          <a:lstStyle/>
          <a:p>
            <a:fld id="{D57F1E4F-1CFF-5643-939E-217C01CDF565}" type="slidenum">
              <a:rPr lang="en-US" smtClean="0"/>
              <a:pPr/>
              <a:t>6</a:t>
            </a:fld>
            <a:endParaRPr lang="en-US" dirty="0"/>
          </a:p>
        </p:txBody>
      </p:sp>
      <p:sp>
        <p:nvSpPr>
          <p:cNvPr id="17" name="TextBox 16"/>
          <p:cNvSpPr txBox="1"/>
          <p:nvPr/>
        </p:nvSpPr>
        <p:spPr>
          <a:xfrm>
            <a:off x="2589212" y="6465498"/>
            <a:ext cx="8915400" cy="272415"/>
          </a:xfrm>
          <a:prstGeom prst="roundRect">
            <a:avLst/>
          </a:prstGeom>
          <a:solidFill>
            <a:srgbClr val="2E5369"/>
          </a:solidFill>
        </p:spPr>
        <p:txBody>
          <a:bodyPr wrap="square" rtlCol="0">
            <a:spAutoFit/>
          </a:bodyPr>
          <a:lstStyle/>
          <a:p>
            <a:pPr algn="ctr"/>
            <a:r>
              <a:rPr lang="en-SG" sz="1000" dirty="0">
                <a:solidFill>
                  <a:schemeClr val="bg1"/>
                </a:solidFill>
              </a:rPr>
              <a:t>Practical Black-Box Attacks against Machine Learning – </a:t>
            </a:r>
            <a:r>
              <a:rPr lang="en-US" sz="1000" dirty="0">
                <a:solidFill>
                  <a:schemeClr val="bg1"/>
                </a:solidFill>
              </a:rPr>
              <a:t>Papernot et. al., ASIA CCS ‘17</a:t>
            </a:r>
          </a:p>
        </p:txBody>
      </p:sp>
      <p:pic>
        <p:nvPicPr>
          <p:cNvPr id="5" name="Picture 4"/>
          <p:cNvPicPr>
            <a:picLocks noChangeAspect="1"/>
          </p:cNvPicPr>
          <p:nvPr/>
        </p:nvPicPr>
        <p:blipFill>
          <a:blip r:embed="rId4">
            <a:clrChange>
              <a:clrFrom>
                <a:srgbClr val="FFFFFF"/>
              </a:clrFrom>
              <a:clrTo>
                <a:srgbClr val="FFFFFF">
                  <a:alpha val="0"/>
                </a:srgbClr>
              </a:clrTo>
            </a:clrChange>
          </a:blip>
          <a:stretch>
            <a:fillRect/>
          </a:stretch>
        </p:blipFill>
        <p:spPr>
          <a:xfrm>
            <a:off x="9251078" y="0"/>
            <a:ext cx="2940922" cy="2128058"/>
          </a:xfrm>
          <a:prstGeom prst="rect">
            <a:avLst/>
          </a:prstGeom>
        </p:spPr>
      </p:pic>
    </p:spTree>
    <p:extLst>
      <p:ext uri="{BB962C8B-B14F-4D97-AF65-F5344CB8AC3E}">
        <p14:creationId xmlns:p14="http://schemas.microsoft.com/office/powerpoint/2010/main" val="295297861"/>
      </p:ext>
    </p:extLst>
  </p:cSld>
  <p:clrMapOvr>
    <a:masterClrMapping/>
  </p:clrMapOvr>
  <mc:AlternateContent xmlns:mc="http://schemas.openxmlformats.org/markup-compatibility/2006">
    <mc:Choice xmlns:p14="http://schemas.microsoft.com/office/powerpoint/2010/main" Requires="p14">
      <p:transition p14:dur="250">
        <p:push/>
      </p:transition>
    </mc:Choice>
    <mc:Fallback>
      <p:transition>
        <p:push/>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300"/>
          </a:xfrm>
        </p:spPr>
        <p:txBody>
          <a:bodyPr/>
          <a:lstStyle/>
          <a:p>
            <a:r>
              <a:rPr lang="en-US" dirty="0"/>
              <a:t>Threat Model</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589212" y="1274410"/>
                <a:ext cx="8915400" cy="4636812"/>
              </a:xfrm>
            </p:spPr>
            <p:txBody>
              <a:bodyPr>
                <a:normAutofit/>
              </a:bodyPr>
              <a:lstStyle/>
              <a:p>
                <a:pPr algn="just"/>
                <a:r>
                  <a:rPr lang="en-SG" dirty="0"/>
                  <a:t>Targeted Model</a:t>
                </a:r>
              </a:p>
              <a:p>
                <a:pPr lvl="1" algn="just"/>
                <a:r>
                  <a:rPr lang="en-SG" b="1" dirty="0"/>
                  <a:t>Multiclass DNN classifier</a:t>
                </a:r>
                <a:r>
                  <a:rPr lang="en-SG" dirty="0"/>
                  <a:t> -</a:t>
                </a:r>
                <a:r>
                  <a:rPr lang="en-SG" b="1" dirty="0"/>
                  <a:t> </a:t>
                </a:r>
                <a:r>
                  <a:rPr lang="en-SG" dirty="0"/>
                  <a:t>outputs probability vectors, where each vector component encodes the DNN's belief of the input being part of one of the predefined classes.</a:t>
                </a:r>
              </a:p>
              <a:p>
                <a:pPr algn="just"/>
                <a:r>
                  <a:rPr lang="en-SG" dirty="0"/>
                  <a:t>Adversarial Capabilities</a:t>
                </a:r>
              </a:p>
              <a:p>
                <a:pPr lvl="1" algn="just"/>
                <a:r>
                  <a:rPr lang="en-SG" dirty="0"/>
                  <a:t>The </a:t>
                </a:r>
                <a:r>
                  <a:rPr lang="en-SG" i="1" dirty="0"/>
                  <a:t>oracle</a:t>
                </a:r>
                <a:r>
                  <a:rPr lang="en-SG" dirty="0"/>
                  <a:t> </a:t>
                </a:r>
                <a14:m>
                  <m:oMath xmlns:m="http://schemas.openxmlformats.org/officeDocument/2006/math">
                    <m:r>
                      <a:rPr lang="en-SG" i="1" dirty="0" smtClean="0">
                        <a:latin typeface="Cambria Math" panose="02040503050406030204" pitchFamily="18" charset="0"/>
                      </a:rPr>
                      <m:t>𝑂</m:t>
                    </m:r>
                  </m:oMath>
                </a14:m>
                <a:r>
                  <a:rPr lang="en-SG" dirty="0"/>
                  <a:t> is the targeted DNN. Only capability of the adversary is accessing the label </a:t>
                </a:r>
                <a14:m>
                  <m:oMath xmlns:m="http://schemas.openxmlformats.org/officeDocument/2006/math">
                    <m:acc>
                      <m:accPr>
                        <m:chr m:val="̃"/>
                        <m:ctrlPr>
                          <a:rPr lang="en-SG" i="1" smtClean="0">
                            <a:latin typeface="Cambria Math" panose="02040503050406030204" pitchFamily="18" charset="0"/>
                          </a:rPr>
                        </m:ctrlPr>
                      </m:accPr>
                      <m:e>
                        <m:r>
                          <a:rPr lang="en-US" b="0" i="1" smtClean="0">
                            <a:latin typeface="Cambria Math" panose="02040503050406030204" pitchFamily="18" charset="0"/>
                          </a:rPr>
                          <m:t>𝑂</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oMath>
                </a14:m>
                <a:r>
                  <a:rPr lang="en-SG" dirty="0"/>
                  <a:t> for any input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𝑥</m:t>
                        </m:r>
                      </m:e>
                    </m:acc>
                  </m:oMath>
                </a14:m>
                <a:r>
                  <a:rPr lang="en-SG" dirty="0"/>
                  <a:t> by querying oracle </a:t>
                </a:r>
                <a14:m>
                  <m:oMath xmlns:m="http://schemas.openxmlformats.org/officeDocument/2006/math">
                    <m:r>
                      <a:rPr lang="en-US" b="0" i="1" smtClean="0">
                        <a:latin typeface="Cambria Math" panose="02040503050406030204" pitchFamily="18" charset="0"/>
                      </a:rPr>
                      <m:t>𝑂</m:t>
                    </m:r>
                  </m:oMath>
                </a14:m>
                <a:r>
                  <a:rPr lang="en-SG" dirty="0"/>
                  <a:t>. The output label </a:t>
                </a:r>
                <a14:m>
                  <m:oMath xmlns:m="http://schemas.openxmlformats.org/officeDocument/2006/math">
                    <m:acc>
                      <m:accPr>
                        <m:chr m:val="̃"/>
                        <m:ctrlPr>
                          <a:rPr lang="en-SG" i="1">
                            <a:latin typeface="Cambria Math" panose="02040503050406030204" pitchFamily="18" charset="0"/>
                          </a:rPr>
                        </m:ctrlPr>
                      </m:accPr>
                      <m:e>
                        <m:r>
                          <a:rPr lang="en-US" i="1">
                            <a:latin typeface="Cambria Math" panose="02040503050406030204" pitchFamily="18" charset="0"/>
                          </a:rPr>
                          <m:t>𝑂</m:t>
                        </m:r>
                      </m:e>
                    </m:ac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oMath>
                </a14:m>
                <a:r>
                  <a:rPr lang="en-SG" dirty="0"/>
                  <a:t> is the index of the class assigned the largest probability by the DNN.</a:t>
                </a:r>
              </a:p>
              <a:p>
                <a:pPr marL="457200" lvl="1" indent="0" algn="just">
                  <a:buNone/>
                </a:pPr>
                <a14:m>
                  <m:oMathPara xmlns:m="http://schemas.openxmlformats.org/officeDocument/2006/math">
                    <m:oMathParaPr>
                      <m:jc m:val="centerGroup"/>
                    </m:oMathParaPr>
                    <m:oMath xmlns:m="http://schemas.openxmlformats.org/officeDocument/2006/math">
                      <m:acc>
                        <m:accPr>
                          <m:chr m:val="̃"/>
                          <m:ctrlPr>
                            <a:rPr lang="en-SG" i="1">
                              <a:latin typeface="Cambria Math" panose="02040503050406030204" pitchFamily="18" charset="0"/>
                            </a:rPr>
                          </m:ctrlPr>
                        </m:accPr>
                        <m:e>
                          <m:r>
                            <a:rPr lang="en-US" i="1">
                              <a:latin typeface="Cambria Math" panose="02040503050406030204" pitchFamily="18" charset="0"/>
                            </a:rPr>
                            <m:t>𝑂</m:t>
                          </m:r>
                        </m:e>
                      </m:acc>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func>
                            <m:funcPr>
                              <m:ctrlPr>
                                <a:rPr lang="en-US" i="1">
                                  <a:latin typeface="Cambria Math" panose="02040503050406030204" pitchFamily="18" charset="0"/>
                                </a:rPr>
                              </m:ctrlPr>
                            </m:funcPr>
                            <m:fName>
                              <m:r>
                                <m:rPr>
                                  <m:sty m:val="p"/>
                                </m:rPr>
                                <a:rPr lang="en-US">
                                  <a:latin typeface="Cambria Math" panose="02040503050406030204" pitchFamily="18" charset="0"/>
                                </a:rPr>
                                <m:t>arg</m:t>
                              </m:r>
                            </m:fName>
                            <m:e>
                              <m:r>
                                <a:rPr lang="en-US" i="1">
                                  <a:latin typeface="Cambria Math" panose="02040503050406030204" pitchFamily="18" charset="0"/>
                                </a:rPr>
                                <m:t>𝑚𝑎𝑥</m:t>
                              </m:r>
                            </m:e>
                          </m:func>
                        </m:e>
                        <m:sub>
                          <m:r>
                            <a:rPr lang="en-US" b="0" i="1" smtClean="0">
                              <a:latin typeface="Cambria Math" panose="02040503050406030204" pitchFamily="18" charset="0"/>
                            </a:rPr>
                            <m:t>𝑗</m:t>
                          </m:r>
                          <m:r>
                            <a:rPr lang="en-US" b="0" i="1" smtClean="0">
                              <a:latin typeface="Cambria Math" panose="02040503050406030204" pitchFamily="18" charset="0"/>
                            </a:rPr>
                            <m:t>=0,  …,  </m:t>
                          </m:r>
                          <m:r>
                            <a:rPr lang="en-US" b="0" i="1" smtClean="0">
                              <a:latin typeface="Cambria Math" panose="02040503050406030204" pitchFamily="18" charset="0"/>
                            </a:rPr>
                            <m:t>𝑁</m:t>
                          </m:r>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𝑂</m:t>
                              </m:r>
                            </m:e>
                          </m:acc>
                        </m:e>
                        <m:sub>
                          <m:r>
                            <a:rPr lang="en-US" b="0" i="1" smtClean="0">
                              <a:latin typeface="Cambria Math" panose="02040503050406030204" pitchFamily="18" charset="0"/>
                            </a:rPr>
                            <m:t>𝑗</m:t>
                          </m:r>
                        </m:sub>
                      </m:sSub>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d>
                    </m:oMath>
                  </m:oMathPara>
                </a14:m>
                <a:endParaRPr lang="en-US" dirty="0"/>
              </a:p>
              <a:p>
                <a:pPr marL="457200" lvl="1" indent="0" algn="just">
                  <a:buNone/>
                </a:pPr>
                <a:r>
                  <a:rPr lang="en-SG" dirty="0"/>
                  <a:t>      where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𝑂</m:t>
                            </m:r>
                          </m:e>
                        </m:acc>
                      </m:e>
                      <m:sub>
                        <m:r>
                          <a:rPr lang="en-US" i="1">
                            <a:latin typeface="Cambria Math" panose="02040503050406030204" pitchFamily="18" charset="0"/>
                          </a:rPr>
                          <m:t>𝑗</m:t>
                        </m:r>
                      </m:sub>
                    </m:sSub>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d>
                  </m:oMath>
                </a14:m>
                <a:r>
                  <a:rPr lang="en-SG" dirty="0"/>
                  <a:t> is the </a:t>
                </a:r>
                <a14:m>
                  <m:oMath xmlns:m="http://schemas.openxmlformats.org/officeDocument/2006/math">
                    <m:sSup>
                      <m:sSupPr>
                        <m:ctrlPr>
                          <a:rPr lang="en-SG" i="1" smtClean="0">
                            <a:latin typeface="Cambria Math" panose="02040503050406030204" pitchFamily="18" charset="0"/>
                          </a:rPr>
                        </m:ctrlPr>
                      </m:sSupPr>
                      <m:e>
                        <m:r>
                          <a:rPr lang="en-US" b="0" i="1" smtClean="0">
                            <a:latin typeface="Cambria Math" panose="02040503050406030204" pitchFamily="18" charset="0"/>
                          </a:rPr>
                          <m:t>𝑗</m:t>
                        </m:r>
                      </m:e>
                      <m:sup>
                        <m:r>
                          <a:rPr lang="en-US" b="0" i="1" smtClean="0">
                            <a:latin typeface="Cambria Math" panose="02040503050406030204" pitchFamily="18" charset="0"/>
                          </a:rPr>
                          <m:t>𝑡h</m:t>
                        </m:r>
                      </m:sup>
                    </m:sSup>
                  </m:oMath>
                </a14:m>
                <a:r>
                  <a:rPr lang="en-SG" dirty="0"/>
                  <a:t> component of the probability vector </a:t>
                </a:r>
                <a14:m>
                  <m:oMath xmlns:m="http://schemas.openxmlformats.org/officeDocument/2006/math">
                    <m:acc>
                      <m:accPr>
                        <m:chr m:val="̃"/>
                        <m:ctrlPr>
                          <a:rPr lang="en-SG" i="1">
                            <a:latin typeface="Cambria Math" panose="02040503050406030204" pitchFamily="18" charset="0"/>
                          </a:rPr>
                        </m:ctrlPr>
                      </m:accPr>
                      <m:e>
                        <m:r>
                          <a:rPr lang="en-US" i="1">
                            <a:latin typeface="Cambria Math" panose="02040503050406030204" pitchFamily="18" charset="0"/>
                          </a:rPr>
                          <m:t>𝑂</m:t>
                        </m:r>
                      </m:e>
                    </m:acc>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d>
                  </m:oMath>
                </a14:m>
                <a:r>
                  <a:rPr lang="en-SG" dirty="0"/>
                  <a:t> output by DNN </a:t>
                </a:r>
                <a14:m>
                  <m:oMath xmlns:m="http://schemas.openxmlformats.org/officeDocument/2006/math">
                    <m:r>
                      <a:rPr lang="en-SG" i="1" dirty="0" smtClean="0">
                        <a:latin typeface="Cambria Math" panose="02040503050406030204" pitchFamily="18" charset="0"/>
                      </a:rPr>
                      <m:t>𝑂</m:t>
                    </m:r>
                  </m:oMath>
                </a14:m>
                <a:r>
                  <a:rPr lang="en-SG" dirty="0"/>
                  <a:t>. </a:t>
                </a:r>
              </a:p>
              <a:p>
                <a:pPr lvl="1" algn="just"/>
                <a:r>
                  <a:rPr lang="en-SG" b="1" i="1" dirty="0"/>
                  <a:t>Accessing labels </a:t>
                </a:r>
                <a14:m>
                  <m:oMath xmlns:m="http://schemas.openxmlformats.org/officeDocument/2006/math">
                    <m:acc>
                      <m:accPr>
                        <m:chr m:val="̃"/>
                        <m:ctrlPr>
                          <a:rPr lang="en-SG" b="1" i="1">
                            <a:latin typeface="Cambria Math" panose="02040503050406030204" pitchFamily="18" charset="0"/>
                          </a:rPr>
                        </m:ctrlPr>
                      </m:accPr>
                      <m:e>
                        <m:r>
                          <a:rPr lang="en-US" b="1" i="1">
                            <a:latin typeface="Cambria Math" panose="02040503050406030204" pitchFamily="18" charset="0"/>
                          </a:rPr>
                          <m:t>𝑶</m:t>
                        </m:r>
                      </m:e>
                    </m:acc>
                  </m:oMath>
                </a14:m>
                <a:r>
                  <a:rPr lang="en-SG" b="1" i="1" dirty="0"/>
                  <a:t> produced by the DNN </a:t>
                </a:r>
                <a14:m>
                  <m:oMath xmlns:m="http://schemas.openxmlformats.org/officeDocument/2006/math">
                    <m:r>
                      <a:rPr lang="en-SG" b="1" i="1" dirty="0" smtClean="0">
                        <a:latin typeface="Cambria Math" panose="02040503050406030204" pitchFamily="18" charset="0"/>
                      </a:rPr>
                      <m:t>𝑶</m:t>
                    </m:r>
                  </m:oMath>
                </a14:m>
                <a:r>
                  <a:rPr lang="en-SG" b="1" i="1" dirty="0"/>
                  <a:t> is the only capability assumed in the threat model. The adversary does not have access to the oracle internals or training data.</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589212" y="1274410"/>
                <a:ext cx="8915400" cy="4636812"/>
              </a:xfrm>
              <a:blipFill>
                <a:blip r:embed="rId3"/>
                <a:stretch>
                  <a:fillRect l="-479" t="-657" r="-342"/>
                </a:stretch>
              </a:blipFill>
            </p:spPr>
            <p:txBody>
              <a:bodyPr/>
              <a:lstStyle/>
              <a:p>
                <a:r>
                  <a:rPr lang="en-IN">
                    <a:noFill/>
                  </a:rPr>
                  <a:t> </a:t>
                </a:r>
              </a:p>
            </p:txBody>
          </p:sp>
        </mc:Fallback>
      </mc:AlternateContent>
      <p:sp>
        <p:nvSpPr>
          <p:cNvPr id="24" name="Date Placeholder 23"/>
          <p:cNvSpPr>
            <a:spLocks noGrp="1"/>
          </p:cNvSpPr>
          <p:nvPr>
            <p:ph type="dt" sz="half" idx="10"/>
          </p:nvPr>
        </p:nvSpPr>
        <p:spPr/>
        <p:txBody>
          <a:bodyPr/>
          <a:lstStyle/>
          <a:p>
            <a:fld id="{2EFB6F28-65EE-44D6-BFFE-56AB02E1ABA6}" type="datetime1">
              <a:rPr lang="en-US" smtClean="0"/>
              <a:t>9/5/2017</a:t>
            </a:fld>
            <a:endParaRPr lang="en-US" dirty="0"/>
          </a:p>
        </p:txBody>
      </p:sp>
      <p:sp>
        <p:nvSpPr>
          <p:cNvPr id="26" name="Slide Number Placeholder 25"/>
          <p:cNvSpPr>
            <a:spLocks noGrp="1"/>
          </p:cNvSpPr>
          <p:nvPr>
            <p:ph type="sldNum" sz="quarter" idx="12"/>
          </p:nvPr>
        </p:nvSpPr>
        <p:spPr/>
        <p:txBody>
          <a:bodyPr/>
          <a:lstStyle/>
          <a:p>
            <a:fld id="{D57F1E4F-1CFF-5643-939E-217C01CDF565}" type="slidenum">
              <a:rPr lang="en-US" smtClean="0"/>
              <a:pPr/>
              <a:t>7</a:t>
            </a:fld>
            <a:endParaRPr lang="en-US" dirty="0"/>
          </a:p>
        </p:txBody>
      </p:sp>
      <p:sp>
        <p:nvSpPr>
          <p:cNvPr id="17" name="TextBox 16"/>
          <p:cNvSpPr txBox="1"/>
          <p:nvPr/>
        </p:nvSpPr>
        <p:spPr>
          <a:xfrm>
            <a:off x="2589212" y="6465498"/>
            <a:ext cx="8915400" cy="272415"/>
          </a:xfrm>
          <a:prstGeom prst="roundRect">
            <a:avLst/>
          </a:prstGeom>
          <a:solidFill>
            <a:srgbClr val="2E5369"/>
          </a:solidFill>
        </p:spPr>
        <p:txBody>
          <a:bodyPr wrap="square" rtlCol="0">
            <a:spAutoFit/>
          </a:bodyPr>
          <a:lstStyle/>
          <a:p>
            <a:pPr algn="ctr"/>
            <a:r>
              <a:rPr lang="en-SG" sz="1000" dirty="0">
                <a:solidFill>
                  <a:schemeClr val="bg1"/>
                </a:solidFill>
              </a:rPr>
              <a:t>Practical Black-Box Attacks against Machine Learning – </a:t>
            </a:r>
            <a:r>
              <a:rPr lang="en-US" sz="1000" dirty="0">
                <a:solidFill>
                  <a:schemeClr val="bg1"/>
                </a:solidFill>
              </a:rPr>
              <a:t>Papernot et. al., ASIA CCS ‘17</a:t>
            </a:r>
          </a:p>
        </p:txBody>
      </p:sp>
    </p:spTree>
    <p:extLst>
      <p:ext uri="{BB962C8B-B14F-4D97-AF65-F5344CB8AC3E}">
        <p14:creationId xmlns:p14="http://schemas.microsoft.com/office/powerpoint/2010/main" val="3143342561"/>
      </p:ext>
    </p:extLst>
  </p:cSld>
  <p:clrMapOvr>
    <a:masterClrMapping/>
  </p:clrMapOvr>
  <mc:AlternateContent xmlns:mc="http://schemas.openxmlformats.org/markup-compatibility/2006">
    <mc:Choice xmlns:p14="http://schemas.microsoft.com/office/powerpoint/2010/main" Requires="p14">
      <p:transition p14:dur="250">
        <p:push/>
      </p:transition>
    </mc:Choice>
    <mc:Fallback>
      <p:transition>
        <p:pus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300"/>
          </a:xfrm>
        </p:spPr>
        <p:txBody>
          <a:bodyPr/>
          <a:lstStyle/>
          <a:p>
            <a:r>
              <a:rPr lang="en-US" dirty="0"/>
              <a:t>Threat Model</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589212" y="1274410"/>
                <a:ext cx="8915400" cy="4636812"/>
              </a:xfrm>
            </p:spPr>
            <p:txBody>
              <a:bodyPr>
                <a:normAutofit/>
              </a:bodyPr>
              <a:lstStyle/>
              <a:p>
                <a:pPr algn="just"/>
                <a:r>
                  <a:rPr lang="en-SG" dirty="0"/>
                  <a:t>Adversarial Goal</a:t>
                </a:r>
              </a:p>
              <a:p>
                <a:pPr lvl="1" algn="just"/>
                <a:r>
                  <a:rPr lang="en-SG" b="1" dirty="0"/>
                  <a:t>To produce a minimally altered version of any input </a:t>
                </a:r>
                <a14:m>
                  <m:oMath xmlns:m="http://schemas.openxmlformats.org/officeDocument/2006/math">
                    <m:acc>
                      <m:accPr>
                        <m:chr m:val="⃗"/>
                        <m:ctrlPr>
                          <a:rPr lang="en-US" b="1" i="1">
                            <a:latin typeface="Cambria Math" panose="02040503050406030204" pitchFamily="18" charset="0"/>
                          </a:rPr>
                        </m:ctrlPr>
                      </m:accPr>
                      <m:e>
                        <m:r>
                          <a:rPr lang="en-US" b="1" i="0">
                            <a:latin typeface="Cambria Math" panose="02040503050406030204" pitchFamily="18" charset="0"/>
                          </a:rPr>
                          <m:t>𝐱</m:t>
                        </m:r>
                      </m:e>
                    </m:acc>
                  </m:oMath>
                </a14:m>
                <a:r>
                  <a:rPr lang="en-SG" dirty="0"/>
                  <a:t>, named adversarial sample, and denoted </a:t>
                </a:r>
                <a14:m>
                  <m:oMath xmlns:m="http://schemas.openxmlformats.org/officeDocument/2006/math">
                    <m:sSup>
                      <m:sSupPr>
                        <m:ctrlPr>
                          <a:rPr lang="en-US" i="1" smtClean="0">
                            <a:latin typeface="Cambria Math" panose="02040503050406030204" pitchFamily="18" charset="0"/>
                          </a:rPr>
                        </m:ctrlPr>
                      </m:sSupPr>
                      <m:e>
                        <m:acc>
                          <m:accPr>
                            <m:chr m:val="⃗"/>
                            <m:ctrlPr>
                              <a:rPr lang="en-US" i="1">
                                <a:latin typeface="Cambria Math" panose="02040503050406030204" pitchFamily="18" charset="0"/>
                              </a:rPr>
                            </m:ctrlPr>
                          </m:accPr>
                          <m:e>
                            <m:r>
                              <m:rPr>
                                <m:sty m:val="p"/>
                              </m:rPr>
                              <a:rPr lang="en-US" b="0" i="0">
                                <a:latin typeface="Cambria Math" panose="02040503050406030204" pitchFamily="18" charset="0"/>
                              </a:rPr>
                              <m:t>x</m:t>
                            </m:r>
                          </m:e>
                        </m:acc>
                      </m:e>
                      <m:sup>
                        <m:r>
                          <a:rPr lang="en-US" b="0" i="0" smtClean="0">
                            <a:latin typeface="Cambria Math" panose="02040503050406030204" pitchFamily="18" charset="0"/>
                          </a:rPr>
                          <m:t>∗</m:t>
                        </m:r>
                      </m:sup>
                    </m:sSup>
                  </m:oMath>
                </a14:m>
                <a:r>
                  <a:rPr lang="en-SG" dirty="0"/>
                  <a:t>, misclassified by oracle </a:t>
                </a:r>
                <a14:m>
                  <m:oMath xmlns:m="http://schemas.openxmlformats.org/officeDocument/2006/math">
                    <m:r>
                      <a:rPr lang="en-SG" i="1" dirty="0" smtClean="0">
                        <a:latin typeface="Cambria Math" panose="02040503050406030204" pitchFamily="18" charset="0"/>
                      </a:rPr>
                      <m:t>𝑂</m:t>
                    </m:r>
                  </m:oMath>
                </a14:m>
                <a:r>
                  <a:rPr lang="en-SG" dirty="0"/>
                  <a: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𝑂</m:t>
                        </m:r>
                      </m:e>
                    </m:acc>
                    <m:d>
                      <m:dPr>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m:rPr>
                                    <m:sty m:val="p"/>
                                  </m:rPr>
                                  <a:rPr lang="en-US">
                                    <a:latin typeface="Cambria Math" panose="02040503050406030204" pitchFamily="18" charset="0"/>
                                  </a:rPr>
                                  <m:t>x</m:t>
                                </m:r>
                              </m:e>
                            </m:acc>
                          </m:e>
                          <m:sup>
                            <m:r>
                              <a:rPr lang="en-US">
                                <a:latin typeface="Cambria Math" panose="02040503050406030204" pitchFamily="18" charset="0"/>
                              </a:rPr>
                              <m:t>∗</m:t>
                            </m:r>
                          </m:sup>
                        </m:sSup>
                      </m:e>
                    </m:d>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𝑂</m:t>
                        </m:r>
                      </m:e>
                    </m:acc>
                    <m:r>
                      <a:rPr lang="en-US" b="0" i="1" smtClean="0">
                        <a:latin typeface="Cambria Math" panose="02040503050406030204" pitchFamily="18" charset="0"/>
                      </a:rPr>
                      <m:t>(</m:t>
                    </m:r>
                    <m:acc>
                      <m:accPr>
                        <m:chr m:val="⃗"/>
                        <m:ctrlPr>
                          <a:rPr lang="en-US" i="1">
                            <a:latin typeface="Cambria Math" panose="02040503050406030204" pitchFamily="18" charset="0"/>
                          </a:rPr>
                        </m:ctrlPr>
                      </m:accPr>
                      <m:e>
                        <m:r>
                          <m:rPr>
                            <m:sty m:val="p"/>
                          </m:rPr>
                          <a:rPr lang="en-US">
                            <a:latin typeface="Cambria Math" panose="02040503050406030204" pitchFamily="18" charset="0"/>
                          </a:rPr>
                          <m:t>x</m:t>
                        </m:r>
                      </m:e>
                    </m:acc>
                    <m:r>
                      <a:rPr lang="en-US" b="0" i="1" smtClean="0">
                        <a:latin typeface="Cambria Math" panose="02040503050406030204" pitchFamily="18" charset="0"/>
                      </a:rPr>
                      <m:t>)</m:t>
                    </m:r>
                  </m:oMath>
                </a14:m>
                <a:r>
                  <a:rPr lang="en-SG" dirty="0"/>
                  <a:t>.</a:t>
                </a:r>
              </a:p>
              <a:p>
                <a:pPr lvl="1" algn="just"/>
                <a:r>
                  <a:rPr lang="en-SG" dirty="0"/>
                  <a:t>Adversarial samples solve the following optimization problem:</a:t>
                </a:r>
              </a:p>
              <a:p>
                <a:pPr marL="457200" lvl="1" indent="0" algn="just">
                  <a:buNone/>
                </a:pPr>
                <a14:m>
                  <m:oMathPara xmlns:m="http://schemas.openxmlformats.org/officeDocument/2006/math">
                    <m:oMathParaPr>
                      <m:jc m:val="centerGroup"/>
                    </m:oMathParaPr>
                    <m:oMath xmlns:m="http://schemas.openxmlformats.org/officeDocument/2006/math">
                      <m:sSup>
                        <m:sSupPr>
                          <m:ctrlPr>
                            <a:rPr lang="en-SG" i="1" smtClean="0">
                              <a:latin typeface="Cambria Math" panose="02040503050406030204" pitchFamily="18" charset="0"/>
                            </a:rPr>
                          </m:ctrlPr>
                        </m:sSupPr>
                        <m:e>
                          <m:acc>
                            <m:accPr>
                              <m:chr m:val="⃗"/>
                              <m:ctrlPr>
                                <a:rPr lang="en-SG" i="1" smtClean="0">
                                  <a:latin typeface="Cambria Math" panose="02040503050406030204" pitchFamily="18" charset="0"/>
                                </a:rPr>
                              </m:ctrlPr>
                            </m:accPr>
                            <m:e>
                              <m:r>
                                <a:rPr lang="en-US" b="0" i="1" smtClean="0">
                                  <a:latin typeface="Cambria Math" panose="02040503050406030204" pitchFamily="18" charset="0"/>
                                </a:rPr>
                                <m:t>𝑥</m:t>
                              </m:r>
                            </m:e>
                          </m:acc>
                        </m:e>
                        <m:sup>
                          <m:r>
                            <a:rPr lang="en-US" b="0" i="1" smtClean="0">
                              <a:latin typeface="Cambria Math" panose="02040503050406030204" pitchFamily="18" charset="0"/>
                            </a:rPr>
                            <m:t>∗</m:t>
                          </m:r>
                        </m:sup>
                      </m:sSup>
                      <m:r>
                        <a:rPr lang="en-US" b="0" i="1" smtClean="0">
                          <a:latin typeface="Cambria Math" panose="02040503050406030204" pitchFamily="18" charset="0"/>
                        </a:rPr>
                        <m:t>=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𝑎𝑟𝑔𝑚𝑖𝑛</m:t>
                      </m:r>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𝑂</m:t>
                              </m:r>
                            </m:e>
                          </m:acc>
                          <m:d>
                            <m:dPr>
                              <m:ctrlPr>
                                <a:rPr lang="en-US" i="1">
                                  <a:latin typeface="Cambria Math" panose="02040503050406030204" pitchFamily="18" charset="0"/>
                                </a:rPr>
                              </m:ctrlPr>
                            </m:d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e>
                          </m:d>
                          <m:r>
                            <a:rPr lang="en-US"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𝑂</m:t>
                              </m:r>
                            </m:e>
                          </m:acc>
                          <m:d>
                            <m:dPr>
                              <m:ctrlPr>
                                <a:rPr lang="en-US" i="1">
                                  <a:latin typeface="Cambria Math" panose="02040503050406030204" pitchFamily="18" charset="0"/>
                                </a:rPr>
                              </m:ctrlPr>
                            </m:d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𝑥</m:t>
                                  </m:r>
                                </m:e>
                              </m:acc>
                            </m:e>
                          </m:d>
                        </m:e>
                      </m:d>
                      <m:r>
                        <a:rPr lang="en-US" b="0" i="1" smtClean="0">
                          <a:latin typeface="Cambria Math" panose="02040503050406030204" pitchFamily="18" charset="0"/>
                        </a:rPr>
                        <m:t>=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sub>
                      </m:sSub>
                    </m:oMath>
                  </m:oMathPara>
                </a14:m>
                <a:endParaRPr lang="en-SG" dirty="0"/>
              </a:p>
              <a:p>
                <a:pPr lvl="1" algn="just"/>
                <a:endParaRPr lang="en-SG" dirty="0"/>
              </a:p>
              <a:p>
                <a:pPr lvl="1" algn="just"/>
                <a:endParaRPr lang="en-SG" dirty="0"/>
              </a:p>
              <a:p>
                <a:pPr lvl="1" algn="just"/>
                <a:r>
                  <a:rPr lang="en-SG" dirty="0"/>
                  <a:t>Even with total knowledge of the architecture used to train model </a:t>
                </a:r>
                <a14:m>
                  <m:oMath xmlns:m="http://schemas.openxmlformats.org/officeDocument/2006/math">
                    <m:r>
                      <a:rPr lang="en-SG" i="1" dirty="0" smtClean="0">
                        <a:latin typeface="Cambria Math" panose="02040503050406030204" pitchFamily="18" charset="0"/>
                      </a:rPr>
                      <m:t>𝑂</m:t>
                    </m:r>
                  </m:oMath>
                </a14:m>
                <a:r>
                  <a:rPr lang="en-SG" dirty="0"/>
                  <a:t> and its parameters resulting from training, finding such a minimal perturbation is not trivial, as </a:t>
                </a:r>
                <a:r>
                  <a:rPr lang="en-SG" i="1" dirty="0"/>
                  <a:t>properties of DNNs preclude the optimization problem from being linear or convex</a:t>
                </a:r>
                <a:r>
                  <a:rPr lang="en-SG" dirty="0"/>
                  <a:t>.</a:t>
                </a:r>
              </a:p>
              <a:p>
                <a:pPr lvl="1" algn="just"/>
                <a:r>
                  <a:rPr lang="en-SG" dirty="0"/>
                  <a:t>Removing knowledge of model </a:t>
                </a:r>
                <a14:m>
                  <m:oMath xmlns:m="http://schemas.openxmlformats.org/officeDocument/2006/math">
                    <m:r>
                      <a:rPr lang="en-SG" i="1" dirty="0" smtClean="0">
                        <a:latin typeface="Cambria Math" panose="02040503050406030204" pitchFamily="18" charset="0"/>
                      </a:rPr>
                      <m:t>𝑂</m:t>
                    </m:r>
                  </m:oMath>
                </a14:m>
                <a:r>
                  <a:rPr lang="en-SG" dirty="0"/>
                  <a:t>'s architecture and training data makes it harder to find a perturbation such that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𝑂</m:t>
                        </m:r>
                      </m:e>
                    </m:acc>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acc>
                              <m:accPr>
                                <m:chr m:val="⃗"/>
                                <m:ctrlPr>
                                  <a:rPr lang="en-US" i="1">
                                    <a:latin typeface="Cambria Math" panose="02040503050406030204" pitchFamily="18" charset="0"/>
                                  </a:rPr>
                                </m:ctrlPr>
                              </m:accPr>
                              <m:e>
                                <m:r>
                                  <a:rPr lang="en-US" i="1">
                                    <a:latin typeface="Cambria Math" panose="02040503050406030204" pitchFamily="18" charset="0"/>
                                  </a:rPr>
                                  <m:t>𝑥</m:t>
                                </m:r>
                              </m:e>
                            </m:acc>
                          </m:sub>
                        </m:sSub>
                      </m:e>
                    </m:d>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𝑂</m:t>
                        </m:r>
                      </m:e>
                    </m:acc>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d>
                  </m:oMath>
                </a14:m>
                <a:r>
                  <a:rPr lang="en-SG" dirty="0"/>
                  <a:t> holds.</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589212" y="1274410"/>
                <a:ext cx="8915400" cy="4636812"/>
              </a:xfrm>
              <a:blipFill>
                <a:blip r:embed="rId3"/>
                <a:stretch>
                  <a:fillRect l="-479" t="-657" r="-342"/>
                </a:stretch>
              </a:blipFill>
            </p:spPr>
            <p:txBody>
              <a:bodyPr/>
              <a:lstStyle/>
              <a:p>
                <a:r>
                  <a:rPr lang="en-IN">
                    <a:noFill/>
                  </a:rPr>
                  <a:t> </a:t>
                </a:r>
              </a:p>
            </p:txBody>
          </p:sp>
        </mc:Fallback>
      </mc:AlternateContent>
      <p:sp>
        <p:nvSpPr>
          <p:cNvPr id="24" name="Date Placeholder 23"/>
          <p:cNvSpPr>
            <a:spLocks noGrp="1"/>
          </p:cNvSpPr>
          <p:nvPr>
            <p:ph type="dt" sz="half" idx="10"/>
          </p:nvPr>
        </p:nvSpPr>
        <p:spPr/>
        <p:txBody>
          <a:bodyPr/>
          <a:lstStyle/>
          <a:p>
            <a:fld id="{2EFB6F28-65EE-44D6-BFFE-56AB02E1ABA6}" type="datetime1">
              <a:rPr lang="en-US" smtClean="0"/>
              <a:t>9/5/2017</a:t>
            </a:fld>
            <a:endParaRPr lang="en-US" dirty="0"/>
          </a:p>
        </p:txBody>
      </p:sp>
      <p:sp>
        <p:nvSpPr>
          <p:cNvPr id="26" name="Slide Number Placeholder 25"/>
          <p:cNvSpPr>
            <a:spLocks noGrp="1"/>
          </p:cNvSpPr>
          <p:nvPr>
            <p:ph type="sldNum" sz="quarter" idx="12"/>
          </p:nvPr>
        </p:nvSpPr>
        <p:spPr/>
        <p:txBody>
          <a:bodyPr/>
          <a:lstStyle/>
          <a:p>
            <a:fld id="{D57F1E4F-1CFF-5643-939E-217C01CDF565}" type="slidenum">
              <a:rPr lang="en-US" smtClean="0"/>
              <a:pPr/>
              <a:t>8</a:t>
            </a:fld>
            <a:endParaRPr lang="en-US" dirty="0"/>
          </a:p>
        </p:txBody>
      </p:sp>
      <p:sp>
        <p:nvSpPr>
          <p:cNvPr id="17" name="TextBox 16"/>
          <p:cNvSpPr txBox="1"/>
          <p:nvPr/>
        </p:nvSpPr>
        <p:spPr>
          <a:xfrm>
            <a:off x="2589212" y="6465498"/>
            <a:ext cx="8915400" cy="272415"/>
          </a:xfrm>
          <a:prstGeom prst="roundRect">
            <a:avLst/>
          </a:prstGeom>
          <a:solidFill>
            <a:srgbClr val="2E5369"/>
          </a:solidFill>
        </p:spPr>
        <p:txBody>
          <a:bodyPr wrap="square" rtlCol="0">
            <a:spAutoFit/>
          </a:bodyPr>
          <a:lstStyle/>
          <a:p>
            <a:pPr algn="ctr"/>
            <a:r>
              <a:rPr lang="en-SG" sz="1000" dirty="0">
                <a:solidFill>
                  <a:schemeClr val="bg1"/>
                </a:solidFill>
              </a:rPr>
              <a:t>Practical Black-Box Attacks against Machine Learning – </a:t>
            </a:r>
            <a:r>
              <a:rPr lang="en-US" sz="1000" dirty="0">
                <a:solidFill>
                  <a:schemeClr val="bg1"/>
                </a:solidFill>
              </a:rPr>
              <a:t>Papernot et. al., ASIA CCS ‘17</a:t>
            </a:r>
          </a:p>
        </p:txBody>
      </p:sp>
      <p:pic>
        <p:nvPicPr>
          <p:cNvPr id="4" name="Picture 3"/>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271288" y="2520090"/>
            <a:ext cx="2233324" cy="1182333"/>
          </a:xfrm>
          <a:prstGeom prst="rect">
            <a:avLst/>
          </a:prstGeom>
        </p:spPr>
      </p:pic>
    </p:spTree>
    <p:extLst>
      <p:ext uri="{BB962C8B-B14F-4D97-AF65-F5344CB8AC3E}">
        <p14:creationId xmlns:p14="http://schemas.microsoft.com/office/powerpoint/2010/main" val="3744807311"/>
      </p:ext>
    </p:extLst>
  </p:cSld>
  <p:clrMapOvr>
    <a:masterClrMapping/>
  </p:clrMapOvr>
  <mc:AlternateContent xmlns:mc="http://schemas.openxmlformats.org/markup-compatibility/2006">
    <mc:Choice xmlns:p14="http://schemas.microsoft.com/office/powerpoint/2010/main" Requires="p14">
      <p:transition p14:dur="250">
        <p:push/>
      </p:transition>
    </mc:Choice>
    <mc:Fallback>
      <p:transition>
        <p:pus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300"/>
          </a:xfrm>
        </p:spPr>
        <p:txBody>
          <a:bodyPr/>
          <a:lstStyle/>
          <a:p>
            <a:r>
              <a:rPr lang="en-US" dirty="0"/>
              <a:t>Black-Box Attack Strategy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589212" y="1274410"/>
                <a:ext cx="8915400" cy="4636812"/>
              </a:xfrm>
            </p:spPr>
            <p:txBody>
              <a:bodyPr>
                <a:normAutofit/>
              </a:bodyPr>
              <a:lstStyle/>
              <a:p>
                <a:pPr algn="just"/>
                <a:r>
                  <a:rPr lang="en-SG" b="1" u="sng" dirty="0"/>
                  <a:t>Substitute Model Training</a:t>
                </a:r>
              </a:p>
              <a:p>
                <a:pPr lvl="1" algn="just"/>
                <a:r>
                  <a:rPr lang="en-SG" dirty="0"/>
                  <a:t>The attacker queries the oracle with synthetic inputs selected by a </a:t>
                </a:r>
                <a:r>
                  <a:rPr lang="en-SG" i="1" u="sng" dirty="0"/>
                  <a:t>Jacobian based heuristic</a:t>
                </a:r>
                <a:r>
                  <a:rPr lang="en-SG" dirty="0"/>
                  <a:t> to build a model </a:t>
                </a:r>
                <a14:m>
                  <m:oMath xmlns:m="http://schemas.openxmlformats.org/officeDocument/2006/math">
                    <m:r>
                      <a:rPr lang="en-SG" i="1" dirty="0" smtClean="0">
                        <a:latin typeface="Cambria Math" panose="02040503050406030204" pitchFamily="18" charset="0"/>
                      </a:rPr>
                      <m:t>𝐹</m:t>
                    </m:r>
                  </m:oMath>
                </a14:m>
                <a:r>
                  <a:rPr lang="en-SG" dirty="0"/>
                  <a:t> approximating the oracle model </a:t>
                </a:r>
                <a14:m>
                  <m:oMath xmlns:m="http://schemas.openxmlformats.org/officeDocument/2006/math">
                    <m:r>
                      <a:rPr lang="en-SG" i="1" dirty="0" smtClean="0">
                        <a:latin typeface="Cambria Math" panose="02040503050406030204" pitchFamily="18" charset="0"/>
                      </a:rPr>
                      <m:t>𝑂</m:t>
                    </m:r>
                  </m:oMath>
                </a14:m>
                <a:r>
                  <a:rPr lang="en-SG" dirty="0"/>
                  <a:t>'s decision boundaries.</a:t>
                </a:r>
              </a:p>
              <a:p>
                <a:pPr lvl="1" algn="just"/>
                <a:r>
                  <a:rPr lang="en-SG" dirty="0"/>
                  <a:t>Challenges</a:t>
                </a:r>
              </a:p>
              <a:p>
                <a:pPr lvl="2" algn="just"/>
                <a:r>
                  <a:rPr lang="en-SG" dirty="0"/>
                  <a:t>Select an architecture for substitute without knowledge of the targeted oracle's architecture.</a:t>
                </a:r>
              </a:p>
              <a:p>
                <a:pPr lvl="2" algn="just"/>
                <a:r>
                  <a:rPr lang="en-SG" dirty="0"/>
                  <a:t>Limit the number of queries made to the oracle in order to ensure that the approach is tractable.</a:t>
                </a:r>
              </a:p>
              <a:p>
                <a:pPr lvl="1" algn="just"/>
                <a:r>
                  <a:rPr lang="en-SG" dirty="0"/>
                  <a:t>Substitute Architecture</a:t>
                </a:r>
              </a:p>
              <a:p>
                <a:pPr lvl="2" algn="just"/>
                <a:r>
                  <a:rPr lang="en-SG" dirty="0"/>
                  <a:t>This factor is not the most limiting as the adversary must at least have some partial knowledge of the oracle input (e.g., images, text) and expected output (e.g., classification). The adversary can thus use an architecture adapted to the input-output relation.</a:t>
                </a:r>
              </a:p>
              <a:p>
                <a:pPr lvl="2" algn="just"/>
                <a:r>
                  <a:rPr lang="en-SG" dirty="0"/>
                  <a:t>The type, number, and size of layers used in the substitute DNN have relatively little impact on the success of the attack.</a:t>
                </a:r>
              </a:p>
              <a:p>
                <a:pPr algn="just"/>
                <a:endParaRPr lang="en-SG"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589212" y="1274410"/>
                <a:ext cx="8915400" cy="4636812"/>
              </a:xfrm>
              <a:blipFill>
                <a:blip r:embed="rId3"/>
                <a:stretch>
                  <a:fillRect l="-479" t="-657" r="-342" b="-657"/>
                </a:stretch>
              </a:blipFill>
            </p:spPr>
            <p:txBody>
              <a:bodyPr/>
              <a:lstStyle/>
              <a:p>
                <a:r>
                  <a:rPr lang="en-US">
                    <a:noFill/>
                  </a:rPr>
                  <a:t> </a:t>
                </a:r>
              </a:p>
            </p:txBody>
          </p:sp>
        </mc:Fallback>
      </mc:AlternateContent>
      <p:sp>
        <p:nvSpPr>
          <p:cNvPr id="24" name="Date Placeholder 23"/>
          <p:cNvSpPr>
            <a:spLocks noGrp="1"/>
          </p:cNvSpPr>
          <p:nvPr>
            <p:ph type="dt" sz="half" idx="10"/>
          </p:nvPr>
        </p:nvSpPr>
        <p:spPr/>
        <p:txBody>
          <a:bodyPr/>
          <a:lstStyle/>
          <a:p>
            <a:fld id="{2EFB6F28-65EE-44D6-BFFE-56AB02E1ABA6}" type="datetime1">
              <a:rPr lang="en-US" smtClean="0"/>
              <a:t>9/5/2017</a:t>
            </a:fld>
            <a:endParaRPr lang="en-US" dirty="0"/>
          </a:p>
        </p:txBody>
      </p:sp>
      <p:sp>
        <p:nvSpPr>
          <p:cNvPr id="26" name="Slide Number Placeholder 25"/>
          <p:cNvSpPr>
            <a:spLocks noGrp="1"/>
          </p:cNvSpPr>
          <p:nvPr>
            <p:ph type="sldNum" sz="quarter" idx="12"/>
          </p:nvPr>
        </p:nvSpPr>
        <p:spPr/>
        <p:txBody>
          <a:bodyPr/>
          <a:lstStyle/>
          <a:p>
            <a:fld id="{D57F1E4F-1CFF-5643-939E-217C01CDF565}" type="slidenum">
              <a:rPr lang="en-US" smtClean="0"/>
              <a:pPr/>
              <a:t>9</a:t>
            </a:fld>
            <a:endParaRPr lang="en-US" dirty="0"/>
          </a:p>
        </p:txBody>
      </p:sp>
      <p:sp>
        <p:nvSpPr>
          <p:cNvPr id="17" name="TextBox 16"/>
          <p:cNvSpPr txBox="1"/>
          <p:nvPr/>
        </p:nvSpPr>
        <p:spPr>
          <a:xfrm>
            <a:off x="2589212" y="6465498"/>
            <a:ext cx="8915400" cy="272415"/>
          </a:xfrm>
          <a:prstGeom prst="roundRect">
            <a:avLst/>
          </a:prstGeom>
          <a:solidFill>
            <a:srgbClr val="2E5369"/>
          </a:solidFill>
        </p:spPr>
        <p:txBody>
          <a:bodyPr wrap="square" rtlCol="0">
            <a:spAutoFit/>
          </a:bodyPr>
          <a:lstStyle/>
          <a:p>
            <a:pPr algn="ctr"/>
            <a:r>
              <a:rPr lang="en-SG" sz="1000" dirty="0">
                <a:solidFill>
                  <a:schemeClr val="bg1"/>
                </a:solidFill>
              </a:rPr>
              <a:t>Practical Black-Box Attacks against Machine Learning – </a:t>
            </a:r>
            <a:r>
              <a:rPr lang="en-US" sz="1000" dirty="0">
                <a:solidFill>
                  <a:schemeClr val="bg1"/>
                </a:solidFill>
              </a:rPr>
              <a:t>Papernot et. al., ASIA CCS ‘17</a:t>
            </a:r>
          </a:p>
        </p:txBody>
      </p:sp>
      <p:sp>
        <p:nvSpPr>
          <p:cNvPr id="5" name="TextBox 4"/>
          <p:cNvSpPr txBox="1"/>
          <p:nvPr/>
        </p:nvSpPr>
        <p:spPr>
          <a:xfrm>
            <a:off x="232758" y="2530987"/>
            <a:ext cx="2818013" cy="707886"/>
          </a:xfrm>
          <a:prstGeom prst="rect">
            <a:avLst/>
          </a:prstGeom>
          <a:solidFill>
            <a:schemeClr val="bg1"/>
          </a:solidFill>
          <a:ln>
            <a:solidFill>
              <a:schemeClr val="tx1"/>
            </a:solidFill>
          </a:ln>
        </p:spPr>
        <p:txBody>
          <a:bodyPr wrap="square" rtlCol="0">
            <a:spAutoFit/>
          </a:bodyPr>
          <a:lstStyle/>
          <a:p>
            <a:pPr algn="just"/>
            <a:r>
              <a:rPr lang="en-SG" sz="1000" dirty="0"/>
              <a:t>This technique is not designed to maximize the substitute DNN's accuracy but rather ensure that it approximates the oracle's decision boundaries with few label queries</a:t>
            </a:r>
            <a:endParaRPr lang="en-US" sz="1000" dirty="0"/>
          </a:p>
        </p:txBody>
      </p:sp>
      <p:cxnSp>
        <p:nvCxnSpPr>
          <p:cNvPr id="7" name="Straight Arrow Connector 6"/>
          <p:cNvCxnSpPr>
            <a:endCxn id="5" idx="0"/>
          </p:cNvCxnSpPr>
          <p:nvPr/>
        </p:nvCxnSpPr>
        <p:spPr>
          <a:xfrm flipH="1">
            <a:off x="1641765" y="2194560"/>
            <a:ext cx="1824642" cy="3364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785507"/>
      </p:ext>
    </p:extLst>
  </p:cSld>
  <p:clrMapOvr>
    <a:masterClrMapping/>
  </p:clrMapOvr>
  <mc:AlternateContent xmlns:mc="http://schemas.openxmlformats.org/markup-compatibility/2006">
    <mc:Choice xmlns:p14="http://schemas.microsoft.com/office/powerpoint/2010/main" Requires="p14">
      <p:transition p14:dur="250">
        <p:push/>
      </p:transition>
    </mc:Choice>
    <mc:Fallback>
      <p:transition>
        <p:pus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300"/>
          </a:xfrm>
        </p:spPr>
        <p:txBody>
          <a:bodyPr/>
          <a:lstStyle/>
          <a:p>
            <a:r>
              <a:rPr lang="en-US" dirty="0"/>
              <a:t>Black-Box Attack Strategy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589212" y="1274410"/>
                <a:ext cx="8915400" cy="4636812"/>
              </a:xfrm>
            </p:spPr>
            <p:txBody>
              <a:bodyPr>
                <a:normAutofit/>
              </a:bodyPr>
              <a:lstStyle/>
              <a:p>
                <a:pPr algn="just"/>
                <a:r>
                  <a:rPr lang="en-SG" b="1" u="sng" dirty="0"/>
                  <a:t>Substitute Model Training</a:t>
                </a:r>
              </a:p>
              <a:p>
                <a:pPr lvl="1" algn="just"/>
                <a:r>
                  <a:rPr lang="en-SG" dirty="0"/>
                  <a:t>Generating a Synthetic Dataset</a:t>
                </a:r>
              </a:p>
              <a:p>
                <a:pPr lvl="2" algn="just"/>
                <a:r>
                  <a:rPr lang="en-SG" dirty="0"/>
                  <a:t>An adversary could potentially make an infinite number of queries to obtain the oracle's output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𝑂</m:t>
                        </m:r>
                      </m:e>
                    </m:acc>
                    <m:r>
                      <a:rPr lang="en-US" i="1">
                        <a:latin typeface="Cambria Math" panose="02040503050406030204" pitchFamily="18" charset="0"/>
                      </a:rPr>
                      <m:t>(</m:t>
                    </m:r>
                    <m:acc>
                      <m:accPr>
                        <m:chr m:val="⃗"/>
                        <m:ctrlPr>
                          <a:rPr lang="en-US" i="1">
                            <a:latin typeface="Cambria Math" panose="02040503050406030204" pitchFamily="18" charset="0"/>
                          </a:rPr>
                        </m:ctrlPr>
                      </m:accPr>
                      <m:e>
                        <m:r>
                          <m:rPr>
                            <m:sty m:val="p"/>
                          </m:rPr>
                          <a:rPr lang="en-US">
                            <a:latin typeface="Cambria Math" panose="02040503050406030204" pitchFamily="18" charset="0"/>
                          </a:rPr>
                          <m:t>x</m:t>
                        </m:r>
                      </m:e>
                    </m:acc>
                    <m:r>
                      <a:rPr lang="en-US" i="1">
                        <a:latin typeface="Cambria Math" panose="02040503050406030204" pitchFamily="18" charset="0"/>
                      </a:rPr>
                      <m:t>)</m:t>
                    </m:r>
                  </m:oMath>
                </a14:m>
                <a:r>
                  <a:rPr lang="en-SG" dirty="0"/>
                  <a:t> for any input </a:t>
                </a:r>
                <a14:m>
                  <m:oMath xmlns:m="http://schemas.openxmlformats.org/officeDocument/2006/math">
                    <m:acc>
                      <m:accPr>
                        <m:chr m:val="⃗"/>
                        <m:ctrlPr>
                          <a:rPr lang="en-US" i="1">
                            <a:latin typeface="Cambria Math" panose="02040503050406030204" pitchFamily="18" charset="0"/>
                          </a:rPr>
                        </m:ctrlPr>
                      </m:accPr>
                      <m:e>
                        <m:r>
                          <m:rPr>
                            <m:sty m:val="p"/>
                          </m:rPr>
                          <a:rPr lang="en-US">
                            <a:latin typeface="Cambria Math" panose="02040503050406030204" pitchFamily="18" charset="0"/>
                          </a:rPr>
                          <m:t>x</m:t>
                        </m:r>
                      </m:e>
                    </m:acc>
                  </m:oMath>
                </a14:m>
                <a:r>
                  <a:rPr lang="en-SG" dirty="0"/>
                  <a:t> belonging to the input domain. This would provide a copy of the oracle. However, this is simply not tractable.</a:t>
                </a:r>
              </a:p>
              <a:p>
                <a:pPr lvl="2" algn="just"/>
                <a:r>
                  <a:rPr lang="en-SG" dirty="0"/>
                  <a:t>Furthermore, making a large number of queries renders the adversarial behaviour easy to detect.</a:t>
                </a:r>
              </a:p>
              <a:p>
                <a:pPr lvl="2" algn="just"/>
                <a:r>
                  <a:rPr lang="en-GB" dirty="0"/>
                  <a:t>Introduce a heuristic efficiently exploring the input domain and drastically limits the number of oracle queries.</a:t>
                </a:r>
              </a:p>
              <a:p>
                <a:pPr lvl="2" algn="just"/>
                <a:r>
                  <a:rPr lang="en-SG" dirty="0"/>
                  <a:t>Jacobian-based Dataset Augmentation</a:t>
                </a:r>
              </a:p>
              <a:p>
                <a:pPr lvl="3" algn="just"/>
                <a:r>
                  <a:rPr lang="en-GB" dirty="0"/>
                  <a:t>Identifies directions in which the model's output is varying, around an initial set of training points.</a:t>
                </a:r>
              </a:p>
              <a:p>
                <a:pPr lvl="3" algn="just"/>
                <a:r>
                  <a:rPr lang="en-GB" dirty="0"/>
                  <a:t>To get a substitute DNN accurately approximating the oracle’s decision boundaries, the heuristic prioritizes these samples when querying the oracle for labels.</a:t>
                </a:r>
                <a:endParaRPr lang="en-SG" dirty="0"/>
              </a:p>
              <a:p>
                <a:pPr algn="just"/>
                <a:endParaRPr lang="en-SG"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589212" y="1274410"/>
                <a:ext cx="8915400" cy="4636812"/>
              </a:xfrm>
              <a:blipFill>
                <a:blip r:embed="rId3"/>
                <a:stretch>
                  <a:fillRect l="-479" t="-657" r="-205"/>
                </a:stretch>
              </a:blipFill>
            </p:spPr>
            <p:txBody>
              <a:bodyPr/>
              <a:lstStyle/>
              <a:p>
                <a:r>
                  <a:rPr lang="en-IN">
                    <a:noFill/>
                  </a:rPr>
                  <a:t> </a:t>
                </a:r>
              </a:p>
            </p:txBody>
          </p:sp>
        </mc:Fallback>
      </mc:AlternateContent>
      <p:sp>
        <p:nvSpPr>
          <p:cNvPr id="24" name="Date Placeholder 23"/>
          <p:cNvSpPr>
            <a:spLocks noGrp="1"/>
          </p:cNvSpPr>
          <p:nvPr>
            <p:ph type="dt" sz="half" idx="10"/>
          </p:nvPr>
        </p:nvSpPr>
        <p:spPr/>
        <p:txBody>
          <a:bodyPr/>
          <a:lstStyle/>
          <a:p>
            <a:fld id="{2EFB6F28-65EE-44D6-BFFE-56AB02E1ABA6}" type="datetime1">
              <a:rPr lang="en-US" smtClean="0"/>
              <a:t>9/5/2017</a:t>
            </a:fld>
            <a:endParaRPr lang="en-US" dirty="0"/>
          </a:p>
        </p:txBody>
      </p:sp>
      <p:sp>
        <p:nvSpPr>
          <p:cNvPr id="26" name="Slide Number Placeholder 25"/>
          <p:cNvSpPr>
            <a:spLocks noGrp="1"/>
          </p:cNvSpPr>
          <p:nvPr>
            <p:ph type="sldNum" sz="quarter" idx="12"/>
          </p:nvPr>
        </p:nvSpPr>
        <p:spPr/>
        <p:txBody>
          <a:bodyPr/>
          <a:lstStyle/>
          <a:p>
            <a:fld id="{D57F1E4F-1CFF-5643-939E-217C01CDF565}" type="slidenum">
              <a:rPr lang="en-US" smtClean="0"/>
              <a:pPr/>
              <a:t>10</a:t>
            </a:fld>
            <a:endParaRPr lang="en-US" dirty="0"/>
          </a:p>
        </p:txBody>
      </p:sp>
      <p:sp>
        <p:nvSpPr>
          <p:cNvPr id="17" name="TextBox 16"/>
          <p:cNvSpPr txBox="1"/>
          <p:nvPr/>
        </p:nvSpPr>
        <p:spPr>
          <a:xfrm>
            <a:off x="2589212" y="6465498"/>
            <a:ext cx="8915400" cy="272415"/>
          </a:xfrm>
          <a:prstGeom prst="roundRect">
            <a:avLst/>
          </a:prstGeom>
          <a:solidFill>
            <a:srgbClr val="2E5369"/>
          </a:solidFill>
        </p:spPr>
        <p:txBody>
          <a:bodyPr wrap="square" rtlCol="0">
            <a:spAutoFit/>
          </a:bodyPr>
          <a:lstStyle/>
          <a:p>
            <a:pPr algn="ctr"/>
            <a:r>
              <a:rPr lang="en-SG" sz="1000" dirty="0">
                <a:solidFill>
                  <a:schemeClr val="bg1"/>
                </a:solidFill>
              </a:rPr>
              <a:t>Practical Black-Box Attacks against Machine Learning – </a:t>
            </a:r>
            <a:r>
              <a:rPr lang="en-US" sz="1000" dirty="0">
                <a:solidFill>
                  <a:schemeClr val="bg1"/>
                </a:solidFill>
              </a:rPr>
              <a:t>Papernot et. al., ASIA CCS ‘17</a:t>
            </a:r>
          </a:p>
        </p:txBody>
      </p:sp>
    </p:spTree>
    <p:extLst>
      <p:ext uri="{BB962C8B-B14F-4D97-AF65-F5344CB8AC3E}">
        <p14:creationId xmlns:p14="http://schemas.microsoft.com/office/powerpoint/2010/main" val="2986803832"/>
      </p:ext>
    </p:extLst>
  </p:cSld>
  <p:clrMapOvr>
    <a:masterClrMapping/>
  </p:clrMapOvr>
  <mc:AlternateContent xmlns:mc="http://schemas.openxmlformats.org/markup-compatibility/2006">
    <mc:Choice xmlns:p14="http://schemas.microsoft.com/office/powerpoint/2010/main" Requires="p14">
      <p:transition p14:dur="250">
        <p:push/>
      </p:transition>
    </mc:Choice>
    <mc:Fallback>
      <p:transition>
        <p:pus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300"/>
          </a:xfrm>
        </p:spPr>
        <p:txBody>
          <a:bodyPr/>
          <a:lstStyle/>
          <a:p>
            <a:r>
              <a:rPr lang="en-US" dirty="0"/>
              <a:t>Black-Box Attack Strategy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589212" y="1274410"/>
                <a:ext cx="8915400" cy="4636812"/>
              </a:xfrm>
            </p:spPr>
            <p:txBody>
              <a:bodyPr>
                <a:normAutofit/>
              </a:bodyPr>
              <a:lstStyle/>
              <a:p>
                <a:pPr algn="just"/>
                <a:r>
                  <a:rPr lang="en-SG" b="1" u="sng" dirty="0"/>
                  <a:t>Substitute Model Training</a:t>
                </a:r>
              </a:p>
              <a:p>
                <a:pPr lvl="1" algn="just"/>
                <a:r>
                  <a:rPr lang="en-SG" dirty="0"/>
                  <a:t>Generating a Synthetic Dataset</a:t>
                </a:r>
              </a:p>
              <a:p>
                <a:pPr lvl="2" algn="just"/>
                <a:r>
                  <a:rPr lang="en-SG" dirty="0"/>
                  <a:t>Jacobian Matrix</a:t>
                </a:r>
              </a:p>
              <a:p>
                <a:pPr lvl="3" algn="just"/>
                <a:r>
                  <a:rPr lang="en-GB" dirty="0"/>
                  <a:t>The Jacobian matrix is the matrix of all first-order partial derivatives of a vector-valued function.</a:t>
                </a:r>
                <a:endParaRPr lang="en-SG" dirty="0"/>
              </a:p>
              <a:p>
                <a:pPr lvl="2" algn="just"/>
                <a:r>
                  <a:rPr lang="en-SG" dirty="0"/>
                  <a:t>Jacobian-based Dataset Augmentation</a:t>
                </a:r>
              </a:p>
              <a:p>
                <a:pPr lvl="3" algn="just"/>
                <a:r>
                  <a:rPr lang="en-GB" dirty="0"/>
                  <a:t>Used to identify directions with the substitute DNN's Jacobian matrix </a:t>
                </a:r>
                <a14:m>
                  <m:oMath xmlns:m="http://schemas.openxmlformats.org/officeDocument/2006/math">
                    <m:sSub>
                      <m:sSubPr>
                        <m:ctrlPr>
                          <a:rPr lang="en-GB" i="1" smtClean="0">
                            <a:latin typeface="Cambria Math" panose="02040503050406030204" pitchFamily="18" charset="0"/>
                          </a:rPr>
                        </m:ctrlPr>
                      </m:sSubPr>
                      <m:e>
                        <m:r>
                          <a:rPr lang="en-IN" b="0" i="1" smtClean="0">
                            <a:latin typeface="Cambria Math" panose="02040503050406030204" pitchFamily="18" charset="0"/>
                          </a:rPr>
                          <m:t>𝐽</m:t>
                        </m:r>
                      </m:e>
                      <m:sub>
                        <m:r>
                          <a:rPr lang="en-IN" b="0" i="1" smtClean="0">
                            <a:latin typeface="Cambria Math" panose="02040503050406030204" pitchFamily="18" charset="0"/>
                          </a:rPr>
                          <m:t>𝐹</m:t>
                        </m:r>
                      </m:sub>
                    </m:sSub>
                  </m:oMath>
                </a14:m>
                <a:r>
                  <a:rPr lang="en-GB" dirty="0"/>
                  <a:t> which is evaluated at several input points </a:t>
                </a:r>
                <a14:m>
                  <m:oMath xmlns:m="http://schemas.openxmlformats.org/officeDocument/2006/math">
                    <m:acc>
                      <m:accPr>
                        <m:chr m:val="⃗"/>
                        <m:ctrlPr>
                          <a:rPr lang="en-GB" i="1" smtClean="0">
                            <a:latin typeface="Cambria Math" panose="02040503050406030204" pitchFamily="18" charset="0"/>
                          </a:rPr>
                        </m:ctrlPr>
                      </m:accPr>
                      <m:e>
                        <m:r>
                          <a:rPr lang="en-IN" b="0" i="1" smtClean="0">
                            <a:latin typeface="Cambria Math" panose="02040503050406030204" pitchFamily="18" charset="0"/>
                          </a:rPr>
                          <m:t>𝑥</m:t>
                        </m:r>
                      </m:e>
                    </m:acc>
                  </m:oMath>
                </a14:m>
                <a:r>
                  <a:rPr lang="en-SG" dirty="0"/>
                  <a:t>.</a:t>
                </a:r>
              </a:p>
              <a:p>
                <a:pPr lvl="3" algn="just"/>
                <a:r>
                  <a:rPr lang="en-GB" dirty="0"/>
                  <a:t>The adversary evaluates the sign of the Jacobian matrix dimension corresponding to the label assigned to input </a:t>
                </a:r>
                <a14:m>
                  <m:oMath xmlns:m="http://schemas.openxmlformats.org/officeDocument/2006/math">
                    <m:acc>
                      <m:accPr>
                        <m:chr m:val="⃗"/>
                        <m:ctrlPr>
                          <a:rPr lang="en-GB" i="1">
                            <a:latin typeface="Cambria Math" panose="02040503050406030204" pitchFamily="18" charset="0"/>
                          </a:rPr>
                        </m:ctrlPr>
                      </m:accPr>
                      <m:e>
                        <m:r>
                          <a:rPr lang="en-IN" i="1">
                            <a:latin typeface="Cambria Math" panose="02040503050406030204" pitchFamily="18" charset="0"/>
                          </a:rPr>
                          <m:t>𝑥</m:t>
                        </m:r>
                      </m:e>
                    </m:acc>
                  </m:oMath>
                </a14:m>
                <a:r>
                  <a:rPr lang="en-GB" dirty="0"/>
                  <a:t> by the oracle: </a:t>
                </a:r>
                <a14:m>
                  <m:oMath xmlns:m="http://schemas.openxmlformats.org/officeDocument/2006/math">
                    <m:r>
                      <a:rPr lang="en-IN" b="0" i="1" smtClean="0">
                        <a:latin typeface="Cambria Math" panose="02040503050406030204" pitchFamily="18" charset="0"/>
                      </a:rPr>
                      <m:t>𝑠𝑔𝑛</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𝐽</m:t>
                        </m:r>
                      </m:e>
                      <m:sub>
                        <m:r>
                          <a:rPr lang="en-IN" b="0" i="1" smtClean="0">
                            <a:latin typeface="Cambria Math" panose="02040503050406030204" pitchFamily="18" charset="0"/>
                          </a:rPr>
                          <m:t>𝐹</m:t>
                        </m:r>
                      </m:sub>
                    </m:sSub>
                    <m:r>
                      <a:rPr lang="en-IN" b="0" i="1" smtClean="0">
                        <a:latin typeface="Cambria Math" panose="02040503050406030204" pitchFamily="18" charset="0"/>
                      </a:rPr>
                      <m:t>(</m:t>
                    </m:r>
                    <m:acc>
                      <m:accPr>
                        <m:chr m:val="⃗"/>
                        <m:ctrlPr>
                          <a:rPr lang="en-GB" i="1">
                            <a:latin typeface="Cambria Math" panose="02040503050406030204" pitchFamily="18" charset="0"/>
                          </a:rPr>
                        </m:ctrlPr>
                      </m:accPr>
                      <m:e>
                        <m:r>
                          <a:rPr lang="en-IN" i="1">
                            <a:latin typeface="Cambria Math" panose="02040503050406030204" pitchFamily="18" charset="0"/>
                          </a:rPr>
                          <m:t>𝑥</m:t>
                        </m:r>
                      </m:e>
                    </m:acc>
                    <m:r>
                      <a:rPr lang="en-IN" b="0" i="1" smtClean="0">
                        <a:latin typeface="Cambria Math" panose="02040503050406030204" pitchFamily="18" charset="0"/>
                      </a:rPr>
                      <m:t>)</m:t>
                    </m:r>
                    <m:d>
                      <m:dPr>
                        <m:begChr m:val="["/>
                        <m:endChr m:val="]"/>
                        <m:ctrlPr>
                          <a:rPr lang="en-IN" b="0" i="1" smtClean="0">
                            <a:latin typeface="Cambria Math" panose="02040503050406030204" pitchFamily="18" charset="0"/>
                          </a:rPr>
                        </m:ctrlPr>
                      </m:dPr>
                      <m:e>
                        <m:acc>
                          <m:accPr>
                            <m:chr m:val="̃"/>
                            <m:ctrlPr>
                              <a:rPr lang="en-IN" b="0" i="1" smtClean="0">
                                <a:latin typeface="Cambria Math" panose="02040503050406030204" pitchFamily="18" charset="0"/>
                              </a:rPr>
                            </m:ctrlPr>
                          </m:accPr>
                          <m:e>
                            <m:r>
                              <a:rPr lang="en-IN" b="0" i="1" smtClean="0">
                                <a:latin typeface="Cambria Math" panose="02040503050406030204" pitchFamily="18" charset="0"/>
                              </a:rPr>
                              <m:t>𝑂</m:t>
                            </m:r>
                          </m:e>
                        </m:acc>
                        <m:r>
                          <a:rPr lang="en-IN" b="0" i="1" smtClean="0">
                            <a:latin typeface="Cambria Math" panose="02040503050406030204" pitchFamily="18" charset="0"/>
                          </a:rPr>
                          <m:t>(</m:t>
                        </m:r>
                        <m:acc>
                          <m:accPr>
                            <m:chr m:val="⃗"/>
                            <m:ctrlPr>
                              <a:rPr lang="en-GB" i="1">
                                <a:latin typeface="Cambria Math" panose="02040503050406030204" pitchFamily="18" charset="0"/>
                              </a:rPr>
                            </m:ctrlPr>
                          </m:accPr>
                          <m:e>
                            <m:r>
                              <a:rPr lang="en-IN" i="1">
                                <a:latin typeface="Cambria Math" panose="02040503050406030204" pitchFamily="18" charset="0"/>
                              </a:rPr>
                              <m:t>𝑥</m:t>
                            </m:r>
                          </m:e>
                        </m:acc>
                        <m:r>
                          <a:rPr lang="en-IN" b="0" i="1" smtClean="0">
                            <a:latin typeface="Cambria Math" panose="02040503050406030204" pitchFamily="18" charset="0"/>
                          </a:rPr>
                          <m:t>)</m:t>
                        </m:r>
                      </m:e>
                    </m:d>
                    <m:r>
                      <a:rPr lang="en-IN" b="0" i="1" smtClean="0">
                        <a:latin typeface="Cambria Math" panose="02040503050406030204" pitchFamily="18" charset="0"/>
                      </a:rPr>
                      <m:t>)</m:t>
                    </m:r>
                  </m:oMath>
                </a14:m>
                <a:endParaRPr lang="en-GB" dirty="0"/>
              </a:p>
              <a:p>
                <a:pPr lvl="3" algn="just"/>
                <a:r>
                  <a:rPr lang="en-GB" dirty="0"/>
                  <a:t>To obtain a new synthetic training point, a term is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λ</m:t>
                    </m:r>
                    <m:r>
                      <a:rPr lang="en-IN" i="1">
                        <a:latin typeface="Cambria Math" panose="02040503050406030204" pitchFamily="18" charset="0"/>
                        <a:ea typeface="Cambria Math" panose="02040503050406030204" pitchFamily="18" charset="0"/>
                      </a:rPr>
                      <m:t>∙</m:t>
                    </m:r>
                    <m:r>
                      <a:rPr lang="en-IN" i="1">
                        <a:latin typeface="Cambria Math" panose="02040503050406030204" pitchFamily="18" charset="0"/>
                      </a:rPr>
                      <m:t>𝑠𝑔𝑛</m:t>
                    </m:r>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𝐽</m:t>
                        </m:r>
                      </m:e>
                      <m:sub>
                        <m:r>
                          <a:rPr lang="en-IN" i="1">
                            <a:latin typeface="Cambria Math" panose="02040503050406030204" pitchFamily="18" charset="0"/>
                          </a:rPr>
                          <m:t>𝐹</m:t>
                        </m:r>
                      </m:sub>
                    </m:sSub>
                    <m:r>
                      <a:rPr lang="en-IN" i="1">
                        <a:latin typeface="Cambria Math" panose="02040503050406030204" pitchFamily="18" charset="0"/>
                      </a:rPr>
                      <m:t>(</m:t>
                    </m:r>
                    <m:acc>
                      <m:accPr>
                        <m:chr m:val="⃗"/>
                        <m:ctrlPr>
                          <a:rPr lang="en-GB" i="1">
                            <a:latin typeface="Cambria Math" panose="02040503050406030204" pitchFamily="18" charset="0"/>
                          </a:rPr>
                        </m:ctrlPr>
                      </m:accPr>
                      <m:e>
                        <m:r>
                          <a:rPr lang="en-IN" i="1">
                            <a:latin typeface="Cambria Math" panose="02040503050406030204" pitchFamily="18" charset="0"/>
                          </a:rPr>
                          <m:t>𝑥</m:t>
                        </m:r>
                      </m:e>
                    </m:acc>
                    <m:r>
                      <a:rPr lang="en-IN" i="1">
                        <a:latin typeface="Cambria Math" panose="02040503050406030204" pitchFamily="18" charset="0"/>
                      </a:rPr>
                      <m:t>)</m:t>
                    </m:r>
                    <m:d>
                      <m:dPr>
                        <m:begChr m:val="["/>
                        <m:endChr m:val="]"/>
                        <m:ctrlPr>
                          <a:rPr lang="en-IN" i="1">
                            <a:latin typeface="Cambria Math" panose="02040503050406030204" pitchFamily="18" charset="0"/>
                          </a:rPr>
                        </m:ctrlPr>
                      </m:dPr>
                      <m:e>
                        <m:acc>
                          <m:accPr>
                            <m:chr m:val="̃"/>
                            <m:ctrlPr>
                              <a:rPr lang="en-IN" i="1">
                                <a:latin typeface="Cambria Math" panose="02040503050406030204" pitchFamily="18" charset="0"/>
                              </a:rPr>
                            </m:ctrlPr>
                          </m:accPr>
                          <m:e>
                            <m:r>
                              <a:rPr lang="en-IN" i="1">
                                <a:latin typeface="Cambria Math" panose="02040503050406030204" pitchFamily="18" charset="0"/>
                              </a:rPr>
                              <m:t>𝑂</m:t>
                            </m:r>
                          </m:e>
                        </m:acc>
                        <m:r>
                          <a:rPr lang="en-IN" i="1">
                            <a:latin typeface="Cambria Math" panose="02040503050406030204" pitchFamily="18" charset="0"/>
                          </a:rPr>
                          <m:t>(</m:t>
                        </m:r>
                        <m:acc>
                          <m:accPr>
                            <m:chr m:val="⃗"/>
                            <m:ctrlPr>
                              <a:rPr lang="en-GB" i="1">
                                <a:latin typeface="Cambria Math" panose="02040503050406030204" pitchFamily="18" charset="0"/>
                              </a:rPr>
                            </m:ctrlPr>
                          </m:accPr>
                          <m:e>
                            <m:r>
                              <a:rPr lang="en-IN" i="1">
                                <a:latin typeface="Cambria Math" panose="02040503050406030204" pitchFamily="18" charset="0"/>
                              </a:rPr>
                              <m:t>𝑥</m:t>
                            </m:r>
                          </m:e>
                        </m:acc>
                        <m:r>
                          <a:rPr lang="en-IN" i="1">
                            <a:latin typeface="Cambria Math" panose="02040503050406030204" pitchFamily="18" charset="0"/>
                          </a:rPr>
                          <m:t>)</m:t>
                        </m:r>
                      </m:e>
                    </m:d>
                    <m:r>
                      <a:rPr lang="en-IN" i="1">
                        <a:latin typeface="Cambria Math" panose="02040503050406030204" pitchFamily="18" charset="0"/>
                      </a:rPr>
                      <m:t>)</m:t>
                    </m:r>
                  </m:oMath>
                </a14:m>
                <a:r>
                  <a:rPr lang="en-GB" dirty="0"/>
                  <a:t> added to the original point </a:t>
                </a:r>
                <a14:m>
                  <m:oMath xmlns:m="http://schemas.openxmlformats.org/officeDocument/2006/math">
                    <m:acc>
                      <m:accPr>
                        <m:chr m:val="⃗"/>
                        <m:ctrlPr>
                          <a:rPr lang="en-GB" i="1">
                            <a:latin typeface="Cambria Math" panose="02040503050406030204" pitchFamily="18" charset="0"/>
                          </a:rPr>
                        </m:ctrlPr>
                      </m:accPr>
                      <m:e>
                        <m:r>
                          <a:rPr lang="en-IN" i="1">
                            <a:latin typeface="Cambria Math" panose="02040503050406030204" pitchFamily="18" charset="0"/>
                          </a:rPr>
                          <m:t>𝑥</m:t>
                        </m:r>
                      </m:e>
                    </m:acc>
                  </m:oMath>
                </a14:m>
                <a:r>
                  <a:rPr lang="en-GB" dirty="0"/>
                  <a:t>. Here, </a:t>
                </a:r>
                <a14:m>
                  <m:oMath xmlns:m="http://schemas.openxmlformats.org/officeDocument/2006/math">
                    <m:r>
                      <a:rPr lang="en-GB" i="1" smtClean="0">
                        <a:latin typeface="Cambria Math" panose="02040503050406030204" pitchFamily="18" charset="0"/>
                        <a:ea typeface="Cambria Math" panose="02040503050406030204" pitchFamily="18" charset="0"/>
                      </a:rPr>
                      <m:t>𝜆</m:t>
                    </m:r>
                  </m:oMath>
                </a14:m>
                <a:r>
                  <a:rPr lang="en-GB" dirty="0"/>
                  <a:t> is a parameter of the augmentation: it defines the size of the step taken in the sensitive direction identified by the Jacobian matrix</a:t>
                </a:r>
                <a:endParaRPr lang="en-SG"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589212" y="1274410"/>
                <a:ext cx="8915400" cy="4636812"/>
              </a:xfrm>
              <a:blipFill>
                <a:blip r:embed="rId3"/>
                <a:stretch>
                  <a:fillRect l="-479" t="-657"/>
                </a:stretch>
              </a:blipFill>
            </p:spPr>
            <p:txBody>
              <a:bodyPr/>
              <a:lstStyle/>
              <a:p>
                <a:r>
                  <a:rPr lang="en-IN">
                    <a:noFill/>
                  </a:rPr>
                  <a:t> </a:t>
                </a:r>
              </a:p>
            </p:txBody>
          </p:sp>
        </mc:Fallback>
      </mc:AlternateContent>
      <p:sp>
        <p:nvSpPr>
          <p:cNvPr id="24" name="Date Placeholder 23"/>
          <p:cNvSpPr>
            <a:spLocks noGrp="1"/>
          </p:cNvSpPr>
          <p:nvPr>
            <p:ph type="dt" sz="half" idx="10"/>
          </p:nvPr>
        </p:nvSpPr>
        <p:spPr/>
        <p:txBody>
          <a:bodyPr/>
          <a:lstStyle/>
          <a:p>
            <a:fld id="{2EFB6F28-65EE-44D6-BFFE-56AB02E1ABA6}" type="datetime1">
              <a:rPr lang="en-US" smtClean="0"/>
              <a:t>9/5/2017</a:t>
            </a:fld>
            <a:endParaRPr lang="en-US" dirty="0"/>
          </a:p>
        </p:txBody>
      </p:sp>
      <p:sp>
        <p:nvSpPr>
          <p:cNvPr id="26" name="Slide Number Placeholder 25"/>
          <p:cNvSpPr>
            <a:spLocks noGrp="1"/>
          </p:cNvSpPr>
          <p:nvPr>
            <p:ph type="sldNum" sz="quarter" idx="12"/>
          </p:nvPr>
        </p:nvSpPr>
        <p:spPr/>
        <p:txBody>
          <a:bodyPr/>
          <a:lstStyle/>
          <a:p>
            <a:fld id="{D57F1E4F-1CFF-5643-939E-217C01CDF565}" type="slidenum">
              <a:rPr lang="en-US" smtClean="0"/>
              <a:pPr/>
              <a:t>11</a:t>
            </a:fld>
            <a:endParaRPr lang="en-US" dirty="0"/>
          </a:p>
        </p:txBody>
      </p:sp>
      <p:sp>
        <p:nvSpPr>
          <p:cNvPr id="17" name="TextBox 16"/>
          <p:cNvSpPr txBox="1"/>
          <p:nvPr/>
        </p:nvSpPr>
        <p:spPr>
          <a:xfrm>
            <a:off x="2589212" y="6465498"/>
            <a:ext cx="8915400" cy="272415"/>
          </a:xfrm>
          <a:prstGeom prst="roundRect">
            <a:avLst/>
          </a:prstGeom>
          <a:solidFill>
            <a:srgbClr val="2E5369"/>
          </a:solidFill>
        </p:spPr>
        <p:txBody>
          <a:bodyPr wrap="square" rtlCol="0">
            <a:spAutoFit/>
          </a:bodyPr>
          <a:lstStyle/>
          <a:p>
            <a:pPr algn="ctr"/>
            <a:r>
              <a:rPr lang="en-SG" sz="1000" dirty="0">
                <a:solidFill>
                  <a:schemeClr val="bg1"/>
                </a:solidFill>
              </a:rPr>
              <a:t>Practical Black-Box Attacks against Machine Learning – </a:t>
            </a:r>
            <a:r>
              <a:rPr lang="en-US" sz="1000" dirty="0">
                <a:solidFill>
                  <a:schemeClr val="bg1"/>
                </a:solidFill>
              </a:rPr>
              <a:t>Papernot et. al., ASIA CCS ‘17</a:t>
            </a:r>
          </a:p>
        </p:txBody>
      </p:sp>
      <p:pic>
        <p:nvPicPr>
          <p:cNvPr id="9" name="Picture 8">
            <a:extLst>
              <a:ext uri="{FF2B5EF4-FFF2-40B4-BE49-F238E27FC236}">
                <a16:creationId xmlns:a16="http://schemas.microsoft.com/office/drawing/2014/main" id="{2F341AA3-04F9-4C71-8358-6225ECFBB20C}"/>
              </a:ext>
            </a:extLst>
          </p:cNvPr>
          <p:cNvPicPr>
            <a:picLocks noChangeAspect="1"/>
          </p:cNvPicPr>
          <p:nvPr/>
        </p:nvPicPr>
        <p:blipFill>
          <a:blip r:embed="rId4"/>
          <a:stretch>
            <a:fillRect/>
          </a:stretch>
        </p:blipFill>
        <p:spPr>
          <a:xfrm>
            <a:off x="531812" y="2168225"/>
            <a:ext cx="2663176" cy="3087126"/>
          </a:xfrm>
          <a:prstGeom prst="rect">
            <a:avLst/>
          </a:prstGeom>
          <a:ln>
            <a:solidFill>
              <a:schemeClr val="tx1"/>
            </a:solidFill>
          </a:ln>
        </p:spPr>
      </p:pic>
    </p:spTree>
    <p:extLst>
      <p:ext uri="{BB962C8B-B14F-4D97-AF65-F5344CB8AC3E}">
        <p14:creationId xmlns:p14="http://schemas.microsoft.com/office/powerpoint/2010/main" val="1037440603"/>
      </p:ext>
    </p:extLst>
  </p:cSld>
  <p:clrMapOvr>
    <a:masterClrMapping/>
  </p:clrMapOvr>
  <mc:AlternateContent xmlns:mc="http://schemas.openxmlformats.org/markup-compatibility/2006">
    <mc:Choice xmlns:p14="http://schemas.microsoft.com/office/powerpoint/2010/main" Requires="p14">
      <p:transition p14:dur="250">
        <p:push/>
      </p:transition>
    </mc:Choice>
    <mc:Fallback>
      <p:transition>
        <p:pus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300"/>
          </a:xfrm>
        </p:spPr>
        <p:txBody>
          <a:bodyPr/>
          <a:lstStyle/>
          <a:p>
            <a:r>
              <a:rPr lang="en-US" dirty="0"/>
              <a:t>Black-Box Attack Strategy</a:t>
            </a:r>
          </a:p>
        </p:txBody>
      </p:sp>
      <p:sp>
        <p:nvSpPr>
          <p:cNvPr id="3" name="Content Placeholder 2"/>
          <p:cNvSpPr>
            <a:spLocks noGrp="1"/>
          </p:cNvSpPr>
          <p:nvPr>
            <p:ph idx="1"/>
          </p:nvPr>
        </p:nvSpPr>
        <p:spPr>
          <a:xfrm>
            <a:off x="2589212" y="1274410"/>
            <a:ext cx="8915400" cy="4636812"/>
          </a:xfrm>
        </p:spPr>
        <p:txBody>
          <a:bodyPr>
            <a:normAutofit/>
          </a:bodyPr>
          <a:lstStyle/>
          <a:p>
            <a:pPr algn="just"/>
            <a:r>
              <a:rPr lang="en-SG" b="1" u="sng" dirty="0"/>
              <a:t>Substitute Model Training</a:t>
            </a:r>
            <a:endParaRPr lang="en-SG" dirty="0"/>
          </a:p>
          <a:p>
            <a:pPr lvl="1" algn="just"/>
            <a:r>
              <a:rPr lang="en-SG" dirty="0"/>
              <a:t>Substitute DNN Training Algorithm</a:t>
            </a:r>
          </a:p>
          <a:p>
            <a:pPr lvl="2" algn="just"/>
            <a:endParaRPr lang="en-SG" dirty="0"/>
          </a:p>
        </p:txBody>
      </p:sp>
      <p:sp>
        <p:nvSpPr>
          <p:cNvPr id="24" name="Date Placeholder 23"/>
          <p:cNvSpPr>
            <a:spLocks noGrp="1"/>
          </p:cNvSpPr>
          <p:nvPr>
            <p:ph type="dt" sz="half" idx="10"/>
          </p:nvPr>
        </p:nvSpPr>
        <p:spPr/>
        <p:txBody>
          <a:bodyPr/>
          <a:lstStyle/>
          <a:p>
            <a:fld id="{2EFB6F28-65EE-44D6-BFFE-56AB02E1ABA6}" type="datetime1">
              <a:rPr lang="en-US" smtClean="0"/>
              <a:t>9/5/2017</a:t>
            </a:fld>
            <a:endParaRPr lang="en-US" dirty="0"/>
          </a:p>
        </p:txBody>
      </p:sp>
      <p:sp>
        <p:nvSpPr>
          <p:cNvPr id="26" name="Slide Number Placeholder 25"/>
          <p:cNvSpPr>
            <a:spLocks noGrp="1"/>
          </p:cNvSpPr>
          <p:nvPr>
            <p:ph type="sldNum" sz="quarter" idx="12"/>
          </p:nvPr>
        </p:nvSpPr>
        <p:spPr/>
        <p:txBody>
          <a:bodyPr/>
          <a:lstStyle/>
          <a:p>
            <a:fld id="{D57F1E4F-1CFF-5643-939E-217C01CDF565}" type="slidenum">
              <a:rPr lang="en-US" smtClean="0"/>
              <a:pPr/>
              <a:t>12</a:t>
            </a:fld>
            <a:endParaRPr lang="en-US" dirty="0"/>
          </a:p>
        </p:txBody>
      </p:sp>
      <p:sp>
        <p:nvSpPr>
          <p:cNvPr id="17" name="TextBox 16"/>
          <p:cNvSpPr txBox="1"/>
          <p:nvPr/>
        </p:nvSpPr>
        <p:spPr>
          <a:xfrm>
            <a:off x="2589212" y="6465498"/>
            <a:ext cx="8915400" cy="272415"/>
          </a:xfrm>
          <a:prstGeom prst="roundRect">
            <a:avLst/>
          </a:prstGeom>
          <a:solidFill>
            <a:srgbClr val="2E5369"/>
          </a:solidFill>
        </p:spPr>
        <p:txBody>
          <a:bodyPr wrap="square" rtlCol="0">
            <a:spAutoFit/>
          </a:bodyPr>
          <a:lstStyle/>
          <a:p>
            <a:pPr algn="ctr"/>
            <a:r>
              <a:rPr lang="en-SG" sz="1000" dirty="0">
                <a:solidFill>
                  <a:schemeClr val="bg1"/>
                </a:solidFill>
              </a:rPr>
              <a:t>Practical Black-Box Attacks against Machine Learning – </a:t>
            </a:r>
            <a:r>
              <a:rPr lang="en-US" sz="1000" dirty="0">
                <a:solidFill>
                  <a:schemeClr val="bg1"/>
                </a:solidFill>
              </a:rPr>
              <a:t>Papernot et. al., ASIA CCS ‘17</a:t>
            </a:r>
          </a:p>
        </p:txBody>
      </p:sp>
      <p:pic>
        <p:nvPicPr>
          <p:cNvPr id="5" name="Picture 4">
            <a:extLst>
              <a:ext uri="{FF2B5EF4-FFF2-40B4-BE49-F238E27FC236}">
                <a16:creationId xmlns:a16="http://schemas.microsoft.com/office/drawing/2014/main" id="{DC2327C5-79C5-4D38-98DF-5CA7075A61DD}"/>
              </a:ext>
            </a:extLst>
          </p:cNvPr>
          <p:cNvPicPr>
            <a:picLocks noChangeAspect="1"/>
          </p:cNvPicPr>
          <p:nvPr/>
        </p:nvPicPr>
        <p:blipFill>
          <a:blip r:embed="rId3"/>
          <a:stretch>
            <a:fillRect/>
          </a:stretch>
        </p:blipFill>
        <p:spPr>
          <a:xfrm>
            <a:off x="2495594" y="2093455"/>
            <a:ext cx="9102636" cy="2676953"/>
          </a:xfrm>
          <a:prstGeom prst="rect">
            <a:avLst/>
          </a:prstGeom>
          <a:ln>
            <a:solidFill>
              <a:schemeClr val="tx1"/>
            </a:solidFill>
          </a:ln>
        </p:spPr>
      </p:pic>
    </p:spTree>
    <p:extLst>
      <p:ext uri="{BB962C8B-B14F-4D97-AF65-F5344CB8AC3E}">
        <p14:creationId xmlns:p14="http://schemas.microsoft.com/office/powerpoint/2010/main" val="3946653963"/>
      </p:ext>
    </p:extLst>
  </p:cSld>
  <p:clrMapOvr>
    <a:masterClrMapping/>
  </p:clrMapOvr>
  <mc:AlternateContent xmlns:mc="http://schemas.openxmlformats.org/markup-compatibility/2006">
    <mc:Choice xmlns:p14="http://schemas.microsoft.com/office/powerpoint/2010/main" Requires="p14">
      <p:transition p14:dur="250">
        <p:push/>
      </p:transition>
    </mc:Choice>
    <mc:Fallback>
      <p:transition>
        <p:pus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300"/>
          </a:xfrm>
        </p:spPr>
        <p:txBody>
          <a:bodyPr/>
          <a:lstStyle/>
          <a:p>
            <a:r>
              <a:rPr lang="en-US" dirty="0"/>
              <a:t>Black-Box Attack Strategy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589212" y="1274410"/>
                <a:ext cx="8915400" cy="4636812"/>
              </a:xfrm>
            </p:spPr>
            <p:txBody>
              <a:bodyPr>
                <a:normAutofit/>
              </a:bodyPr>
              <a:lstStyle/>
              <a:p>
                <a:pPr algn="just"/>
                <a:r>
                  <a:rPr lang="en-SG" b="1" u="sng" dirty="0"/>
                  <a:t>Adversial Sample Crafting</a:t>
                </a:r>
              </a:p>
              <a:p>
                <a:pPr lvl="1" algn="just"/>
                <a:r>
                  <a:rPr lang="en-SG" dirty="0"/>
                  <a:t>The attacker uses substitute network </a:t>
                </a:r>
                <a14:m>
                  <m:oMath xmlns:m="http://schemas.openxmlformats.org/officeDocument/2006/math">
                    <m:r>
                      <a:rPr lang="en-SG" i="1" dirty="0" smtClean="0">
                        <a:latin typeface="Cambria Math" panose="02040503050406030204" pitchFamily="18" charset="0"/>
                      </a:rPr>
                      <m:t>𝐹</m:t>
                    </m:r>
                  </m:oMath>
                </a14:m>
                <a:r>
                  <a:rPr lang="en-SG" dirty="0"/>
                  <a:t> to craft adversarial samples, which are then misclassified by oracle </a:t>
                </a:r>
                <a14:m>
                  <m:oMath xmlns:m="http://schemas.openxmlformats.org/officeDocument/2006/math">
                    <m:r>
                      <a:rPr lang="en-SG" i="1" dirty="0" smtClean="0">
                        <a:latin typeface="Cambria Math" panose="02040503050406030204" pitchFamily="18" charset="0"/>
                      </a:rPr>
                      <m:t>𝑂</m:t>
                    </m:r>
                  </m:oMath>
                </a14:m>
                <a:r>
                  <a:rPr lang="en-SG" dirty="0"/>
                  <a:t> due to the transferability of adversarial samples.</a:t>
                </a:r>
              </a:p>
              <a:p>
                <a:pPr lvl="1" algn="just"/>
                <a:r>
                  <a:rPr lang="en-GB" dirty="0"/>
                  <a:t>Performed by implementing two previously introduced approaches.</a:t>
                </a:r>
                <a:endParaRPr lang="en-SG" dirty="0"/>
              </a:p>
              <a:p>
                <a:pPr lvl="2" algn="just"/>
                <a:r>
                  <a:rPr lang="en-SG" dirty="0" err="1"/>
                  <a:t>Goodfellow</a:t>
                </a:r>
                <a:r>
                  <a:rPr lang="en-SG" dirty="0"/>
                  <a:t> et. al. algorithm</a:t>
                </a:r>
              </a:p>
              <a:p>
                <a:pPr lvl="3" algn="just"/>
                <a:r>
                  <a:rPr lang="en-SG" dirty="0"/>
                  <a:t>Ensures simple misclassification – the </a:t>
                </a:r>
                <a:r>
                  <a:rPr lang="en-SG" dirty="0" err="1"/>
                  <a:t>adversial</a:t>
                </a:r>
                <a:r>
                  <a:rPr lang="en-SG" dirty="0"/>
                  <a:t> sample will be misclassified to any of the other classes rather than the actual one.</a:t>
                </a:r>
              </a:p>
              <a:p>
                <a:pPr lvl="2" algn="just"/>
                <a:r>
                  <a:rPr lang="en-SG" dirty="0" err="1"/>
                  <a:t>Papernot</a:t>
                </a:r>
                <a:r>
                  <a:rPr lang="en-SG" dirty="0"/>
                  <a:t> et. al. algorithm</a:t>
                </a:r>
              </a:p>
              <a:p>
                <a:pPr lvl="3" algn="just"/>
                <a:r>
                  <a:rPr lang="en-SG" dirty="0"/>
                  <a:t>Ensures source-target misclassification – the </a:t>
                </a:r>
                <a:r>
                  <a:rPr lang="en-SG" dirty="0" err="1"/>
                  <a:t>adversial</a:t>
                </a:r>
                <a:r>
                  <a:rPr lang="en-SG" dirty="0"/>
                  <a:t> sample will be misclassified to a specific target class rather than the actual one.</a:t>
                </a:r>
              </a:p>
              <a:p>
                <a:pPr lvl="1" algn="just"/>
                <a:r>
                  <a:rPr lang="en-GB" dirty="0"/>
                  <a:t>Advantages of each approach</a:t>
                </a:r>
              </a:p>
              <a:p>
                <a:pPr lvl="2" algn="just"/>
                <a:r>
                  <a:rPr lang="en-GB" dirty="0"/>
                  <a:t>The Goodfellow algorithm is well suited for fast crafting of many adversarial samples with relatively large perturbations thus potentially easier to detect.</a:t>
                </a:r>
              </a:p>
              <a:p>
                <a:pPr lvl="2" algn="just"/>
                <a:r>
                  <a:rPr lang="en-GB" dirty="0"/>
                  <a:t>The Papernot algorithm reduces perturbations at the expense of a greater computing cost.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589212" y="1274410"/>
                <a:ext cx="8915400" cy="4636812"/>
              </a:xfrm>
              <a:blipFill>
                <a:blip r:embed="rId3"/>
                <a:stretch>
                  <a:fillRect l="-479" t="-657" r="-342"/>
                </a:stretch>
              </a:blipFill>
            </p:spPr>
            <p:txBody>
              <a:bodyPr/>
              <a:lstStyle/>
              <a:p>
                <a:r>
                  <a:rPr lang="en-IN">
                    <a:noFill/>
                  </a:rPr>
                  <a:t> </a:t>
                </a:r>
              </a:p>
            </p:txBody>
          </p:sp>
        </mc:Fallback>
      </mc:AlternateContent>
      <p:sp>
        <p:nvSpPr>
          <p:cNvPr id="24" name="Date Placeholder 23"/>
          <p:cNvSpPr>
            <a:spLocks noGrp="1"/>
          </p:cNvSpPr>
          <p:nvPr>
            <p:ph type="dt" sz="half" idx="10"/>
          </p:nvPr>
        </p:nvSpPr>
        <p:spPr/>
        <p:txBody>
          <a:bodyPr/>
          <a:lstStyle/>
          <a:p>
            <a:fld id="{2EFB6F28-65EE-44D6-BFFE-56AB02E1ABA6}" type="datetime1">
              <a:rPr lang="en-US" smtClean="0"/>
              <a:t>9/5/2017</a:t>
            </a:fld>
            <a:endParaRPr lang="en-US" dirty="0"/>
          </a:p>
        </p:txBody>
      </p:sp>
      <p:sp>
        <p:nvSpPr>
          <p:cNvPr id="26" name="Slide Number Placeholder 25"/>
          <p:cNvSpPr>
            <a:spLocks noGrp="1"/>
          </p:cNvSpPr>
          <p:nvPr>
            <p:ph type="sldNum" sz="quarter" idx="12"/>
          </p:nvPr>
        </p:nvSpPr>
        <p:spPr/>
        <p:txBody>
          <a:bodyPr/>
          <a:lstStyle/>
          <a:p>
            <a:fld id="{D57F1E4F-1CFF-5643-939E-217C01CDF565}" type="slidenum">
              <a:rPr lang="en-US" smtClean="0"/>
              <a:pPr/>
              <a:t>13</a:t>
            </a:fld>
            <a:endParaRPr lang="en-US" dirty="0"/>
          </a:p>
        </p:txBody>
      </p:sp>
      <p:sp>
        <p:nvSpPr>
          <p:cNvPr id="17" name="TextBox 16"/>
          <p:cNvSpPr txBox="1"/>
          <p:nvPr/>
        </p:nvSpPr>
        <p:spPr>
          <a:xfrm>
            <a:off x="2589212" y="6465498"/>
            <a:ext cx="8915400" cy="272415"/>
          </a:xfrm>
          <a:prstGeom prst="roundRect">
            <a:avLst/>
          </a:prstGeom>
          <a:solidFill>
            <a:srgbClr val="2E5369"/>
          </a:solidFill>
        </p:spPr>
        <p:txBody>
          <a:bodyPr wrap="square" rtlCol="0">
            <a:spAutoFit/>
          </a:bodyPr>
          <a:lstStyle/>
          <a:p>
            <a:pPr algn="ctr"/>
            <a:r>
              <a:rPr lang="en-SG" sz="1000" dirty="0">
                <a:solidFill>
                  <a:schemeClr val="bg1"/>
                </a:solidFill>
              </a:rPr>
              <a:t>Practical Black-Box Attacks against Machine Learning – </a:t>
            </a:r>
            <a:r>
              <a:rPr lang="en-US" sz="1000" dirty="0">
                <a:solidFill>
                  <a:schemeClr val="bg1"/>
                </a:solidFill>
              </a:rPr>
              <a:t>Papernot et. al., ASIA CCS ‘17</a:t>
            </a:r>
          </a:p>
        </p:txBody>
      </p:sp>
    </p:spTree>
    <p:extLst>
      <p:ext uri="{BB962C8B-B14F-4D97-AF65-F5344CB8AC3E}">
        <p14:creationId xmlns:p14="http://schemas.microsoft.com/office/powerpoint/2010/main" val="783067880"/>
      </p:ext>
    </p:extLst>
  </p:cSld>
  <p:clrMapOvr>
    <a:masterClrMapping/>
  </p:clrMapOvr>
  <mc:AlternateContent xmlns:mc="http://schemas.openxmlformats.org/markup-compatibility/2006">
    <mc:Choice xmlns:p14="http://schemas.microsoft.com/office/powerpoint/2010/main" Requires="p14">
      <p:transition p14:dur="250">
        <p:push/>
      </p:transition>
    </mc:Choice>
    <mc:Fallback>
      <p:transition>
        <p:push/>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300"/>
          </a:xfrm>
        </p:spPr>
        <p:txBody>
          <a:bodyPr/>
          <a:lstStyle/>
          <a:p>
            <a:r>
              <a:rPr lang="en-US" dirty="0"/>
              <a:t>Black-Box Attack Strategy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589212" y="1274410"/>
                <a:ext cx="8915400" cy="4636812"/>
              </a:xfrm>
            </p:spPr>
            <p:txBody>
              <a:bodyPr>
                <a:normAutofit/>
              </a:bodyPr>
              <a:lstStyle/>
              <a:p>
                <a:pPr algn="just"/>
                <a:r>
                  <a:rPr lang="en-SG" b="1" u="sng" dirty="0"/>
                  <a:t>Adversial Sample Crafting</a:t>
                </a:r>
              </a:p>
              <a:p>
                <a:pPr lvl="1" algn="just"/>
                <a:r>
                  <a:rPr lang="en-GB" dirty="0"/>
                  <a:t>Goodfellow algorithm</a:t>
                </a:r>
              </a:p>
              <a:p>
                <a:pPr lvl="2" algn="just"/>
                <a:r>
                  <a:rPr lang="en-GB" dirty="0"/>
                  <a:t>Given a model </a:t>
                </a:r>
                <a14:m>
                  <m:oMath xmlns:m="http://schemas.openxmlformats.org/officeDocument/2006/math">
                    <m:r>
                      <a:rPr lang="en-GB" i="1" dirty="0">
                        <a:latin typeface="Cambria Math" panose="02040503050406030204" pitchFamily="18" charset="0"/>
                      </a:rPr>
                      <m:t>𝐹</m:t>
                    </m:r>
                  </m:oMath>
                </a14:m>
                <a:r>
                  <a:rPr lang="en-GB" dirty="0"/>
                  <a:t> with an associated cost function </a:t>
                </a:r>
                <a14:m>
                  <m:oMath xmlns:m="http://schemas.openxmlformats.org/officeDocument/2006/math">
                    <m:r>
                      <a:rPr lang="en-IN" i="1">
                        <a:latin typeface="Cambria Math" panose="02040503050406030204" pitchFamily="18" charset="0"/>
                      </a:rPr>
                      <m:t>𝑐</m:t>
                    </m:r>
                    <m:r>
                      <a:rPr lang="en-IN" i="1">
                        <a:latin typeface="Cambria Math" panose="02040503050406030204" pitchFamily="18" charset="0"/>
                      </a:rPr>
                      <m:t>(</m:t>
                    </m:r>
                    <m:r>
                      <a:rPr lang="en-IN" i="1">
                        <a:latin typeface="Cambria Math" panose="02040503050406030204" pitchFamily="18" charset="0"/>
                      </a:rPr>
                      <m:t>𝐹</m:t>
                    </m:r>
                    <m:r>
                      <a:rPr lang="en-IN" i="1">
                        <a:latin typeface="Cambria Math" panose="02040503050406030204" pitchFamily="18" charset="0"/>
                      </a:rPr>
                      <m:t>, </m:t>
                    </m:r>
                    <m:acc>
                      <m:accPr>
                        <m:chr m:val="⃗"/>
                        <m:ctrlPr>
                          <a:rPr lang="en-IN" i="1">
                            <a:latin typeface="Cambria Math" panose="02040503050406030204" pitchFamily="18" charset="0"/>
                          </a:rPr>
                        </m:ctrlPr>
                      </m:accPr>
                      <m:e>
                        <m:r>
                          <a:rPr lang="en-IN" i="1">
                            <a:latin typeface="Cambria Math" panose="02040503050406030204" pitchFamily="18" charset="0"/>
                          </a:rPr>
                          <m:t>𝑥</m:t>
                        </m:r>
                      </m:e>
                    </m:acc>
                    <m:r>
                      <a:rPr lang="en-IN" i="1">
                        <a:latin typeface="Cambria Math" panose="02040503050406030204" pitchFamily="18" charset="0"/>
                      </a:rPr>
                      <m:t>, </m:t>
                    </m:r>
                    <m:r>
                      <a:rPr lang="en-IN" i="1">
                        <a:latin typeface="Cambria Math" panose="02040503050406030204" pitchFamily="18" charset="0"/>
                      </a:rPr>
                      <m:t>𝑦</m:t>
                    </m:r>
                    <m:r>
                      <a:rPr lang="en-IN" i="1">
                        <a:latin typeface="Cambria Math" panose="02040503050406030204" pitchFamily="18" charset="0"/>
                      </a:rPr>
                      <m:t>)</m:t>
                    </m:r>
                  </m:oMath>
                </a14:m>
                <a:r>
                  <a:rPr lang="en-GB" dirty="0"/>
                  <a:t>, the adversary crafts an adversarial sample </a:t>
                </a:r>
                <a14:m>
                  <m:oMath xmlns:m="http://schemas.openxmlformats.org/officeDocument/2006/math">
                    <m:sSup>
                      <m:sSupPr>
                        <m:ctrlPr>
                          <a:rPr lang="en-SG" i="1">
                            <a:latin typeface="Cambria Math" panose="02040503050406030204" pitchFamily="18" charset="0"/>
                          </a:rPr>
                        </m:ctrlPr>
                      </m:sSupPr>
                      <m:e>
                        <m:acc>
                          <m:accPr>
                            <m:chr m:val="⃗"/>
                            <m:ctrlPr>
                              <a:rPr lang="en-SG" i="1">
                                <a:latin typeface="Cambria Math" panose="02040503050406030204" pitchFamily="18" charset="0"/>
                              </a:rPr>
                            </m:ctrlPr>
                          </m:accPr>
                          <m:e>
                            <m:r>
                              <a:rPr lang="en-US" i="1">
                                <a:latin typeface="Cambria Math" panose="02040503050406030204" pitchFamily="18" charset="0"/>
                              </a:rPr>
                              <m:t>𝑥</m:t>
                            </m:r>
                          </m:e>
                        </m:acc>
                      </m:e>
                      <m:sup>
                        <m:r>
                          <a:rPr lang="en-US" i="1">
                            <a:latin typeface="Cambria Math" panose="02040503050406030204" pitchFamily="18" charset="0"/>
                          </a:rPr>
                          <m:t>∗</m:t>
                        </m:r>
                      </m:sup>
                    </m:sSup>
                    <m:r>
                      <a:rPr lang="en-IN"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acc>
                          <m:accPr>
                            <m:chr m:val="⃗"/>
                            <m:ctrlPr>
                              <a:rPr lang="en-US" i="1">
                                <a:latin typeface="Cambria Math" panose="02040503050406030204" pitchFamily="18" charset="0"/>
                              </a:rPr>
                            </m:ctrlPr>
                          </m:accPr>
                          <m:e>
                            <m:r>
                              <a:rPr lang="en-US" i="1">
                                <a:latin typeface="Cambria Math" panose="02040503050406030204" pitchFamily="18" charset="0"/>
                              </a:rPr>
                              <m:t>𝑥</m:t>
                            </m:r>
                          </m:e>
                        </m:acc>
                      </m:sub>
                    </m:sSub>
                  </m:oMath>
                </a14:m>
                <a:r>
                  <a:rPr lang="en-GB" dirty="0"/>
                  <a:t> for a given legitimate sample </a:t>
                </a:r>
                <a14:m>
                  <m:oMath xmlns:m="http://schemas.openxmlformats.org/officeDocument/2006/math">
                    <m:sSup>
                      <m:sSupPr>
                        <m:ctrlPr>
                          <a:rPr lang="en-SG" i="1">
                            <a:latin typeface="Cambria Math" panose="02040503050406030204" pitchFamily="18" charset="0"/>
                          </a:rPr>
                        </m:ctrlPr>
                      </m:sSupPr>
                      <m:e>
                        <m:acc>
                          <m:accPr>
                            <m:chr m:val="⃗"/>
                            <m:ctrlPr>
                              <a:rPr lang="en-SG" i="1">
                                <a:latin typeface="Cambria Math" panose="02040503050406030204" pitchFamily="18" charset="0"/>
                              </a:rPr>
                            </m:ctrlPr>
                          </m:accPr>
                          <m:e>
                            <m:r>
                              <a:rPr lang="en-US" i="1">
                                <a:latin typeface="Cambria Math" panose="02040503050406030204" pitchFamily="18" charset="0"/>
                              </a:rPr>
                              <m:t>𝑥</m:t>
                            </m:r>
                          </m:e>
                        </m:acc>
                      </m:e>
                      <m:sup>
                        <m:r>
                          <a:rPr lang="en-US" i="1">
                            <a:latin typeface="Cambria Math" panose="02040503050406030204" pitchFamily="18" charset="0"/>
                          </a:rPr>
                          <m:t>∗</m:t>
                        </m:r>
                      </m:sup>
                    </m:sSup>
                  </m:oMath>
                </a14:m>
                <a:r>
                  <a:rPr lang="en-GB" dirty="0"/>
                  <a:t> by computing the following perturbation –</a:t>
                </a:r>
              </a:p>
              <a:p>
                <a:pPr marL="0" lvl="2" indent="0" algn="just">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acc>
                            <m:accPr>
                              <m:chr m:val="⃗"/>
                              <m:ctrlPr>
                                <a:rPr lang="en-US" i="1">
                                  <a:latin typeface="Cambria Math" panose="02040503050406030204" pitchFamily="18" charset="0"/>
                                </a:rPr>
                              </m:ctrlPr>
                            </m:accPr>
                            <m:e>
                              <m:r>
                                <a:rPr lang="en-US" i="1">
                                  <a:latin typeface="Cambria Math" panose="02040503050406030204" pitchFamily="18" charset="0"/>
                                </a:rPr>
                                <m:t>𝑥</m:t>
                              </m:r>
                            </m:e>
                          </m:acc>
                        </m:sub>
                      </m:sSub>
                      <m:r>
                        <a:rPr lang="en-IN" i="1">
                          <a:latin typeface="Cambria Math" panose="02040503050406030204" pitchFamily="18" charset="0"/>
                        </a:rPr>
                        <m:t>= </m:t>
                      </m:r>
                      <m:r>
                        <a:rPr lang="en-IN" i="1">
                          <a:latin typeface="Cambria Math" panose="02040503050406030204" pitchFamily="18" charset="0"/>
                          <a:ea typeface="Cambria Math" panose="02040503050406030204" pitchFamily="18" charset="0"/>
                        </a:rPr>
                        <m:t>𝜀</m:t>
                      </m:r>
                      <m:r>
                        <a:rPr lang="en-IN" i="1">
                          <a:latin typeface="Cambria Math" panose="02040503050406030204" pitchFamily="18" charset="0"/>
                          <a:ea typeface="Cambria Math" panose="02040503050406030204" pitchFamily="18" charset="0"/>
                        </a:rPr>
                        <m:t> </m:t>
                      </m:r>
                      <m:r>
                        <a:rPr lang="en-IN" i="1">
                          <a:latin typeface="Cambria Math" panose="02040503050406030204" pitchFamily="18" charset="0"/>
                          <a:ea typeface="Cambria Math" panose="02040503050406030204" pitchFamily="18" charset="0"/>
                        </a:rPr>
                        <m:t>𝑠𝑔𝑛</m:t>
                      </m:r>
                      <m:r>
                        <a:rPr lang="en-IN" i="1">
                          <a:latin typeface="Cambria Math" panose="02040503050406030204" pitchFamily="18" charset="0"/>
                          <a:ea typeface="Cambria Math" panose="02040503050406030204" pitchFamily="18" charset="0"/>
                        </a:rPr>
                        <m:t>(</m:t>
                      </m:r>
                      <m:sSub>
                        <m:sSubPr>
                          <m:ctrlPr>
                            <a:rPr lang="en-IN" i="1">
                              <a:latin typeface="Cambria Math" panose="02040503050406030204" pitchFamily="18" charset="0"/>
                              <a:ea typeface="Cambria Math" panose="02040503050406030204" pitchFamily="18" charset="0"/>
                            </a:rPr>
                          </m:ctrlPr>
                        </m:sSubPr>
                        <m:e>
                          <m:r>
                            <a:rPr lang="en-IN" i="1">
                              <a:latin typeface="Cambria Math" panose="02040503050406030204" pitchFamily="18" charset="0"/>
                              <a:ea typeface="Cambria Math" panose="02040503050406030204" pitchFamily="18" charset="0"/>
                            </a:rPr>
                            <m:t>𝛻</m:t>
                          </m:r>
                        </m:e>
                        <m:sub>
                          <m:acc>
                            <m:accPr>
                              <m:chr m:val="⃗"/>
                              <m:ctrlPr>
                                <a:rPr lang="en-US" i="1">
                                  <a:latin typeface="Cambria Math" panose="02040503050406030204" pitchFamily="18" charset="0"/>
                                </a:rPr>
                              </m:ctrlPr>
                            </m:accPr>
                            <m:e>
                              <m:r>
                                <a:rPr lang="en-US" i="1">
                                  <a:latin typeface="Cambria Math" panose="02040503050406030204" pitchFamily="18" charset="0"/>
                                </a:rPr>
                                <m:t>𝑥</m:t>
                              </m:r>
                            </m:e>
                          </m:acc>
                        </m:sub>
                      </m:sSub>
                      <m:r>
                        <a:rPr lang="en-IN" i="1">
                          <a:latin typeface="Cambria Math" panose="02040503050406030204" pitchFamily="18" charset="0"/>
                          <a:ea typeface="Cambria Math" panose="02040503050406030204" pitchFamily="18" charset="0"/>
                        </a:rPr>
                        <m:t>𝑐</m:t>
                      </m:r>
                      <m:r>
                        <a:rPr lang="en-IN" i="1">
                          <a:latin typeface="Cambria Math" panose="02040503050406030204" pitchFamily="18" charset="0"/>
                          <a:ea typeface="Cambria Math" panose="02040503050406030204" pitchFamily="18" charset="0"/>
                        </a:rPr>
                        <m:t>(</m:t>
                      </m:r>
                      <m:r>
                        <a:rPr lang="en-IN" i="1">
                          <a:latin typeface="Cambria Math" panose="02040503050406030204" pitchFamily="18" charset="0"/>
                        </a:rPr>
                        <m:t>𝐹</m:t>
                      </m:r>
                      <m:r>
                        <a:rPr lang="en-IN" i="1">
                          <a:latin typeface="Cambria Math" panose="02040503050406030204" pitchFamily="18" charset="0"/>
                        </a:rPr>
                        <m:t>, </m:t>
                      </m:r>
                      <m:acc>
                        <m:accPr>
                          <m:chr m:val="⃗"/>
                          <m:ctrlPr>
                            <a:rPr lang="en-IN" i="1">
                              <a:latin typeface="Cambria Math" panose="02040503050406030204" pitchFamily="18" charset="0"/>
                            </a:rPr>
                          </m:ctrlPr>
                        </m:accPr>
                        <m:e>
                          <m:r>
                            <a:rPr lang="en-IN" i="1">
                              <a:latin typeface="Cambria Math" panose="02040503050406030204" pitchFamily="18" charset="0"/>
                            </a:rPr>
                            <m:t>𝑥</m:t>
                          </m:r>
                        </m:e>
                      </m:acc>
                      <m:r>
                        <a:rPr lang="en-IN" i="1">
                          <a:latin typeface="Cambria Math" panose="02040503050406030204" pitchFamily="18" charset="0"/>
                        </a:rPr>
                        <m:t>, </m:t>
                      </m:r>
                      <m:r>
                        <a:rPr lang="en-IN" i="1">
                          <a:latin typeface="Cambria Math" panose="02040503050406030204" pitchFamily="18" charset="0"/>
                        </a:rPr>
                        <m:t>𝑦</m:t>
                      </m:r>
                      <m:r>
                        <a:rPr lang="en-IN" i="1">
                          <a:latin typeface="Cambria Math" panose="02040503050406030204" pitchFamily="18" charset="0"/>
                          <a:ea typeface="Cambria Math" panose="02040503050406030204" pitchFamily="18" charset="0"/>
                        </a:rPr>
                        <m:t>)</m:t>
                      </m:r>
                      <m:r>
                        <a:rPr lang="en-IN" i="1">
                          <a:latin typeface="Cambria Math" panose="02040503050406030204" pitchFamily="18" charset="0"/>
                          <a:ea typeface="Cambria Math" panose="02040503050406030204" pitchFamily="18" charset="0"/>
                        </a:rPr>
                        <m:t>)</m:t>
                      </m:r>
                    </m:oMath>
                  </m:oMathPara>
                </a14:m>
                <a:endParaRPr lang="en-GB" dirty="0"/>
              </a:p>
              <a:p>
                <a:pPr lvl="2" algn="just"/>
                <a:r>
                  <a:rPr lang="en-GB" dirty="0"/>
                  <a:t>Perturbation </a:t>
                </a:r>
                <a14:m>
                  <m:oMath xmlns:m="http://schemas.openxmlformats.org/officeDocument/2006/math">
                    <m:r>
                      <a:rPr lang="en-IN" i="1">
                        <a:latin typeface="Cambria Math" panose="02040503050406030204" pitchFamily="18" charset="0"/>
                        <a:ea typeface="Cambria Math" panose="02040503050406030204" pitchFamily="18" charset="0"/>
                      </a:rPr>
                      <m:t>𝑠𝑔𝑛</m:t>
                    </m:r>
                    <m:r>
                      <a:rPr lang="en-IN" i="1">
                        <a:latin typeface="Cambria Math" panose="02040503050406030204" pitchFamily="18" charset="0"/>
                        <a:ea typeface="Cambria Math" panose="02040503050406030204" pitchFamily="18" charset="0"/>
                      </a:rPr>
                      <m:t>(</m:t>
                    </m:r>
                    <m:sSub>
                      <m:sSubPr>
                        <m:ctrlPr>
                          <a:rPr lang="en-IN" i="1">
                            <a:latin typeface="Cambria Math" panose="02040503050406030204" pitchFamily="18" charset="0"/>
                            <a:ea typeface="Cambria Math" panose="02040503050406030204" pitchFamily="18" charset="0"/>
                          </a:rPr>
                        </m:ctrlPr>
                      </m:sSubPr>
                      <m:e>
                        <m:r>
                          <a:rPr lang="en-IN" i="1">
                            <a:latin typeface="Cambria Math" panose="02040503050406030204" pitchFamily="18" charset="0"/>
                            <a:ea typeface="Cambria Math" panose="02040503050406030204" pitchFamily="18" charset="0"/>
                          </a:rPr>
                          <m:t>𝛻</m:t>
                        </m:r>
                      </m:e>
                      <m:sub>
                        <m:acc>
                          <m:accPr>
                            <m:chr m:val="⃗"/>
                            <m:ctrlPr>
                              <a:rPr lang="en-US" i="1">
                                <a:latin typeface="Cambria Math" panose="02040503050406030204" pitchFamily="18" charset="0"/>
                              </a:rPr>
                            </m:ctrlPr>
                          </m:accPr>
                          <m:e>
                            <m:r>
                              <a:rPr lang="en-US" i="1">
                                <a:latin typeface="Cambria Math" panose="02040503050406030204" pitchFamily="18" charset="0"/>
                              </a:rPr>
                              <m:t>𝑥</m:t>
                            </m:r>
                          </m:e>
                        </m:acc>
                      </m:sub>
                    </m:sSub>
                    <m:r>
                      <a:rPr lang="en-IN" i="1">
                        <a:latin typeface="Cambria Math" panose="02040503050406030204" pitchFamily="18" charset="0"/>
                        <a:ea typeface="Cambria Math" panose="02040503050406030204" pitchFamily="18" charset="0"/>
                      </a:rPr>
                      <m:t>𝑐</m:t>
                    </m:r>
                    <m:r>
                      <a:rPr lang="en-IN" i="1">
                        <a:latin typeface="Cambria Math" panose="02040503050406030204" pitchFamily="18" charset="0"/>
                        <a:ea typeface="Cambria Math" panose="02040503050406030204" pitchFamily="18" charset="0"/>
                      </a:rPr>
                      <m:t>(</m:t>
                    </m:r>
                    <m:r>
                      <a:rPr lang="en-IN" i="1">
                        <a:latin typeface="Cambria Math" panose="02040503050406030204" pitchFamily="18" charset="0"/>
                      </a:rPr>
                      <m:t>𝐹</m:t>
                    </m:r>
                    <m:r>
                      <a:rPr lang="en-IN" i="1">
                        <a:latin typeface="Cambria Math" panose="02040503050406030204" pitchFamily="18" charset="0"/>
                      </a:rPr>
                      <m:t>, </m:t>
                    </m:r>
                    <m:acc>
                      <m:accPr>
                        <m:chr m:val="⃗"/>
                        <m:ctrlPr>
                          <a:rPr lang="en-IN" i="1">
                            <a:latin typeface="Cambria Math" panose="02040503050406030204" pitchFamily="18" charset="0"/>
                          </a:rPr>
                        </m:ctrlPr>
                      </m:accPr>
                      <m:e>
                        <m:r>
                          <a:rPr lang="en-IN" i="1">
                            <a:latin typeface="Cambria Math" panose="02040503050406030204" pitchFamily="18" charset="0"/>
                          </a:rPr>
                          <m:t>𝑥</m:t>
                        </m:r>
                      </m:e>
                    </m:acc>
                    <m:r>
                      <a:rPr lang="en-IN" i="1">
                        <a:latin typeface="Cambria Math" panose="02040503050406030204" pitchFamily="18" charset="0"/>
                      </a:rPr>
                      <m:t>, </m:t>
                    </m:r>
                    <m:r>
                      <a:rPr lang="en-IN" i="1">
                        <a:latin typeface="Cambria Math" panose="02040503050406030204" pitchFamily="18" charset="0"/>
                      </a:rPr>
                      <m:t>𝑦</m:t>
                    </m:r>
                    <m:r>
                      <a:rPr lang="en-IN" i="1">
                        <a:latin typeface="Cambria Math" panose="02040503050406030204" pitchFamily="18" charset="0"/>
                        <a:ea typeface="Cambria Math" panose="02040503050406030204" pitchFamily="18" charset="0"/>
                      </a:rPr>
                      <m:t>))</m:t>
                    </m:r>
                  </m:oMath>
                </a14:m>
                <a:r>
                  <a:rPr lang="en-GB" dirty="0"/>
                  <a:t> is the sign of the model’s </a:t>
                </a:r>
                <a:r>
                  <a:rPr lang="en-IN" dirty="0"/>
                  <a:t>cost function</a:t>
                </a:r>
                <a:r>
                  <a:rPr lang="en-IN" sz="800" dirty="0"/>
                  <a:t> </a:t>
                </a:r>
                <a:r>
                  <a:rPr lang="en-IN" dirty="0"/>
                  <a:t>gradient.</a:t>
                </a:r>
              </a:p>
              <a:p>
                <a:pPr lvl="2" algn="just"/>
                <a:r>
                  <a:rPr lang="en-GB" dirty="0"/>
                  <a:t>The cost gradient is computed with respect to </a:t>
                </a:r>
                <a14:m>
                  <m:oMath xmlns:m="http://schemas.openxmlformats.org/officeDocument/2006/math">
                    <m:acc>
                      <m:accPr>
                        <m:chr m:val="⃗"/>
                        <m:ctrlPr>
                          <a:rPr lang="en-IN" i="1">
                            <a:latin typeface="Cambria Math" panose="02040503050406030204" pitchFamily="18" charset="0"/>
                          </a:rPr>
                        </m:ctrlPr>
                      </m:accPr>
                      <m:e>
                        <m:r>
                          <a:rPr lang="en-IN" i="1">
                            <a:latin typeface="Cambria Math" panose="02040503050406030204" pitchFamily="18" charset="0"/>
                          </a:rPr>
                          <m:t>𝑥</m:t>
                        </m:r>
                      </m:e>
                    </m:acc>
                  </m:oMath>
                </a14:m>
                <a:r>
                  <a:rPr lang="en-GB" dirty="0"/>
                  <a:t> using sample </a:t>
                </a:r>
                <a14:m>
                  <m:oMath xmlns:m="http://schemas.openxmlformats.org/officeDocument/2006/math">
                    <m:acc>
                      <m:accPr>
                        <m:chr m:val="⃗"/>
                        <m:ctrlPr>
                          <a:rPr lang="en-IN" i="1">
                            <a:latin typeface="Cambria Math" panose="02040503050406030204" pitchFamily="18" charset="0"/>
                          </a:rPr>
                        </m:ctrlPr>
                      </m:accPr>
                      <m:e>
                        <m:r>
                          <a:rPr lang="en-IN" i="1">
                            <a:latin typeface="Cambria Math" panose="02040503050406030204" pitchFamily="18" charset="0"/>
                          </a:rPr>
                          <m:t>𝑥</m:t>
                        </m:r>
                      </m:e>
                    </m:acc>
                  </m:oMath>
                </a14:m>
                <a:r>
                  <a:rPr lang="en-GB" dirty="0"/>
                  <a:t> and label </a:t>
                </a:r>
                <a14:m>
                  <m:oMath xmlns:m="http://schemas.openxmlformats.org/officeDocument/2006/math">
                    <m:r>
                      <a:rPr lang="en-IN" i="1">
                        <a:latin typeface="Cambria Math" panose="02040503050406030204" pitchFamily="18" charset="0"/>
                      </a:rPr>
                      <m:t>𝑦</m:t>
                    </m:r>
                  </m:oMath>
                </a14:m>
                <a:r>
                  <a:rPr lang="en-GB" dirty="0"/>
                  <a:t> as inputs.</a:t>
                </a:r>
              </a:p>
              <a:p>
                <a:pPr lvl="2" algn="just"/>
                <a:r>
                  <a:rPr lang="en-GB" dirty="0"/>
                  <a:t>The value of the input variation parameter </a:t>
                </a:r>
                <a14:m>
                  <m:oMath xmlns:m="http://schemas.openxmlformats.org/officeDocument/2006/math">
                    <m:r>
                      <a:rPr lang="en-IN" i="1">
                        <a:latin typeface="Cambria Math" panose="02040503050406030204" pitchFamily="18" charset="0"/>
                        <a:ea typeface="Cambria Math" panose="02040503050406030204" pitchFamily="18" charset="0"/>
                      </a:rPr>
                      <m:t>𝜀</m:t>
                    </m:r>
                  </m:oMath>
                </a14:m>
                <a:r>
                  <a:rPr lang="en-GB" dirty="0"/>
                  <a:t> factoring the sign matrix controls the perturbation's amplitude.</a:t>
                </a:r>
              </a:p>
              <a:p>
                <a:pPr lvl="3" algn="just"/>
                <a:r>
                  <a:rPr lang="en-GB" dirty="0"/>
                  <a:t>Increasing its value increases the likelihood of </a:t>
                </a:r>
                <a14:m>
                  <m:oMath xmlns:m="http://schemas.openxmlformats.org/officeDocument/2006/math">
                    <m:sSup>
                      <m:sSupPr>
                        <m:ctrlPr>
                          <a:rPr lang="en-SG" i="1">
                            <a:latin typeface="Cambria Math" panose="02040503050406030204" pitchFamily="18" charset="0"/>
                          </a:rPr>
                        </m:ctrlPr>
                      </m:sSupPr>
                      <m:e>
                        <m:acc>
                          <m:accPr>
                            <m:chr m:val="⃗"/>
                            <m:ctrlPr>
                              <a:rPr lang="en-SG" i="1">
                                <a:latin typeface="Cambria Math" panose="02040503050406030204" pitchFamily="18" charset="0"/>
                              </a:rPr>
                            </m:ctrlPr>
                          </m:accPr>
                          <m:e>
                            <m:r>
                              <a:rPr lang="en-US" i="1">
                                <a:latin typeface="Cambria Math" panose="02040503050406030204" pitchFamily="18" charset="0"/>
                              </a:rPr>
                              <m:t>𝑥</m:t>
                            </m:r>
                          </m:e>
                        </m:acc>
                      </m:e>
                      <m:sup>
                        <m:r>
                          <a:rPr lang="en-US" i="1">
                            <a:latin typeface="Cambria Math" panose="02040503050406030204" pitchFamily="18" charset="0"/>
                          </a:rPr>
                          <m:t>∗</m:t>
                        </m:r>
                      </m:sup>
                    </m:sSup>
                  </m:oMath>
                </a14:m>
                <a:r>
                  <a:rPr lang="en-GB" dirty="0"/>
                  <a:t> being misclassified by model </a:t>
                </a:r>
                <a14:m>
                  <m:oMath xmlns:m="http://schemas.openxmlformats.org/officeDocument/2006/math">
                    <m:r>
                      <a:rPr lang="en-GB" i="1" dirty="0">
                        <a:latin typeface="Cambria Math" panose="02040503050406030204" pitchFamily="18" charset="0"/>
                      </a:rPr>
                      <m:t>𝐹</m:t>
                    </m:r>
                  </m:oMath>
                </a14:m>
                <a:r>
                  <a:rPr lang="en-GB" dirty="0"/>
                  <a:t> but on the contrary makes adversarial samples easier to detect by humans.</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589212" y="1274410"/>
                <a:ext cx="8915400" cy="4636812"/>
              </a:xfrm>
              <a:blipFill>
                <a:blip r:embed="rId3"/>
                <a:stretch>
                  <a:fillRect l="-479" t="-657" r="-205"/>
                </a:stretch>
              </a:blipFill>
            </p:spPr>
            <p:txBody>
              <a:bodyPr/>
              <a:lstStyle/>
              <a:p>
                <a:r>
                  <a:rPr lang="en-IN">
                    <a:noFill/>
                  </a:rPr>
                  <a:t> </a:t>
                </a:r>
              </a:p>
            </p:txBody>
          </p:sp>
        </mc:Fallback>
      </mc:AlternateContent>
      <p:sp>
        <p:nvSpPr>
          <p:cNvPr id="24" name="Date Placeholder 23"/>
          <p:cNvSpPr>
            <a:spLocks noGrp="1"/>
          </p:cNvSpPr>
          <p:nvPr>
            <p:ph type="dt" sz="half" idx="10"/>
          </p:nvPr>
        </p:nvSpPr>
        <p:spPr/>
        <p:txBody>
          <a:bodyPr/>
          <a:lstStyle/>
          <a:p>
            <a:fld id="{2EFB6F28-65EE-44D6-BFFE-56AB02E1ABA6}" type="datetime1">
              <a:rPr lang="en-US" smtClean="0"/>
              <a:t>9/5/2017</a:t>
            </a:fld>
            <a:endParaRPr lang="en-US" dirty="0"/>
          </a:p>
        </p:txBody>
      </p:sp>
      <p:sp>
        <p:nvSpPr>
          <p:cNvPr id="26" name="Slide Number Placeholder 25"/>
          <p:cNvSpPr>
            <a:spLocks noGrp="1"/>
          </p:cNvSpPr>
          <p:nvPr>
            <p:ph type="sldNum" sz="quarter" idx="12"/>
          </p:nvPr>
        </p:nvSpPr>
        <p:spPr/>
        <p:txBody>
          <a:bodyPr/>
          <a:lstStyle/>
          <a:p>
            <a:fld id="{D57F1E4F-1CFF-5643-939E-217C01CDF565}" type="slidenum">
              <a:rPr lang="en-US" smtClean="0"/>
              <a:pPr/>
              <a:t>14</a:t>
            </a:fld>
            <a:endParaRPr lang="en-US" dirty="0"/>
          </a:p>
        </p:txBody>
      </p:sp>
      <p:sp>
        <p:nvSpPr>
          <p:cNvPr id="17" name="TextBox 16"/>
          <p:cNvSpPr txBox="1"/>
          <p:nvPr/>
        </p:nvSpPr>
        <p:spPr>
          <a:xfrm>
            <a:off x="2589212" y="6465498"/>
            <a:ext cx="8915400" cy="272415"/>
          </a:xfrm>
          <a:prstGeom prst="roundRect">
            <a:avLst/>
          </a:prstGeom>
          <a:solidFill>
            <a:srgbClr val="2E5369"/>
          </a:solidFill>
        </p:spPr>
        <p:txBody>
          <a:bodyPr wrap="square" rtlCol="0">
            <a:spAutoFit/>
          </a:bodyPr>
          <a:lstStyle/>
          <a:p>
            <a:pPr algn="ctr"/>
            <a:r>
              <a:rPr lang="en-GB" sz="1000" dirty="0">
                <a:solidFill>
                  <a:schemeClr val="bg1"/>
                </a:solidFill>
              </a:rPr>
              <a:t>Explaining and harnessing adversarial examples – Goodfellow et. al., ICLR ‘15</a:t>
            </a:r>
            <a:endParaRPr lang="en-US" sz="1000" dirty="0">
              <a:solidFill>
                <a:schemeClr val="bg1"/>
              </a:solidFill>
            </a:endParaRPr>
          </a:p>
        </p:txBody>
      </p:sp>
      <p:sp>
        <p:nvSpPr>
          <p:cNvPr id="7" name="TextBox 6">
            <a:extLst>
              <a:ext uri="{FF2B5EF4-FFF2-40B4-BE49-F238E27FC236}">
                <a16:creationId xmlns:a16="http://schemas.microsoft.com/office/drawing/2014/main" id="{F9EFF882-BB6F-4CAC-85DC-B6CF9012B92C}"/>
              </a:ext>
            </a:extLst>
          </p:cNvPr>
          <p:cNvSpPr txBox="1"/>
          <p:nvPr/>
        </p:nvSpPr>
        <p:spPr>
          <a:xfrm>
            <a:off x="2589212" y="6175831"/>
            <a:ext cx="8915400" cy="272415"/>
          </a:xfrm>
          <a:prstGeom prst="roundRect">
            <a:avLst/>
          </a:prstGeom>
          <a:solidFill>
            <a:srgbClr val="2E5369"/>
          </a:solidFill>
        </p:spPr>
        <p:txBody>
          <a:bodyPr wrap="square" rtlCol="0">
            <a:spAutoFit/>
          </a:bodyPr>
          <a:lstStyle/>
          <a:p>
            <a:pPr algn="ctr"/>
            <a:r>
              <a:rPr lang="en-SG" sz="1000" dirty="0">
                <a:solidFill>
                  <a:schemeClr val="bg1"/>
                </a:solidFill>
              </a:rPr>
              <a:t>Practical Black-Box Attacks against Machine Learning – </a:t>
            </a:r>
            <a:r>
              <a:rPr lang="en-US" sz="1000" dirty="0">
                <a:solidFill>
                  <a:schemeClr val="bg1"/>
                </a:solidFill>
              </a:rPr>
              <a:t>Papernot et. al., ASIA CCS ‘17</a:t>
            </a:r>
          </a:p>
        </p:txBody>
      </p:sp>
    </p:spTree>
    <p:extLst>
      <p:ext uri="{BB962C8B-B14F-4D97-AF65-F5344CB8AC3E}">
        <p14:creationId xmlns:p14="http://schemas.microsoft.com/office/powerpoint/2010/main" val="2943762497"/>
      </p:ext>
    </p:extLst>
  </p:cSld>
  <p:clrMapOvr>
    <a:masterClrMapping/>
  </p:clrMapOvr>
  <mc:AlternateContent xmlns:mc="http://schemas.openxmlformats.org/markup-compatibility/2006">
    <mc:Choice xmlns:p14="http://schemas.microsoft.com/office/powerpoint/2010/main" Requires="p14">
      <p:transition p14:dur="250">
        <p:push/>
      </p:transition>
    </mc:Choice>
    <mc:Fallback>
      <p:transition>
        <p:push/>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300"/>
          </a:xfrm>
        </p:spPr>
        <p:txBody>
          <a:bodyPr/>
          <a:lstStyle/>
          <a:p>
            <a:r>
              <a:rPr lang="en-US" dirty="0"/>
              <a:t>Black-Box Attack Strategy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589212" y="1274410"/>
                <a:ext cx="8915400" cy="4636812"/>
              </a:xfrm>
            </p:spPr>
            <p:txBody>
              <a:bodyPr>
                <a:normAutofit fontScale="92500"/>
              </a:bodyPr>
              <a:lstStyle/>
              <a:p>
                <a:pPr algn="just"/>
                <a:r>
                  <a:rPr lang="en-SG" b="1" u="sng" dirty="0"/>
                  <a:t>Adversial Sample Crafting</a:t>
                </a:r>
              </a:p>
              <a:p>
                <a:pPr lvl="1" algn="just"/>
                <a:r>
                  <a:rPr lang="en-GB" dirty="0"/>
                  <a:t>Papernot algorithm</a:t>
                </a:r>
              </a:p>
              <a:p>
                <a:pPr lvl="2" algn="just"/>
                <a:r>
                  <a:rPr lang="en-GB" dirty="0"/>
                  <a:t>Given a model </a:t>
                </a:r>
                <a14:m>
                  <m:oMath xmlns:m="http://schemas.openxmlformats.org/officeDocument/2006/math">
                    <m:r>
                      <a:rPr lang="en-GB" i="1" dirty="0">
                        <a:latin typeface="Cambria Math" panose="02040503050406030204" pitchFamily="18" charset="0"/>
                      </a:rPr>
                      <m:t>𝐹</m:t>
                    </m:r>
                  </m:oMath>
                </a14:m>
                <a:r>
                  <a:rPr lang="en-GB" dirty="0"/>
                  <a:t> the adversary crafts an adversarial sample </a:t>
                </a:r>
                <a14:m>
                  <m:oMath xmlns:m="http://schemas.openxmlformats.org/officeDocument/2006/math">
                    <m:sSup>
                      <m:sSupPr>
                        <m:ctrlPr>
                          <a:rPr lang="en-SG" i="1">
                            <a:latin typeface="Cambria Math" panose="02040503050406030204" pitchFamily="18" charset="0"/>
                          </a:rPr>
                        </m:ctrlPr>
                      </m:sSupPr>
                      <m:e>
                        <m:acc>
                          <m:accPr>
                            <m:chr m:val="⃗"/>
                            <m:ctrlPr>
                              <a:rPr lang="en-SG" i="1">
                                <a:latin typeface="Cambria Math" panose="02040503050406030204" pitchFamily="18" charset="0"/>
                              </a:rPr>
                            </m:ctrlPr>
                          </m:accPr>
                          <m:e>
                            <m:r>
                              <a:rPr lang="en-US" i="1">
                                <a:latin typeface="Cambria Math" panose="02040503050406030204" pitchFamily="18" charset="0"/>
                              </a:rPr>
                              <m:t>𝑥</m:t>
                            </m:r>
                          </m:e>
                        </m:acc>
                      </m:e>
                      <m:sup>
                        <m:r>
                          <a:rPr lang="en-US" i="1">
                            <a:latin typeface="Cambria Math" panose="02040503050406030204" pitchFamily="18" charset="0"/>
                          </a:rPr>
                          <m:t>∗</m:t>
                        </m:r>
                      </m:sup>
                    </m:sSup>
                    <m:r>
                      <a:rPr lang="en-IN"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acc>
                          <m:accPr>
                            <m:chr m:val="⃗"/>
                            <m:ctrlPr>
                              <a:rPr lang="en-US" i="1">
                                <a:latin typeface="Cambria Math" panose="02040503050406030204" pitchFamily="18" charset="0"/>
                              </a:rPr>
                            </m:ctrlPr>
                          </m:accPr>
                          <m:e>
                            <m:r>
                              <a:rPr lang="en-US" i="1">
                                <a:latin typeface="Cambria Math" panose="02040503050406030204" pitchFamily="18" charset="0"/>
                              </a:rPr>
                              <m:t>𝑥</m:t>
                            </m:r>
                          </m:e>
                        </m:acc>
                      </m:sub>
                    </m:sSub>
                  </m:oMath>
                </a14:m>
                <a:r>
                  <a:rPr lang="en-GB" dirty="0"/>
                  <a:t> for a given legitimate sample </a:t>
                </a:r>
                <a14:m>
                  <m:oMath xmlns:m="http://schemas.openxmlformats.org/officeDocument/2006/math">
                    <m:sSup>
                      <m:sSupPr>
                        <m:ctrlPr>
                          <a:rPr lang="en-SG" i="1">
                            <a:latin typeface="Cambria Math" panose="02040503050406030204" pitchFamily="18" charset="0"/>
                          </a:rPr>
                        </m:ctrlPr>
                      </m:sSupPr>
                      <m:e>
                        <m:acc>
                          <m:accPr>
                            <m:chr m:val="⃗"/>
                            <m:ctrlPr>
                              <a:rPr lang="en-SG" i="1">
                                <a:latin typeface="Cambria Math" panose="02040503050406030204" pitchFamily="18" charset="0"/>
                              </a:rPr>
                            </m:ctrlPr>
                          </m:accPr>
                          <m:e>
                            <m:r>
                              <a:rPr lang="en-US" i="1">
                                <a:latin typeface="Cambria Math" panose="02040503050406030204" pitchFamily="18" charset="0"/>
                              </a:rPr>
                              <m:t>𝑥</m:t>
                            </m:r>
                          </m:e>
                        </m:acc>
                      </m:e>
                      <m:sup>
                        <m:r>
                          <a:rPr lang="en-US" i="1">
                            <a:latin typeface="Cambria Math" panose="02040503050406030204" pitchFamily="18" charset="0"/>
                          </a:rPr>
                          <m:t>∗</m:t>
                        </m:r>
                      </m:sup>
                    </m:sSup>
                  </m:oMath>
                </a14:m>
                <a:r>
                  <a:rPr lang="en-GB" dirty="0"/>
                  <a:t> by adding a perturbation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acc>
                          <m:accPr>
                            <m:chr m:val="⃗"/>
                            <m:ctrlPr>
                              <a:rPr lang="en-US" i="1">
                                <a:latin typeface="Cambria Math" panose="02040503050406030204" pitchFamily="18" charset="0"/>
                              </a:rPr>
                            </m:ctrlPr>
                          </m:accPr>
                          <m:e>
                            <m:r>
                              <a:rPr lang="en-US" i="1">
                                <a:latin typeface="Cambria Math" panose="02040503050406030204" pitchFamily="18" charset="0"/>
                              </a:rPr>
                              <m:t>𝑥</m:t>
                            </m:r>
                          </m:e>
                        </m:acc>
                      </m:sub>
                    </m:sSub>
                  </m:oMath>
                </a14:m>
                <a:r>
                  <a:rPr lang="en-GB" dirty="0"/>
                  <a:t> to a subset of the input components </a:t>
                </a:r>
                <a14:m>
                  <m:oMath xmlns:m="http://schemas.openxmlformats.org/officeDocument/2006/math">
                    <m:sSub>
                      <m:sSubPr>
                        <m:ctrlPr>
                          <a:rPr lang="en-GB" i="1" smtClean="0">
                            <a:latin typeface="Cambria Math" panose="02040503050406030204" pitchFamily="18" charset="0"/>
                          </a:rPr>
                        </m:ctrlPr>
                      </m:sSubPr>
                      <m:e>
                        <m:acc>
                          <m:accPr>
                            <m:chr m:val="⃗"/>
                            <m:ctrlPr>
                              <a:rPr lang="en-GB" i="1" smtClean="0">
                                <a:latin typeface="Cambria Math" panose="02040503050406030204" pitchFamily="18" charset="0"/>
                              </a:rPr>
                            </m:ctrlPr>
                          </m:accPr>
                          <m:e>
                            <m:r>
                              <a:rPr lang="en-IN" b="0" i="1" smtClean="0">
                                <a:latin typeface="Cambria Math" panose="02040503050406030204" pitchFamily="18" charset="0"/>
                              </a:rPr>
                              <m:t>𝑥</m:t>
                            </m:r>
                          </m:e>
                        </m:acc>
                      </m:e>
                      <m:sub>
                        <m:r>
                          <a:rPr lang="en-IN" b="0" i="1" smtClean="0">
                            <a:latin typeface="Cambria Math" panose="02040503050406030204" pitchFamily="18" charset="0"/>
                          </a:rPr>
                          <m:t>𝑖</m:t>
                        </m:r>
                      </m:sub>
                    </m:sSub>
                  </m:oMath>
                </a14:m>
                <a:r>
                  <a:rPr lang="en-GB" dirty="0"/>
                  <a:t>.</a:t>
                </a:r>
              </a:p>
              <a:p>
                <a:pPr lvl="2" algn="just"/>
                <a:r>
                  <a:rPr lang="en-GB" dirty="0"/>
                  <a:t>To choose input components forming perturbation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acc>
                          <m:accPr>
                            <m:chr m:val="⃗"/>
                            <m:ctrlPr>
                              <a:rPr lang="en-US" i="1">
                                <a:latin typeface="Cambria Math" panose="02040503050406030204" pitchFamily="18" charset="0"/>
                              </a:rPr>
                            </m:ctrlPr>
                          </m:accPr>
                          <m:e>
                            <m:r>
                              <a:rPr lang="en-US" i="1">
                                <a:latin typeface="Cambria Math" panose="02040503050406030204" pitchFamily="18" charset="0"/>
                              </a:rPr>
                              <m:t>𝑥</m:t>
                            </m:r>
                          </m:e>
                        </m:acc>
                      </m:sub>
                    </m:sSub>
                  </m:oMath>
                </a14:m>
                <a:r>
                  <a:rPr lang="en-GB" dirty="0"/>
                  <a:t>, components are sorted by decreasing adversarial saliency value.</a:t>
                </a:r>
              </a:p>
              <a:p>
                <a:pPr lvl="2" algn="just"/>
                <a:r>
                  <a:rPr lang="en-GB" dirty="0"/>
                  <a:t>The adversarial saliency value </a:t>
                </a:r>
                <a14:m>
                  <m:oMath xmlns:m="http://schemas.openxmlformats.org/officeDocument/2006/math">
                    <m:r>
                      <a:rPr lang="en-IN" b="0" i="1" smtClean="0">
                        <a:latin typeface="Cambria Math" panose="02040503050406030204" pitchFamily="18" charset="0"/>
                      </a:rPr>
                      <m:t>𝑆</m:t>
                    </m:r>
                    <m:d>
                      <m:dPr>
                        <m:ctrlPr>
                          <a:rPr lang="en-IN" b="0" i="1" smtClean="0">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IN" b="0" i="1" smtClean="0">
                            <a:latin typeface="Cambria Math" panose="02040503050406030204" pitchFamily="18" charset="0"/>
                          </a:rPr>
                          <m:t>, </m:t>
                        </m:r>
                        <m:r>
                          <a:rPr lang="en-IN" b="0" i="1" smtClean="0">
                            <a:latin typeface="Cambria Math" panose="02040503050406030204" pitchFamily="18" charset="0"/>
                          </a:rPr>
                          <m:t>𝑡</m:t>
                        </m:r>
                      </m:e>
                    </m:d>
                    <m:r>
                      <a:rPr lang="en-IN" b="0" i="1" smtClean="0">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m:t>
                    </m:r>
                  </m:oMath>
                </a14:m>
                <a:r>
                  <a:rPr lang="en-GB" dirty="0"/>
                  <a:t> of component </a:t>
                </a:r>
                <a14:m>
                  <m:oMath xmlns:m="http://schemas.openxmlformats.org/officeDocument/2006/math">
                    <m:r>
                      <a:rPr lang="en-GB" i="1" dirty="0" smtClean="0">
                        <a:latin typeface="Cambria Math" panose="02040503050406030204" pitchFamily="18" charset="0"/>
                      </a:rPr>
                      <m:t>𝑖</m:t>
                    </m:r>
                  </m:oMath>
                </a14:m>
                <a:r>
                  <a:rPr lang="en-GB" dirty="0"/>
                  <a:t> for an adversarial target class </a:t>
                </a:r>
                <a14:m>
                  <m:oMath xmlns:m="http://schemas.openxmlformats.org/officeDocument/2006/math">
                    <m:r>
                      <a:rPr lang="en-GB" i="1" dirty="0" smtClean="0">
                        <a:latin typeface="Cambria Math" panose="02040503050406030204" pitchFamily="18" charset="0"/>
                      </a:rPr>
                      <m:t>𝑡</m:t>
                    </m:r>
                  </m:oMath>
                </a14:m>
                <a:r>
                  <a:rPr lang="en-GB" dirty="0"/>
                  <a:t> is defined as</a:t>
                </a:r>
              </a:p>
              <a:p>
                <a:pPr marL="0" lvl="2" indent="0" algn="just">
                  <a:buNone/>
                </a:pPr>
                <a14:m>
                  <m:oMathPara xmlns:m="http://schemas.openxmlformats.org/officeDocument/2006/math">
                    <m:oMathParaPr>
                      <m:jc m:val="centerGroup"/>
                    </m:oMathParaPr>
                    <m:oMath xmlns:m="http://schemas.openxmlformats.org/officeDocument/2006/math">
                      <m:r>
                        <a:rPr lang="en-IN" sz="1300" i="1">
                          <a:latin typeface="Cambria Math" panose="02040503050406030204" pitchFamily="18" charset="0"/>
                        </a:rPr>
                        <m:t>𝑆</m:t>
                      </m:r>
                      <m:d>
                        <m:dPr>
                          <m:ctrlPr>
                            <a:rPr lang="en-IN" sz="1300" i="1">
                              <a:latin typeface="Cambria Math" panose="02040503050406030204" pitchFamily="18" charset="0"/>
                            </a:rPr>
                          </m:ctrlPr>
                        </m:dPr>
                        <m:e>
                          <m:acc>
                            <m:accPr>
                              <m:chr m:val="⃗"/>
                              <m:ctrlPr>
                                <a:rPr lang="en-US" sz="1300" i="1">
                                  <a:latin typeface="Cambria Math" panose="02040503050406030204" pitchFamily="18" charset="0"/>
                                </a:rPr>
                              </m:ctrlPr>
                            </m:accPr>
                            <m:e>
                              <m:r>
                                <a:rPr lang="en-US" sz="1300" i="1">
                                  <a:latin typeface="Cambria Math" panose="02040503050406030204" pitchFamily="18" charset="0"/>
                                </a:rPr>
                                <m:t>𝑥</m:t>
                              </m:r>
                            </m:e>
                          </m:acc>
                          <m:r>
                            <a:rPr lang="en-IN" sz="1300" i="1">
                              <a:latin typeface="Cambria Math" panose="02040503050406030204" pitchFamily="18" charset="0"/>
                            </a:rPr>
                            <m:t>, </m:t>
                          </m:r>
                          <m:r>
                            <a:rPr lang="en-IN" sz="1300" i="1">
                              <a:latin typeface="Cambria Math" panose="02040503050406030204" pitchFamily="18" charset="0"/>
                            </a:rPr>
                            <m:t>𝑡</m:t>
                          </m:r>
                        </m:e>
                      </m:d>
                      <m:d>
                        <m:dPr>
                          <m:begChr m:val="["/>
                          <m:endChr m:val="]"/>
                          <m:ctrlPr>
                            <a:rPr lang="en-IN" sz="1300" i="1">
                              <a:latin typeface="Cambria Math" panose="02040503050406030204" pitchFamily="18" charset="0"/>
                            </a:rPr>
                          </m:ctrlPr>
                        </m:dPr>
                        <m:e>
                          <m:r>
                            <a:rPr lang="en-IN" sz="1300" i="1">
                              <a:latin typeface="Cambria Math" panose="02040503050406030204" pitchFamily="18" charset="0"/>
                            </a:rPr>
                            <m:t>𝑖</m:t>
                          </m:r>
                        </m:e>
                      </m:d>
                      <m:r>
                        <a:rPr lang="en-IN" sz="1300" i="1">
                          <a:latin typeface="Cambria Math" panose="02040503050406030204" pitchFamily="18" charset="0"/>
                        </a:rPr>
                        <m:t>= </m:t>
                      </m:r>
                      <m:d>
                        <m:dPr>
                          <m:begChr m:val="{"/>
                          <m:endChr m:val=""/>
                          <m:ctrlPr>
                            <a:rPr lang="en-IN" sz="1300" i="1">
                              <a:latin typeface="Cambria Math" panose="02040503050406030204" pitchFamily="18" charset="0"/>
                            </a:rPr>
                          </m:ctrlPr>
                        </m:dPr>
                        <m:e>
                          <m:eqArr>
                            <m:eqArrPr>
                              <m:ctrlPr>
                                <a:rPr lang="en-IN" sz="1300" i="1">
                                  <a:latin typeface="Cambria Math" panose="02040503050406030204" pitchFamily="18" charset="0"/>
                                </a:rPr>
                              </m:ctrlPr>
                            </m:eqArrPr>
                            <m:e>
                              <m:r>
                                <a:rPr lang="en-IN" sz="1300" i="1">
                                  <a:latin typeface="Cambria Math" panose="02040503050406030204" pitchFamily="18" charset="0"/>
                                </a:rPr>
                                <m:t>0 </m:t>
                              </m:r>
                              <m:r>
                                <a:rPr lang="en-IN" sz="1300" i="1">
                                  <a:latin typeface="Cambria Math" panose="02040503050406030204" pitchFamily="18" charset="0"/>
                                </a:rPr>
                                <m:t>𝑖𝑓</m:t>
                              </m:r>
                              <m:r>
                                <a:rPr lang="en-IN" sz="1300" i="1">
                                  <a:latin typeface="Cambria Math" panose="02040503050406030204" pitchFamily="18" charset="0"/>
                                </a:rPr>
                                <m:t> </m:t>
                              </m:r>
                              <m:box>
                                <m:boxPr>
                                  <m:ctrlPr>
                                    <a:rPr lang="en-IN" sz="1300" i="1">
                                      <a:latin typeface="Cambria Math" panose="02040503050406030204" pitchFamily="18" charset="0"/>
                                    </a:rPr>
                                  </m:ctrlPr>
                                </m:boxPr>
                                <m:e>
                                  <m:argPr>
                                    <m:argSz m:val="-1"/>
                                  </m:argPr>
                                  <m:f>
                                    <m:fPr>
                                      <m:ctrlPr>
                                        <a:rPr lang="en-IN" sz="1300" i="1">
                                          <a:latin typeface="Cambria Math" panose="02040503050406030204" pitchFamily="18" charset="0"/>
                                        </a:rPr>
                                      </m:ctrlPr>
                                    </m:fPr>
                                    <m:num>
                                      <m:r>
                                        <a:rPr lang="en-IN" sz="1300" i="1">
                                          <a:latin typeface="Cambria Math" panose="02040503050406030204" pitchFamily="18" charset="0"/>
                                          <a:ea typeface="Cambria Math" panose="02040503050406030204" pitchFamily="18" charset="0"/>
                                        </a:rPr>
                                        <m:t>𝜕</m:t>
                                      </m:r>
                                      <m:sSub>
                                        <m:sSubPr>
                                          <m:ctrlPr>
                                            <a:rPr lang="en-IN" sz="1300" i="1">
                                              <a:latin typeface="Cambria Math" panose="02040503050406030204" pitchFamily="18" charset="0"/>
                                              <a:ea typeface="Cambria Math" panose="02040503050406030204" pitchFamily="18" charset="0"/>
                                            </a:rPr>
                                          </m:ctrlPr>
                                        </m:sSubPr>
                                        <m:e>
                                          <m:r>
                                            <a:rPr lang="en-IN" sz="1300" i="1">
                                              <a:latin typeface="Cambria Math" panose="02040503050406030204" pitchFamily="18" charset="0"/>
                                              <a:ea typeface="Cambria Math" panose="02040503050406030204" pitchFamily="18" charset="0"/>
                                            </a:rPr>
                                            <m:t>𝐹</m:t>
                                          </m:r>
                                        </m:e>
                                        <m:sub>
                                          <m:r>
                                            <a:rPr lang="en-IN" sz="1300" i="1">
                                              <a:latin typeface="Cambria Math" panose="02040503050406030204" pitchFamily="18" charset="0"/>
                                              <a:ea typeface="Cambria Math" panose="02040503050406030204" pitchFamily="18" charset="0"/>
                                            </a:rPr>
                                            <m:t>𝑡</m:t>
                                          </m:r>
                                        </m:sub>
                                      </m:sSub>
                                    </m:num>
                                    <m:den>
                                      <m:r>
                                        <a:rPr lang="en-IN" sz="1300" i="1">
                                          <a:latin typeface="Cambria Math" panose="02040503050406030204" pitchFamily="18" charset="0"/>
                                          <a:ea typeface="Cambria Math" panose="02040503050406030204" pitchFamily="18" charset="0"/>
                                        </a:rPr>
                                        <m:t>𝜕</m:t>
                                      </m:r>
                                      <m:sSub>
                                        <m:sSubPr>
                                          <m:ctrlPr>
                                            <a:rPr lang="en-IN" sz="1300" i="1">
                                              <a:latin typeface="Cambria Math" panose="02040503050406030204" pitchFamily="18" charset="0"/>
                                              <a:ea typeface="Cambria Math" panose="02040503050406030204" pitchFamily="18" charset="0"/>
                                            </a:rPr>
                                          </m:ctrlPr>
                                        </m:sSubPr>
                                        <m:e>
                                          <m:acc>
                                            <m:accPr>
                                              <m:chr m:val="⃗"/>
                                              <m:ctrlPr>
                                                <a:rPr lang="en-IN" sz="1300" i="1">
                                                  <a:latin typeface="Cambria Math" panose="02040503050406030204" pitchFamily="18" charset="0"/>
                                                  <a:ea typeface="Cambria Math" panose="02040503050406030204" pitchFamily="18" charset="0"/>
                                                </a:rPr>
                                              </m:ctrlPr>
                                            </m:accPr>
                                            <m:e>
                                              <m:r>
                                                <a:rPr lang="en-IN" sz="1300" i="1">
                                                  <a:latin typeface="Cambria Math" panose="02040503050406030204" pitchFamily="18" charset="0"/>
                                                  <a:ea typeface="Cambria Math" panose="02040503050406030204" pitchFamily="18" charset="0"/>
                                                </a:rPr>
                                                <m:t>𝑥</m:t>
                                              </m:r>
                                            </m:e>
                                          </m:acc>
                                        </m:e>
                                        <m:sub>
                                          <m:r>
                                            <a:rPr lang="en-IN" sz="1300" i="1">
                                              <a:latin typeface="Cambria Math" panose="02040503050406030204" pitchFamily="18" charset="0"/>
                                              <a:ea typeface="Cambria Math" panose="02040503050406030204" pitchFamily="18" charset="0"/>
                                            </a:rPr>
                                            <m:t>𝑖</m:t>
                                          </m:r>
                                        </m:sub>
                                      </m:sSub>
                                    </m:den>
                                  </m:f>
                                </m:e>
                              </m:box>
                              <m:d>
                                <m:dPr>
                                  <m:ctrlPr>
                                    <a:rPr lang="en-IN" sz="1300" i="1">
                                      <a:latin typeface="Cambria Math" panose="02040503050406030204" pitchFamily="18" charset="0"/>
                                    </a:rPr>
                                  </m:ctrlPr>
                                </m:dPr>
                                <m:e>
                                  <m:acc>
                                    <m:accPr>
                                      <m:chr m:val="⃗"/>
                                      <m:ctrlPr>
                                        <a:rPr lang="en-US" sz="1300" i="1">
                                          <a:latin typeface="Cambria Math" panose="02040503050406030204" pitchFamily="18" charset="0"/>
                                        </a:rPr>
                                      </m:ctrlPr>
                                    </m:accPr>
                                    <m:e>
                                      <m:r>
                                        <a:rPr lang="en-US" sz="1300" i="1">
                                          <a:latin typeface="Cambria Math" panose="02040503050406030204" pitchFamily="18" charset="0"/>
                                        </a:rPr>
                                        <m:t>𝑥</m:t>
                                      </m:r>
                                    </m:e>
                                  </m:acc>
                                </m:e>
                              </m:d>
                              <m:r>
                                <a:rPr lang="en-IN" sz="1300" i="1">
                                  <a:latin typeface="Cambria Math" panose="02040503050406030204" pitchFamily="18" charset="0"/>
                                </a:rPr>
                                <m:t>&lt;0 </m:t>
                              </m:r>
                              <m:r>
                                <a:rPr lang="en-IN" sz="1300" i="1">
                                  <a:latin typeface="Cambria Math" panose="02040503050406030204" pitchFamily="18" charset="0"/>
                                </a:rPr>
                                <m:t>𝑜𝑟</m:t>
                              </m:r>
                              <m:r>
                                <a:rPr lang="en-IN" sz="1300" i="1">
                                  <a:latin typeface="Cambria Math" panose="02040503050406030204" pitchFamily="18" charset="0"/>
                                </a:rPr>
                                <m:t> </m:t>
                              </m:r>
                              <m:nary>
                                <m:naryPr>
                                  <m:chr m:val="∑"/>
                                  <m:limLoc m:val="subSup"/>
                                  <m:supHide m:val="on"/>
                                  <m:ctrlPr>
                                    <a:rPr lang="en-IN" sz="1300" i="1">
                                      <a:latin typeface="Cambria Math" panose="02040503050406030204" pitchFamily="18" charset="0"/>
                                    </a:rPr>
                                  </m:ctrlPr>
                                </m:naryPr>
                                <m:sub>
                                  <m:r>
                                    <m:rPr>
                                      <m:brk m:alnAt="9"/>
                                    </m:rPr>
                                    <a:rPr lang="en-IN" sz="1300" i="1">
                                      <a:latin typeface="Cambria Math" panose="02040503050406030204" pitchFamily="18" charset="0"/>
                                    </a:rPr>
                                    <m:t>𝑗</m:t>
                                  </m:r>
                                  <m:r>
                                    <a:rPr lang="en-IN" sz="1300" i="1">
                                      <a:latin typeface="Cambria Math" panose="02040503050406030204" pitchFamily="18" charset="0"/>
                                      <a:ea typeface="Cambria Math" panose="02040503050406030204" pitchFamily="18" charset="0"/>
                                    </a:rPr>
                                    <m:t>≠</m:t>
                                  </m:r>
                                  <m:r>
                                    <a:rPr lang="en-IN" sz="1300" i="1">
                                      <a:latin typeface="Cambria Math" panose="02040503050406030204" pitchFamily="18" charset="0"/>
                                      <a:ea typeface="Cambria Math" panose="02040503050406030204" pitchFamily="18" charset="0"/>
                                    </a:rPr>
                                    <m:t>𝑡</m:t>
                                  </m:r>
                                </m:sub>
                                <m:sup/>
                                <m:e>
                                  <m:box>
                                    <m:boxPr>
                                      <m:ctrlPr>
                                        <a:rPr lang="en-IN" sz="1300" i="1">
                                          <a:latin typeface="Cambria Math" panose="02040503050406030204" pitchFamily="18" charset="0"/>
                                        </a:rPr>
                                      </m:ctrlPr>
                                    </m:boxPr>
                                    <m:e>
                                      <m:argPr>
                                        <m:argSz m:val="-1"/>
                                      </m:argPr>
                                      <m:f>
                                        <m:fPr>
                                          <m:ctrlPr>
                                            <a:rPr lang="en-IN" sz="1300" i="1">
                                              <a:latin typeface="Cambria Math" panose="02040503050406030204" pitchFamily="18" charset="0"/>
                                            </a:rPr>
                                          </m:ctrlPr>
                                        </m:fPr>
                                        <m:num>
                                          <m:r>
                                            <a:rPr lang="en-IN" sz="1300" i="1">
                                              <a:latin typeface="Cambria Math" panose="02040503050406030204" pitchFamily="18" charset="0"/>
                                              <a:ea typeface="Cambria Math" panose="02040503050406030204" pitchFamily="18" charset="0"/>
                                            </a:rPr>
                                            <m:t>𝜕</m:t>
                                          </m:r>
                                          <m:sSub>
                                            <m:sSubPr>
                                              <m:ctrlPr>
                                                <a:rPr lang="en-IN" sz="1300" i="1">
                                                  <a:latin typeface="Cambria Math" panose="02040503050406030204" pitchFamily="18" charset="0"/>
                                                  <a:ea typeface="Cambria Math" panose="02040503050406030204" pitchFamily="18" charset="0"/>
                                                </a:rPr>
                                              </m:ctrlPr>
                                            </m:sSubPr>
                                            <m:e>
                                              <m:r>
                                                <a:rPr lang="en-IN" sz="1300" i="1">
                                                  <a:latin typeface="Cambria Math" panose="02040503050406030204" pitchFamily="18" charset="0"/>
                                                  <a:ea typeface="Cambria Math" panose="02040503050406030204" pitchFamily="18" charset="0"/>
                                                </a:rPr>
                                                <m:t>𝐹</m:t>
                                              </m:r>
                                            </m:e>
                                            <m:sub>
                                              <m:r>
                                                <a:rPr lang="en-IN" sz="1300" i="1">
                                                  <a:latin typeface="Cambria Math" panose="02040503050406030204" pitchFamily="18" charset="0"/>
                                                  <a:ea typeface="Cambria Math" panose="02040503050406030204" pitchFamily="18" charset="0"/>
                                                </a:rPr>
                                                <m:t>𝑗</m:t>
                                              </m:r>
                                            </m:sub>
                                          </m:sSub>
                                        </m:num>
                                        <m:den>
                                          <m:r>
                                            <a:rPr lang="en-IN" sz="1300" i="1">
                                              <a:latin typeface="Cambria Math" panose="02040503050406030204" pitchFamily="18" charset="0"/>
                                              <a:ea typeface="Cambria Math" panose="02040503050406030204" pitchFamily="18" charset="0"/>
                                            </a:rPr>
                                            <m:t>𝜕</m:t>
                                          </m:r>
                                          <m:sSub>
                                            <m:sSubPr>
                                              <m:ctrlPr>
                                                <a:rPr lang="en-IN" sz="1300" i="1">
                                                  <a:latin typeface="Cambria Math" panose="02040503050406030204" pitchFamily="18" charset="0"/>
                                                  <a:ea typeface="Cambria Math" panose="02040503050406030204" pitchFamily="18" charset="0"/>
                                                </a:rPr>
                                              </m:ctrlPr>
                                            </m:sSubPr>
                                            <m:e>
                                              <m:acc>
                                                <m:accPr>
                                                  <m:chr m:val="⃗"/>
                                                  <m:ctrlPr>
                                                    <a:rPr lang="en-IN" sz="1300" i="1">
                                                      <a:latin typeface="Cambria Math" panose="02040503050406030204" pitchFamily="18" charset="0"/>
                                                      <a:ea typeface="Cambria Math" panose="02040503050406030204" pitchFamily="18" charset="0"/>
                                                    </a:rPr>
                                                  </m:ctrlPr>
                                                </m:accPr>
                                                <m:e>
                                                  <m:r>
                                                    <a:rPr lang="en-IN" sz="1300" i="1">
                                                      <a:latin typeface="Cambria Math" panose="02040503050406030204" pitchFamily="18" charset="0"/>
                                                      <a:ea typeface="Cambria Math" panose="02040503050406030204" pitchFamily="18" charset="0"/>
                                                    </a:rPr>
                                                    <m:t>𝑥</m:t>
                                                  </m:r>
                                                </m:e>
                                              </m:acc>
                                            </m:e>
                                            <m:sub>
                                              <m:r>
                                                <a:rPr lang="en-IN" sz="1300" i="1">
                                                  <a:latin typeface="Cambria Math" panose="02040503050406030204" pitchFamily="18" charset="0"/>
                                                  <a:ea typeface="Cambria Math" panose="02040503050406030204" pitchFamily="18" charset="0"/>
                                                </a:rPr>
                                                <m:t>𝑖</m:t>
                                              </m:r>
                                            </m:sub>
                                          </m:sSub>
                                        </m:den>
                                      </m:f>
                                    </m:e>
                                  </m:box>
                                  <m:d>
                                    <m:dPr>
                                      <m:ctrlPr>
                                        <a:rPr lang="en-IN" sz="1300" i="1">
                                          <a:latin typeface="Cambria Math" panose="02040503050406030204" pitchFamily="18" charset="0"/>
                                        </a:rPr>
                                      </m:ctrlPr>
                                    </m:dPr>
                                    <m:e>
                                      <m:acc>
                                        <m:accPr>
                                          <m:chr m:val="⃗"/>
                                          <m:ctrlPr>
                                            <a:rPr lang="en-US" sz="1300" i="1">
                                              <a:latin typeface="Cambria Math" panose="02040503050406030204" pitchFamily="18" charset="0"/>
                                            </a:rPr>
                                          </m:ctrlPr>
                                        </m:accPr>
                                        <m:e>
                                          <m:r>
                                            <a:rPr lang="en-US" sz="1300" i="1">
                                              <a:latin typeface="Cambria Math" panose="02040503050406030204" pitchFamily="18" charset="0"/>
                                            </a:rPr>
                                            <m:t>𝑥</m:t>
                                          </m:r>
                                        </m:e>
                                      </m:acc>
                                    </m:e>
                                  </m:d>
                                </m:e>
                              </m:nary>
                              <m:r>
                                <a:rPr lang="en-IN" sz="1300" i="1">
                                  <a:latin typeface="Cambria Math" panose="02040503050406030204" pitchFamily="18" charset="0"/>
                                </a:rPr>
                                <m:t>&gt;0</m:t>
                              </m:r>
                            </m:e>
                            <m:e>
                              <m:box>
                                <m:boxPr>
                                  <m:ctrlPr>
                                    <a:rPr lang="en-IN" sz="1300" i="1">
                                      <a:latin typeface="Cambria Math" panose="02040503050406030204" pitchFamily="18" charset="0"/>
                                    </a:rPr>
                                  </m:ctrlPr>
                                </m:boxPr>
                                <m:e>
                                  <m:argPr>
                                    <m:argSz m:val="-1"/>
                                  </m:argPr>
                                  <m:f>
                                    <m:fPr>
                                      <m:ctrlPr>
                                        <a:rPr lang="en-IN" sz="1300" i="1">
                                          <a:latin typeface="Cambria Math" panose="02040503050406030204" pitchFamily="18" charset="0"/>
                                        </a:rPr>
                                      </m:ctrlPr>
                                    </m:fPr>
                                    <m:num>
                                      <m:r>
                                        <a:rPr lang="en-IN" sz="1300" i="1">
                                          <a:latin typeface="Cambria Math" panose="02040503050406030204" pitchFamily="18" charset="0"/>
                                          <a:ea typeface="Cambria Math" panose="02040503050406030204" pitchFamily="18" charset="0"/>
                                        </a:rPr>
                                        <m:t>𝜕</m:t>
                                      </m:r>
                                      <m:sSub>
                                        <m:sSubPr>
                                          <m:ctrlPr>
                                            <a:rPr lang="en-IN" sz="1300" i="1">
                                              <a:latin typeface="Cambria Math" panose="02040503050406030204" pitchFamily="18" charset="0"/>
                                              <a:ea typeface="Cambria Math" panose="02040503050406030204" pitchFamily="18" charset="0"/>
                                            </a:rPr>
                                          </m:ctrlPr>
                                        </m:sSubPr>
                                        <m:e>
                                          <m:r>
                                            <a:rPr lang="en-IN" sz="1300" i="1">
                                              <a:latin typeface="Cambria Math" panose="02040503050406030204" pitchFamily="18" charset="0"/>
                                              <a:ea typeface="Cambria Math" panose="02040503050406030204" pitchFamily="18" charset="0"/>
                                            </a:rPr>
                                            <m:t>𝐹</m:t>
                                          </m:r>
                                        </m:e>
                                        <m:sub>
                                          <m:r>
                                            <a:rPr lang="en-IN" sz="1300" i="1">
                                              <a:latin typeface="Cambria Math" panose="02040503050406030204" pitchFamily="18" charset="0"/>
                                              <a:ea typeface="Cambria Math" panose="02040503050406030204" pitchFamily="18" charset="0"/>
                                            </a:rPr>
                                            <m:t>𝑡</m:t>
                                          </m:r>
                                        </m:sub>
                                      </m:sSub>
                                    </m:num>
                                    <m:den>
                                      <m:r>
                                        <a:rPr lang="en-IN" sz="1300" i="1">
                                          <a:latin typeface="Cambria Math" panose="02040503050406030204" pitchFamily="18" charset="0"/>
                                          <a:ea typeface="Cambria Math" panose="02040503050406030204" pitchFamily="18" charset="0"/>
                                        </a:rPr>
                                        <m:t>𝜕</m:t>
                                      </m:r>
                                      <m:sSub>
                                        <m:sSubPr>
                                          <m:ctrlPr>
                                            <a:rPr lang="en-IN" sz="1300" i="1">
                                              <a:latin typeface="Cambria Math" panose="02040503050406030204" pitchFamily="18" charset="0"/>
                                              <a:ea typeface="Cambria Math" panose="02040503050406030204" pitchFamily="18" charset="0"/>
                                            </a:rPr>
                                          </m:ctrlPr>
                                        </m:sSubPr>
                                        <m:e>
                                          <m:acc>
                                            <m:accPr>
                                              <m:chr m:val="⃗"/>
                                              <m:ctrlPr>
                                                <a:rPr lang="en-IN" sz="1300" i="1">
                                                  <a:latin typeface="Cambria Math" panose="02040503050406030204" pitchFamily="18" charset="0"/>
                                                  <a:ea typeface="Cambria Math" panose="02040503050406030204" pitchFamily="18" charset="0"/>
                                                </a:rPr>
                                              </m:ctrlPr>
                                            </m:accPr>
                                            <m:e>
                                              <m:r>
                                                <a:rPr lang="en-IN" sz="1300" i="1">
                                                  <a:latin typeface="Cambria Math" panose="02040503050406030204" pitchFamily="18" charset="0"/>
                                                  <a:ea typeface="Cambria Math" panose="02040503050406030204" pitchFamily="18" charset="0"/>
                                                </a:rPr>
                                                <m:t>𝑥</m:t>
                                              </m:r>
                                            </m:e>
                                          </m:acc>
                                        </m:e>
                                        <m:sub>
                                          <m:r>
                                            <a:rPr lang="en-IN" sz="1300" i="1">
                                              <a:latin typeface="Cambria Math" panose="02040503050406030204" pitchFamily="18" charset="0"/>
                                              <a:ea typeface="Cambria Math" panose="02040503050406030204" pitchFamily="18" charset="0"/>
                                            </a:rPr>
                                            <m:t>𝑖</m:t>
                                          </m:r>
                                        </m:sub>
                                      </m:sSub>
                                    </m:den>
                                  </m:f>
                                </m:e>
                              </m:box>
                              <m:d>
                                <m:dPr>
                                  <m:ctrlPr>
                                    <a:rPr lang="en-IN" sz="1300" i="1">
                                      <a:latin typeface="Cambria Math" panose="02040503050406030204" pitchFamily="18" charset="0"/>
                                    </a:rPr>
                                  </m:ctrlPr>
                                </m:dPr>
                                <m:e>
                                  <m:acc>
                                    <m:accPr>
                                      <m:chr m:val="⃗"/>
                                      <m:ctrlPr>
                                        <a:rPr lang="en-US" sz="1300" i="1">
                                          <a:latin typeface="Cambria Math" panose="02040503050406030204" pitchFamily="18" charset="0"/>
                                        </a:rPr>
                                      </m:ctrlPr>
                                    </m:accPr>
                                    <m:e>
                                      <m:r>
                                        <a:rPr lang="en-US" sz="1300" i="1">
                                          <a:latin typeface="Cambria Math" panose="02040503050406030204" pitchFamily="18" charset="0"/>
                                        </a:rPr>
                                        <m:t>𝑥</m:t>
                                      </m:r>
                                    </m:e>
                                  </m:acc>
                                </m:e>
                              </m:d>
                              <m:d>
                                <m:dPr>
                                  <m:begChr m:val="|"/>
                                  <m:endChr m:val="|"/>
                                  <m:ctrlPr>
                                    <a:rPr lang="en-US" sz="1300" i="1">
                                      <a:latin typeface="Cambria Math" panose="02040503050406030204" pitchFamily="18" charset="0"/>
                                    </a:rPr>
                                  </m:ctrlPr>
                                </m:dPr>
                                <m:e>
                                  <m:nary>
                                    <m:naryPr>
                                      <m:chr m:val="∑"/>
                                      <m:limLoc m:val="subSup"/>
                                      <m:supHide m:val="on"/>
                                      <m:ctrlPr>
                                        <a:rPr lang="en-IN" sz="1300" i="1">
                                          <a:latin typeface="Cambria Math" panose="02040503050406030204" pitchFamily="18" charset="0"/>
                                        </a:rPr>
                                      </m:ctrlPr>
                                    </m:naryPr>
                                    <m:sub>
                                      <m:r>
                                        <m:rPr>
                                          <m:brk m:alnAt="9"/>
                                        </m:rPr>
                                        <a:rPr lang="en-IN" sz="1300" i="1">
                                          <a:latin typeface="Cambria Math" panose="02040503050406030204" pitchFamily="18" charset="0"/>
                                        </a:rPr>
                                        <m:t>𝑗</m:t>
                                      </m:r>
                                      <m:r>
                                        <a:rPr lang="en-IN" sz="1300" i="1">
                                          <a:latin typeface="Cambria Math" panose="02040503050406030204" pitchFamily="18" charset="0"/>
                                          <a:ea typeface="Cambria Math" panose="02040503050406030204" pitchFamily="18" charset="0"/>
                                        </a:rPr>
                                        <m:t>≠</m:t>
                                      </m:r>
                                      <m:r>
                                        <a:rPr lang="en-IN" sz="1300" i="1">
                                          <a:latin typeface="Cambria Math" panose="02040503050406030204" pitchFamily="18" charset="0"/>
                                          <a:ea typeface="Cambria Math" panose="02040503050406030204" pitchFamily="18" charset="0"/>
                                        </a:rPr>
                                        <m:t>𝑡</m:t>
                                      </m:r>
                                    </m:sub>
                                    <m:sup/>
                                    <m:e>
                                      <m:box>
                                        <m:boxPr>
                                          <m:ctrlPr>
                                            <a:rPr lang="en-IN" sz="1300" i="1">
                                              <a:latin typeface="Cambria Math" panose="02040503050406030204" pitchFamily="18" charset="0"/>
                                            </a:rPr>
                                          </m:ctrlPr>
                                        </m:boxPr>
                                        <m:e>
                                          <m:argPr>
                                            <m:argSz m:val="-1"/>
                                          </m:argPr>
                                          <m:f>
                                            <m:fPr>
                                              <m:ctrlPr>
                                                <a:rPr lang="en-IN" sz="1300" i="1">
                                                  <a:latin typeface="Cambria Math" panose="02040503050406030204" pitchFamily="18" charset="0"/>
                                                </a:rPr>
                                              </m:ctrlPr>
                                            </m:fPr>
                                            <m:num>
                                              <m:r>
                                                <a:rPr lang="en-IN" sz="1300" i="1">
                                                  <a:latin typeface="Cambria Math" panose="02040503050406030204" pitchFamily="18" charset="0"/>
                                                  <a:ea typeface="Cambria Math" panose="02040503050406030204" pitchFamily="18" charset="0"/>
                                                </a:rPr>
                                                <m:t>𝜕</m:t>
                                              </m:r>
                                              <m:sSub>
                                                <m:sSubPr>
                                                  <m:ctrlPr>
                                                    <a:rPr lang="en-IN" sz="1300" i="1">
                                                      <a:latin typeface="Cambria Math" panose="02040503050406030204" pitchFamily="18" charset="0"/>
                                                      <a:ea typeface="Cambria Math" panose="02040503050406030204" pitchFamily="18" charset="0"/>
                                                    </a:rPr>
                                                  </m:ctrlPr>
                                                </m:sSubPr>
                                                <m:e>
                                                  <m:r>
                                                    <a:rPr lang="en-IN" sz="1300" i="1">
                                                      <a:latin typeface="Cambria Math" panose="02040503050406030204" pitchFamily="18" charset="0"/>
                                                      <a:ea typeface="Cambria Math" panose="02040503050406030204" pitchFamily="18" charset="0"/>
                                                    </a:rPr>
                                                    <m:t>𝐹</m:t>
                                                  </m:r>
                                                </m:e>
                                                <m:sub>
                                                  <m:r>
                                                    <a:rPr lang="en-IN" sz="1300" i="1">
                                                      <a:latin typeface="Cambria Math" panose="02040503050406030204" pitchFamily="18" charset="0"/>
                                                      <a:ea typeface="Cambria Math" panose="02040503050406030204" pitchFamily="18" charset="0"/>
                                                    </a:rPr>
                                                    <m:t>𝑗</m:t>
                                                  </m:r>
                                                </m:sub>
                                              </m:sSub>
                                            </m:num>
                                            <m:den>
                                              <m:r>
                                                <a:rPr lang="en-IN" sz="1300" i="1">
                                                  <a:latin typeface="Cambria Math" panose="02040503050406030204" pitchFamily="18" charset="0"/>
                                                  <a:ea typeface="Cambria Math" panose="02040503050406030204" pitchFamily="18" charset="0"/>
                                                </a:rPr>
                                                <m:t>𝜕</m:t>
                                              </m:r>
                                              <m:sSub>
                                                <m:sSubPr>
                                                  <m:ctrlPr>
                                                    <a:rPr lang="en-IN" sz="1300" i="1">
                                                      <a:latin typeface="Cambria Math" panose="02040503050406030204" pitchFamily="18" charset="0"/>
                                                      <a:ea typeface="Cambria Math" panose="02040503050406030204" pitchFamily="18" charset="0"/>
                                                    </a:rPr>
                                                  </m:ctrlPr>
                                                </m:sSubPr>
                                                <m:e>
                                                  <m:acc>
                                                    <m:accPr>
                                                      <m:chr m:val="⃗"/>
                                                      <m:ctrlPr>
                                                        <a:rPr lang="en-IN" sz="1300" i="1">
                                                          <a:latin typeface="Cambria Math" panose="02040503050406030204" pitchFamily="18" charset="0"/>
                                                          <a:ea typeface="Cambria Math" panose="02040503050406030204" pitchFamily="18" charset="0"/>
                                                        </a:rPr>
                                                      </m:ctrlPr>
                                                    </m:accPr>
                                                    <m:e>
                                                      <m:r>
                                                        <a:rPr lang="en-IN" sz="1300" i="1">
                                                          <a:latin typeface="Cambria Math" panose="02040503050406030204" pitchFamily="18" charset="0"/>
                                                          <a:ea typeface="Cambria Math" panose="02040503050406030204" pitchFamily="18" charset="0"/>
                                                        </a:rPr>
                                                        <m:t>𝑥</m:t>
                                                      </m:r>
                                                    </m:e>
                                                  </m:acc>
                                                </m:e>
                                                <m:sub>
                                                  <m:r>
                                                    <a:rPr lang="en-IN" sz="1300" i="1">
                                                      <a:latin typeface="Cambria Math" panose="02040503050406030204" pitchFamily="18" charset="0"/>
                                                      <a:ea typeface="Cambria Math" panose="02040503050406030204" pitchFamily="18" charset="0"/>
                                                    </a:rPr>
                                                    <m:t>𝑖</m:t>
                                                  </m:r>
                                                </m:sub>
                                              </m:sSub>
                                            </m:den>
                                          </m:f>
                                        </m:e>
                                      </m:box>
                                      <m:d>
                                        <m:dPr>
                                          <m:ctrlPr>
                                            <a:rPr lang="en-IN" sz="1300" i="1">
                                              <a:latin typeface="Cambria Math" panose="02040503050406030204" pitchFamily="18" charset="0"/>
                                            </a:rPr>
                                          </m:ctrlPr>
                                        </m:dPr>
                                        <m:e>
                                          <m:acc>
                                            <m:accPr>
                                              <m:chr m:val="⃗"/>
                                              <m:ctrlPr>
                                                <a:rPr lang="en-US" sz="1300" i="1">
                                                  <a:latin typeface="Cambria Math" panose="02040503050406030204" pitchFamily="18" charset="0"/>
                                                </a:rPr>
                                              </m:ctrlPr>
                                            </m:accPr>
                                            <m:e>
                                              <m:r>
                                                <a:rPr lang="en-US" sz="1300" i="1">
                                                  <a:latin typeface="Cambria Math" panose="02040503050406030204" pitchFamily="18" charset="0"/>
                                                </a:rPr>
                                                <m:t>𝑥</m:t>
                                              </m:r>
                                            </m:e>
                                          </m:acc>
                                        </m:e>
                                      </m:d>
                                    </m:e>
                                  </m:nary>
                                </m:e>
                              </m:d>
                              <m:r>
                                <a:rPr lang="en-IN" sz="1300" i="1">
                                  <a:latin typeface="Cambria Math" panose="02040503050406030204" pitchFamily="18" charset="0"/>
                                </a:rPr>
                                <m:t> </m:t>
                              </m:r>
                              <m:r>
                                <a:rPr lang="en-IN" sz="1300" i="1">
                                  <a:latin typeface="Cambria Math" panose="02040503050406030204" pitchFamily="18" charset="0"/>
                                </a:rPr>
                                <m:t>𝑜𝑡h𝑒𝑟𝑤𝑖𝑠𝑒</m:t>
                              </m:r>
                            </m:e>
                          </m:eqArr>
                        </m:e>
                      </m:d>
                    </m:oMath>
                  </m:oMathPara>
                </a14:m>
                <a:endParaRPr lang="en-GB" dirty="0"/>
              </a:p>
              <a:p>
                <a:pPr lvl="2" algn="just"/>
                <a:r>
                  <a:rPr lang="en-GB" dirty="0"/>
                  <a:t>Matrix </a:t>
                </a:r>
                <a14:m>
                  <m:oMath xmlns:m="http://schemas.openxmlformats.org/officeDocument/2006/math">
                    <m:sSub>
                      <m:sSubPr>
                        <m:ctrlPr>
                          <a:rPr lang="en-GB" i="1" smtClean="0">
                            <a:latin typeface="Cambria Math" panose="02040503050406030204" pitchFamily="18" charset="0"/>
                          </a:rPr>
                        </m:ctrlPr>
                      </m:sSubPr>
                      <m:e>
                        <m:r>
                          <a:rPr lang="en-IN" b="0" i="1" smtClean="0">
                            <a:latin typeface="Cambria Math" panose="02040503050406030204" pitchFamily="18" charset="0"/>
                          </a:rPr>
                          <m:t>𝐽</m:t>
                        </m:r>
                      </m:e>
                      <m:sub>
                        <m:r>
                          <a:rPr lang="en-IN" b="0" i="1" smtClean="0">
                            <a:latin typeface="Cambria Math" panose="02040503050406030204" pitchFamily="18" charset="0"/>
                          </a:rPr>
                          <m:t>𝐹</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d>
                          <m:dPr>
                            <m:begChr m:val="["/>
                            <m:endChr m:val="]"/>
                            <m:ctrlPr>
                              <a:rPr lang="en-IN" i="1">
                                <a:latin typeface="Cambria Math" panose="02040503050406030204" pitchFamily="18" charset="0"/>
                              </a:rPr>
                            </m:ctrlPr>
                          </m:dPr>
                          <m:e>
                            <m:box>
                              <m:boxPr>
                                <m:ctrlPr>
                                  <a:rPr lang="en-IN" i="1">
                                    <a:latin typeface="Cambria Math" panose="02040503050406030204" pitchFamily="18" charset="0"/>
                                  </a:rPr>
                                </m:ctrlPr>
                              </m:boxPr>
                              <m:e>
                                <m:argPr>
                                  <m:argSz m:val="-1"/>
                                </m:argPr>
                                <m:f>
                                  <m:fPr>
                                    <m:ctrlPr>
                                      <a:rPr lang="en-IN" i="1">
                                        <a:latin typeface="Cambria Math" panose="02040503050406030204" pitchFamily="18" charset="0"/>
                                      </a:rPr>
                                    </m:ctrlPr>
                                  </m:fPr>
                                  <m:num>
                                    <m:r>
                                      <a:rPr lang="en-IN" i="1">
                                        <a:latin typeface="Cambria Math" panose="02040503050406030204" pitchFamily="18" charset="0"/>
                                        <a:ea typeface="Cambria Math" panose="02040503050406030204" pitchFamily="18" charset="0"/>
                                      </a:rPr>
                                      <m:t>𝜕</m:t>
                                    </m:r>
                                    <m:sSub>
                                      <m:sSubPr>
                                        <m:ctrlPr>
                                          <a:rPr lang="en-IN" i="1">
                                            <a:latin typeface="Cambria Math" panose="02040503050406030204" pitchFamily="18" charset="0"/>
                                            <a:ea typeface="Cambria Math" panose="02040503050406030204" pitchFamily="18" charset="0"/>
                                          </a:rPr>
                                        </m:ctrlPr>
                                      </m:sSubPr>
                                      <m:e>
                                        <m:r>
                                          <a:rPr lang="en-IN" i="1">
                                            <a:latin typeface="Cambria Math" panose="02040503050406030204" pitchFamily="18" charset="0"/>
                                            <a:ea typeface="Cambria Math" panose="02040503050406030204" pitchFamily="18" charset="0"/>
                                          </a:rPr>
                                          <m:t>𝐹</m:t>
                                        </m:r>
                                      </m:e>
                                      <m:sub>
                                        <m:r>
                                          <a:rPr lang="en-IN" i="1">
                                            <a:latin typeface="Cambria Math" panose="02040503050406030204" pitchFamily="18" charset="0"/>
                                            <a:ea typeface="Cambria Math" panose="02040503050406030204" pitchFamily="18" charset="0"/>
                                          </a:rPr>
                                          <m:t>𝑗</m:t>
                                        </m:r>
                                      </m:sub>
                                    </m:sSub>
                                  </m:num>
                                  <m:den>
                                    <m:r>
                                      <a:rPr lang="en-IN" i="1">
                                        <a:latin typeface="Cambria Math" panose="02040503050406030204" pitchFamily="18" charset="0"/>
                                        <a:ea typeface="Cambria Math" panose="02040503050406030204" pitchFamily="18" charset="0"/>
                                      </a:rPr>
                                      <m:t>𝜕</m:t>
                                    </m:r>
                                    <m:sSub>
                                      <m:sSubPr>
                                        <m:ctrlPr>
                                          <a:rPr lang="en-IN" i="1">
                                            <a:latin typeface="Cambria Math" panose="02040503050406030204" pitchFamily="18" charset="0"/>
                                            <a:ea typeface="Cambria Math" panose="02040503050406030204" pitchFamily="18" charset="0"/>
                                          </a:rPr>
                                        </m:ctrlPr>
                                      </m:sSubPr>
                                      <m:e>
                                        <m:r>
                                          <a:rPr lang="en-IN" i="1">
                                            <a:latin typeface="Cambria Math" panose="02040503050406030204" pitchFamily="18" charset="0"/>
                                            <a:ea typeface="Cambria Math" panose="02040503050406030204" pitchFamily="18" charset="0"/>
                                          </a:rPr>
                                          <m:t>𝑥</m:t>
                                        </m:r>
                                      </m:e>
                                      <m:sub>
                                        <m:r>
                                          <a:rPr lang="en-IN" i="1">
                                            <a:latin typeface="Cambria Math" panose="02040503050406030204" pitchFamily="18" charset="0"/>
                                            <a:ea typeface="Cambria Math" panose="02040503050406030204" pitchFamily="18" charset="0"/>
                                          </a:rPr>
                                          <m:t>𝑖</m:t>
                                        </m:r>
                                      </m:sub>
                                    </m:sSub>
                                  </m:den>
                                </m:f>
                              </m:e>
                            </m:box>
                          </m:e>
                        </m:d>
                      </m:e>
                      <m:sub>
                        <m:r>
                          <a:rPr lang="en-IN" b="0" i="1" smtClean="0">
                            <a:latin typeface="Cambria Math" panose="02040503050406030204" pitchFamily="18" charset="0"/>
                          </a:rPr>
                          <m:t>𝑖𝑗</m:t>
                        </m:r>
                      </m:sub>
                    </m:sSub>
                  </m:oMath>
                </a14:m>
                <a:r>
                  <a:rPr lang="en-GB" dirty="0"/>
                  <a:t> is the model’s Jacobian Matrix</a:t>
                </a:r>
              </a:p>
              <a:p>
                <a:pPr lvl="2" algn="just"/>
                <a:r>
                  <a:rPr lang="en-GB" dirty="0"/>
                  <a:t>Input components </a:t>
                </a:r>
                <a14:m>
                  <m:oMath xmlns:m="http://schemas.openxmlformats.org/officeDocument/2006/math">
                    <m:r>
                      <a:rPr lang="en-GB" i="1" dirty="0" smtClean="0">
                        <a:latin typeface="Cambria Math" panose="02040503050406030204" pitchFamily="18" charset="0"/>
                      </a:rPr>
                      <m:t>𝑖</m:t>
                    </m:r>
                  </m:oMath>
                </a14:m>
                <a:r>
                  <a:rPr lang="en-GB" dirty="0"/>
                  <a:t> are added to perturbation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acc>
                          <m:accPr>
                            <m:chr m:val="⃗"/>
                            <m:ctrlPr>
                              <a:rPr lang="en-US" i="1">
                                <a:latin typeface="Cambria Math" panose="02040503050406030204" pitchFamily="18" charset="0"/>
                              </a:rPr>
                            </m:ctrlPr>
                          </m:accPr>
                          <m:e>
                            <m:r>
                              <a:rPr lang="en-US" i="1">
                                <a:latin typeface="Cambria Math" panose="02040503050406030204" pitchFamily="18" charset="0"/>
                              </a:rPr>
                              <m:t>𝑥</m:t>
                            </m:r>
                          </m:e>
                        </m:acc>
                      </m:sub>
                    </m:sSub>
                  </m:oMath>
                </a14:m>
                <a:r>
                  <a:rPr lang="en-GB" dirty="0"/>
                  <a:t> in order of decreasing adversarial saliency value </a:t>
                </a:r>
                <a14:m>
                  <m:oMath xmlns:m="http://schemas.openxmlformats.org/officeDocument/2006/math">
                    <m:r>
                      <a:rPr lang="en-IN" i="1">
                        <a:latin typeface="Cambria Math" panose="02040503050406030204" pitchFamily="18" charset="0"/>
                      </a:rPr>
                      <m:t>𝑆</m:t>
                    </m:r>
                    <m:d>
                      <m:dPr>
                        <m:ctrlPr>
                          <a:rPr lang="en-IN"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IN" i="1">
                            <a:latin typeface="Cambria Math" panose="02040503050406030204" pitchFamily="18" charset="0"/>
                          </a:rPr>
                          <m:t>, </m:t>
                        </m:r>
                        <m:r>
                          <a:rPr lang="en-IN" i="1">
                            <a:latin typeface="Cambria Math" panose="02040503050406030204" pitchFamily="18" charset="0"/>
                          </a:rPr>
                          <m:t>𝑡</m:t>
                        </m:r>
                      </m:e>
                    </m:d>
                    <m:d>
                      <m:dPr>
                        <m:begChr m:val="["/>
                        <m:endChr m:val="]"/>
                        <m:ctrlPr>
                          <a:rPr lang="en-IN" i="1">
                            <a:latin typeface="Cambria Math" panose="02040503050406030204" pitchFamily="18" charset="0"/>
                          </a:rPr>
                        </m:ctrlPr>
                      </m:dPr>
                      <m:e>
                        <m:r>
                          <a:rPr lang="en-IN" i="1">
                            <a:latin typeface="Cambria Math" panose="02040503050406030204" pitchFamily="18" charset="0"/>
                          </a:rPr>
                          <m:t>𝑖</m:t>
                        </m:r>
                      </m:e>
                    </m:d>
                  </m:oMath>
                </a14:m>
                <a:r>
                  <a:rPr lang="en-GB" dirty="0"/>
                  <a:t> until the resulting adversarial sample </a:t>
                </a:r>
                <a14:m>
                  <m:oMath xmlns:m="http://schemas.openxmlformats.org/officeDocument/2006/math">
                    <m:sSup>
                      <m:sSupPr>
                        <m:ctrlPr>
                          <a:rPr lang="en-SG" i="1">
                            <a:latin typeface="Cambria Math" panose="02040503050406030204" pitchFamily="18" charset="0"/>
                          </a:rPr>
                        </m:ctrlPr>
                      </m:sSupPr>
                      <m:e>
                        <m:acc>
                          <m:accPr>
                            <m:chr m:val="⃗"/>
                            <m:ctrlPr>
                              <a:rPr lang="en-SG" i="1">
                                <a:latin typeface="Cambria Math" panose="02040503050406030204" pitchFamily="18" charset="0"/>
                              </a:rPr>
                            </m:ctrlPr>
                          </m:accPr>
                          <m:e>
                            <m:r>
                              <a:rPr lang="en-US" i="1">
                                <a:latin typeface="Cambria Math" panose="02040503050406030204" pitchFamily="18" charset="0"/>
                              </a:rPr>
                              <m:t>𝑥</m:t>
                            </m:r>
                          </m:e>
                        </m:acc>
                      </m:e>
                      <m:sup>
                        <m:r>
                          <a:rPr lang="en-US" i="1">
                            <a:latin typeface="Cambria Math" panose="02040503050406030204" pitchFamily="18" charset="0"/>
                          </a:rPr>
                          <m:t>∗</m:t>
                        </m:r>
                      </m:sup>
                    </m:sSup>
                    <m:r>
                      <a:rPr lang="en-IN"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𝛿</m:t>
                        </m:r>
                      </m:e>
                      <m:sub>
                        <m:acc>
                          <m:accPr>
                            <m:chr m:val="⃗"/>
                            <m:ctrlPr>
                              <a:rPr lang="en-US" i="1">
                                <a:latin typeface="Cambria Math" panose="02040503050406030204" pitchFamily="18" charset="0"/>
                              </a:rPr>
                            </m:ctrlPr>
                          </m:accPr>
                          <m:e>
                            <m:r>
                              <a:rPr lang="en-US" i="1">
                                <a:latin typeface="Cambria Math" panose="02040503050406030204" pitchFamily="18" charset="0"/>
                              </a:rPr>
                              <m:t>𝑥</m:t>
                            </m:r>
                          </m:e>
                        </m:acc>
                      </m:sub>
                    </m:sSub>
                    <m:r>
                      <a:rPr lang="en-US" i="1">
                        <a:latin typeface="Cambria Math" panose="02040503050406030204" pitchFamily="18" charset="0"/>
                      </a:rPr>
                      <m:t> </m:t>
                    </m:r>
                  </m:oMath>
                </a14:m>
                <a:r>
                  <a:rPr lang="en-GB" dirty="0"/>
                  <a:t> is misclassified by </a:t>
                </a:r>
                <a14:m>
                  <m:oMath xmlns:m="http://schemas.openxmlformats.org/officeDocument/2006/math">
                    <m:r>
                      <a:rPr lang="en-GB" i="1" dirty="0" smtClean="0">
                        <a:latin typeface="Cambria Math" panose="02040503050406030204" pitchFamily="18" charset="0"/>
                      </a:rPr>
                      <m:t>𝐹</m:t>
                    </m:r>
                  </m:oMath>
                </a14:m>
                <a:r>
                  <a:rPr lang="en-GB" dirty="0"/>
                  <a:t>.</a:t>
                </a:r>
              </a:p>
              <a:p>
                <a:pPr lvl="3" algn="just"/>
                <a:r>
                  <a:rPr lang="en-GB" dirty="0"/>
                  <a:t>The perturbation introduced for each selected input component can vary - greater perturbation reduce the number of components perturbed to achieve misclassification.</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589212" y="1274410"/>
                <a:ext cx="8915400" cy="4636812"/>
              </a:xfrm>
              <a:blipFill>
                <a:blip r:embed="rId3"/>
                <a:stretch>
                  <a:fillRect l="-342" t="-263" r="-68"/>
                </a:stretch>
              </a:blipFill>
            </p:spPr>
            <p:txBody>
              <a:bodyPr/>
              <a:lstStyle/>
              <a:p>
                <a:r>
                  <a:rPr lang="en-IN">
                    <a:noFill/>
                  </a:rPr>
                  <a:t> </a:t>
                </a:r>
              </a:p>
            </p:txBody>
          </p:sp>
        </mc:Fallback>
      </mc:AlternateContent>
      <p:sp>
        <p:nvSpPr>
          <p:cNvPr id="24" name="Date Placeholder 23"/>
          <p:cNvSpPr>
            <a:spLocks noGrp="1"/>
          </p:cNvSpPr>
          <p:nvPr>
            <p:ph type="dt" sz="half" idx="10"/>
          </p:nvPr>
        </p:nvSpPr>
        <p:spPr/>
        <p:txBody>
          <a:bodyPr/>
          <a:lstStyle/>
          <a:p>
            <a:fld id="{2EFB6F28-65EE-44D6-BFFE-56AB02E1ABA6}" type="datetime1">
              <a:rPr lang="en-US" smtClean="0"/>
              <a:t>9/5/2017</a:t>
            </a:fld>
            <a:endParaRPr lang="en-US" dirty="0"/>
          </a:p>
        </p:txBody>
      </p:sp>
      <p:sp>
        <p:nvSpPr>
          <p:cNvPr id="26" name="Slide Number Placeholder 25"/>
          <p:cNvSpPr>
            <a:spLocks noGrp="1"/>
          </p:cNvSpPr>
          <p:nvPr>
            <p:ph type="sldNum" sz="quarter" idx="12"/>
          </p:nvPr>
        </p:nvSpPr>
        <p:spPr/>
        <p:txBody>
          <a:bodyPr/>
          <a:lstStyle/>
          <a:p>
            <a:fld id="{D57F1E4F-1CFF-5643-939E-217C01CDF565}" type="slidenum">
              <a:rPr lang="en-US" smtClean="0"/>
              <a:pPr/>
              <a:t>15</a:t>
            </a:fld>
            <a:endParaRPr lang="en-US" dirty="0"/>
          </a:p>
        </p:txBody>
      </p:sp>
      <p:sp>
        <p:nvSpPr>
          <p:cNvPr id="17" name="TextBox 16"/>
          <p:cNvSpPr txBox="1"/>
          <p:nvPr/>
        </p:nvSpPr>
        <p:spPr>
          <a:xfrm>
            <a:off x="2589212" y="6465498"/>
            <a:ext cx="8915400" cy="272415"/>
          </a:xfrm>
          <a:prstGeom prst="roundRect">
            <a:avLst/>
          </a:prstGeom>
          <a:solidFill>
            <a:srgbClr val="2E5369"/>
          </a:solidFill>
        </p:spPr>
        <p:txBody>
          <a:bodyPr wrap="square" rtlCol="0">
            <a:spAutoFit/>
          </a:bodyPr>
          <a:lstStyle/>
          <a:p>
            <a:pPr algn="ctr"/>
            <a:r>
              <a:rPr lang="en-GB" sz="1000" dirty="0">
                <a:solidFill>
                  <a:schemeClr val="bg1"/>
                </a:solidFill>
              </a:rPr>
              <a:t>The limitations of deep learning in adversarial settings – </a:t>
            </a:r>
            <a:r>
              <a:rPr lang="en-US" sz="1000" dirty="0">
                <a:solidFill>
                  <a:schemeClr val="bg1"/>
                </a:solidFill>
              </a:rPr>
              <a:t>Papernot et. al., Euro S&amp;P ‘16</a:t>
            </a:r>
            <a:endParaRPr lang="en-GB" sz="1000" dirty="0">
              <a:solidFill>
                <a:schemeClr val="bg1"/>
              </a:solidFill>
            </a:endParaRPr>
          </a:p>
        </p:txBody>
      </p:sp>
      <p:sp>
        <p:nvSpPr>
          <p:cNvPr id="7" name="TextBox 6">
            <a:extLst>
              <a:ext uri="{FF2B5EF4-FFF2-40B4-BE49-F238E27FC236}">
                <a16:creationId xmlns:a16="http://schemas.microsoft.com/office/drawing/2014/main" id="{F9EFF882-BB6F-4CAC-85DC-B6CF9012B92C}"/>
              </a:ext>
            </a:extLst>
          </p:cNvPr>
          <p:cNvSpPr txBox="1"/>
          <p:nvPr/>
        </p:nvSpPr>
        <p:spPr>
          <a:xfrm>
            <a:off x="2589212" y="6175831"/>
            <a:ext cx="8915400" cy="272415"/>
          </a:xfrm>
          <a:prstGeom prst="roundRect">
            <a:avLst/>
          </a:prstGeom>
          <a:solidFill>
            <a:srgbClr val="2E5369"/>
          </a:solidFill>
        </p:spPr>
        <p:txBody>
          <a:bodyPr wrap="square" rtlCol="0">
            <a:spAutoFit/>
          </a:bodyPr>
          <a:lstStyle/>
          <a:p>
            <a:pPr algn="ctr"/>
            <a:r>
              <a:rPr lang="en-SG" sz="1000" dirty="0">
                <a:solidFill>
                  <a:schemeClr val="bg1"/>
                </a:solidFill>
              </a:rPr>
              <a:t>Practical Black-Box Attacks against Machine Learning – </a:t>
            </a:r>
            <a:r>
              <a:rPr lang="en-US" sz="1000" dirty="0">
                <a:solidFill>
                  <a:schemeClr val="bg1"/>
                </a:solidFill>
              </a:rPr>
              <a:t>Papernot et. al., ASIA CCS ‘17</a:t>
            </a:r>
          </a:p>
        </p:txBody>
      </p:sp>
    </p:spTree>
    <p:extLst>
      <p:ext uri="{BB962C8B-B14F-4D97-AF65-F5344CB8AC3E}">
        <p14:creationId xmlns:p14="http://schemas.microsoft.com/office/powerpoint/2010/main" val="1488523245"/>
      </p:ext>
    </p:extLst>
  </p:cSld>
  <p:clrMapOvr>
    <a:masterClrMapping/>
  </p:clrMapOvr>
  <mc:AlternateContent xmlns:mc="http://schemas.openxmlformats.org/markup-compatibility/2006">
    <mc:Choice xmlns:p14="http://schemas.microsoft.com/office/powerpoint/2010/main" Requires="p14">
      <p:transition p14:dur="250">
        <p:push/>
      </p:transition>
    </mc:Choice>
    <mc:Fallback>
      <p:transition>
        <p:push/>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300"/>
          </a:xfrm>
        </p:spPr>
        <p:txBody>
          <a:bodyPr/>
          <a:lstStyle/>
          <a:p>
            <a:r>
              <a:rPr lang="en-US" dirty="0"/>
              <a:t>Validation of the Attack</a:t>
            </a:r>
          </a:p>
        </p:txBody>
      </p:sp>
      <p:sp>
        <p:nvSpPr>
          <p:cNvPr id="3" name="Content Placeholder 2"/>
          <p:cNvSpPr>
            <a:spLocks noGrp="1"/>
          </p:cNvSpPr>
          <p:nvPr>
            <p:ph idx="1"/>
          </p:nvPr>
        </p:nvSpPr>
        <p:spPr>
          <a:xfrm>
            <a:off x="2589212" y="1274410"/>
            <a:ext cx="8915400" cy="4636812"/>
          </a:xfrm>
        </p:spPr>
        <p:txBody>
          <a:bodyPr>
            <a:normAutofit/>
          </a:bodyPr>
          <a:lstStyle/>
          <a:p>
            <a:pPr algn="just"/>
            <a:r>
              <a:rPr lang="en-GB" dirty="0"/>
              <a:t>Remote Classifier</a:t>
            </a:r>
          </a:p>
          <a:p>
            <a:pPr lvl="1" algn="just"/>
            <a:r>
              <a:rPr lang="en-GB" dirty="0"/>
              <a:t>A DNN remotely provided by MetaMind, through their API that allows a user to train classifiers using deep learning. </a:t>
            </a:r>
          </a:p>
          <a:p>
            <a:pPr lvl="1" algn="just"/>
            <a:r>
              <a:rPr lang="en-GB" dirty="0"/>
              <a:t>The API returns labels produced by the DNN for any given input but does not provide access to the DNN.</a:t>
            </a:r>
          </a:p>
          <a:p>
            <a:pPr lvl="1" algn="just"/>
            <a:r>
              <a:rPr lang="en-GB" dirty="0"/>
              <a:t>An adversary using this attack can reliably force the DNN trained using MetaMind on MNIST to misclassify </a:t>
            </a:r>
            <a:r>
              <a:rPr lang="en-GB" b="1" i="1" dirty="0"/>
              <a:t>84.24%</a:t>
            </a:r>
            <a:r>
              <a:rPr lang="en-GB" dirty="0"/>
              <a:t> of adversarial examples crafted with a perturbation not affecting human recognition.</a:t>
            </a:r>
          </a:p>
          <a:p>
            <a:pPr algn="just"/>
            <a:r>
              <a:rPr lang="en-GB" dirty="0"/>
              <a:t>Local Classifier</a:t>
            </a:r>
          </a:p>
          <a:p>
            <a:pPr lvl="1" algn="just"/>
            <a:r>
              <a:rPr lang="en-GB" dirty="0"/>
              <a:t>A second oracle trained locally with the German Traffic Signs Recognition Benchmark (GTSRB), can be forced to misclassify more than </a:t>
            </a:r>
            <a:r>
              <a:rPr lang="en-GB" b="1" i="1" dirty="0"/>
              <a:t>64.24%</a:t>
            </a:r>
            <a:r>
              <a:rPr lang="en-GB" dirty="0"/>
              <a:t> of altered inputs without affecting human recognition.</a:t>
            </a:r>
          </a:p>
        </p:txBody>
      </p:sp>
      <p:sp>
        <p:nvSpPr>
          <p:cNvPr id="24" name="Date Placeholder 23"/>
          <p:cNvSpPr>
            <a:spLocks noGrp="1"/>
          </p:cNvSpPr>
          <p:nvPr>
            <p:ph type="dt" sz="half" idx="10"/>
          </p:nvPr>
        </p:nvSpPr>
        <p:spPr/>
        <p:txBody>
          <a:bodyPr/>
          <a:lstStyle/>
          <a:p>
            <a:fld id="{2EFB6F28-65EE-44D6-BFFE-56AB02E1ABA6}" type="datetime1">
              <a:rPr lang="en-US" smtClean="0"/>
              <a:t>9/5/2017</a:t>
            </a:fld>
            <a:endParaRPr lang="en-US" dirty="0"/>
          </a:p>
        </p:txBody>
      </p:sp>
      <p:sp>
        <p:nvSpPr>
          <p:cNvPr id="26" name="Slide Number Placeholder 25"/>
          <p:cNvSpPr>
            <a:spLocks noGrp="1"/>
          </p:cNvSpPr>
          <p:nvPr>
            <p:ph type="sldNum" sz="quarter" idx="12"/>
          </p:nvPr>
        </p:nvSpPr>
        <p:spPr/>
        <p:txBody>
          <a:bodyPr/>
          <a:lstStyle/>
          <a:p>
            <a:fld id="{D57F1E4F-1CFF-5643-939E-217C01CDF565}" type="slidenum">
              <a:rPr lang="en-US" smtClean="0"/>
              <a:pPr/>
              <a:t>16</a:t>
            </a:fld>
            <a:endParaRPr lang="en-US" dirty="0"/>
          </a:p>
        </p:txBody>
      </p:sp>
      <p:sp>
        <p:nvSpPr>
          <p:cNvPr id="7" name="TextBox 6">
            <a:extLst>
              <a:ext uri="{FF2B5EF4-FFF2-40B4-BE49-F238E27FC236}">
                <a16:creationId xmlns:a16="http://schemas.microsoft.com/office/drawing/2014/main" id="{F9EFF882-BB6F-4CAC-85DC-B6CF9012B92C}"/>
              </a:ext>
            </a:extLst>
          </p:cNvPr>
          <p:cNvSpPr txBox="1"/>
          <p:nvPr/>
        </p:nvSpPr>
        <p:spPr>
          <a:xfrm>
            <a:off x="2589212" y="6447633"/>
            <a:ext cx="8915400" cy="272415"/>
          </a:xfrm>
          <a:prstGeom prst="roundRect">
            <a:avLst/>
          </a:prstGeom>
          <a:solidFill>
            <a:srgbClr val="2E5369"/>
          </a:solidFill>
        </p:spPr>
        <p:txBody>
          <a:bodyPr wrap="square" rtlCol="0">
            <a:spAutoFit/>
          </a:bodyPr>
          <a:lstStyle/>
          <a:p>
            <a:pPr algn="ctr"/>
            <a:r>
              <a:rPr lang="en-SG" sz="1000" dirty="0">
                <a:solidFill>
                  <a:schemeClr val="bg1"/>
                </a:solidFill>
              </a:rPr>
              <a:t>Practical Black-Box Attacks against Machine Learning – </a:t>
            </a:r>
            <a:r>
              <a:rPr lang="en-US" sz="1000" dirty="0">
                <a:solidFill>
                  <a:schemeClr val="bg1"/>
                </a:solidFill>
              </a:rPr>
              <a:t>Papernot et. al., ASIA CCS ‘17</a:t>
            </a:r>
          </a:p>
        </p:txBody>
      </p:sp>
    </p:spTree>
    <p:extLst>
      <p:ext uri="{BB962C8B-B14F-4D97-AF65-F5344CB8AC3E}">
        <p14:creationId xmlns:p14="http://schemas.microsoft.com/office/powerpoint/2010/main" val="3611766120"/>
      </p:ext>
    </p:extLst>
  </p:cSld>
  <p:clrMapOvr>
    <a:masterClrMapping/>
  </p:clrMapOvr>
  <mc:AlternateContent xmlns:mc="http://schemas.openxmlformats.org/markup-compatibility/2006">
    <mc:Choice xmlns:p14="http://schemas.microsoft.com/office/powerpoint/2010/main" Requires="p14">
      <p:transition p14:dur="250">
        <p:push/>
      </p:transition>
    </mc:Choice>
    <mc:Fallback>
      <p:transition>
        <p:push/>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300"/>
          </a:xfrm>
        </p:spPr>
        <p:txBody>
          <a:bodyPr/>
          <a:lstStyle/>
          <a:p>
            <a:r>
              <a:rPr lang="en-US" dirty="0"/>
              <a:t>Attack Algorithm Calibration</a:t>
            </a:r>
          </a:p>
        </p:txBody>
      </p:sp>
      <p:sp>
        <p:nvSpPr>
          <p:cNvPr id="3" name="Content Placeholder 2"/>
          <p:cNvSpPr>
            <a:spLocks noGrp="1"/>
          </p:cNvSpPr>
          <p:nvPr>
            <p:ph idx="1"/>
          </p:nvPr>
        </p:nvSpPr>
        <p:spPr>
          <a:xfrm>
            <a:off x="2589212" y="1274410"/>
            <a:ext cx="8915400" cy="4636812"/>
          </a:xfrm>
        </p:spPr>
        <p:txBody>
          <a:bodyPr>
            <a:normAutofit/>
          </a:bodyPr>
          <a:lstStyle/>
          <a:p>
            <a:pPr algn="just"/>
            <a:r>
              <a:rPr lang="en-GB" dirty="0"/>
              <a:t>How can substitute training be finetuned to improve adversarial sample transferability?</a:t>
            </a:r>
          </a:p>
          <a:p>
            <a:pPr lvl="1" algn="just"/>
            <a:r>
              <a:rPr lang="en-GB" dirty="0"/>
              <a:t>The choice of substitute DNN architecture (number of layers, size, activation function, type) has a limited impact on adversarial sample transferability. </a:t>
            </a:r>
          </a:p>
          <a:p>
            <a:pPr lvl="1" algn="just"/>
            <a:r>
              <a:rPr lang="en-GB" dirty="0"/>
              <a:t>Increasing the number of epochs, after the substitute DNN has reached an asymptotic accuracy, does not improve adversarial sample transferability.</a:t>
            </a:r>
          </a:p>
          <a:p>
            <a:pPr algn="just"/>
            <a:r>
              <a:rPr lang="en-GB" dirty="0"/>
              <a:t>For each adversarial sample crafting strategies, which parameters optimize transferability?</a:t>
            </a:r>
          </a:p>
          <a:p>
            <a:pPr lvl="1" algn="just"/>
            <a:r>
              <a:rPr lang="en-GB" dirty="0"/>
              <a:t>At comparable input perturbation magnitude, the Goodfellow and Papernot algorithms have similar transferability rates.</a:t>
            </a:r>
          </a:p>
          <a:p>
            <a:pPr lvl="1" algn="just"/>
            <a:r>
              <a:rPr lang="en-GB" dirty="0"/>
              <a:t>The choice of algorithm depends on acceptable perturbations - all features perturbed a little (Papernot) vs. few features perturbed a lot (Goodfellow).</a:t>
            </a:r>
          </a:p>
        </p:txBody>
      </p:sp>
      <p:sp>
        <p:nvSpPr>
          <p:cNvPr id="24" name="Date Placeholder 23"/>
          <p:cNvSpPr>
            <a:spLocks noGrp="1"/>
          </p:cNvSpPr>
          <p:nvPr>
            <p:ph type="dt" sz="half" idx="10"/>
          </p:nvPr>
        </p:nvSpPr>
        <p:spPr/>
        <p:txBody>
          <a:bodyPr/>
          <a:lstStyle/>
          <a:p>
            <a:fld id="{2EFB6F28-65EE-44D6-BFFE-56AB02E1ABA6}" type="datetime1">
              <a:rPr lang="en-US" smtClean="0"/>
              <a:t>9/5/2017</a:t>
            </a:fld>
            <a:endParaRPr lang="en-US" dirty="0"/>
          </a:p>
        </p:txBody>
      </p:sp>
      <p:sp>
        <p:nvSpPr>
          <p:cNvPr id="26" name="Slide Number Placeholder 25"/>
          <p:cNvSpPr>
            <a:spLocks noGrp="1"/>
          </p:cNvSpPr>
          <p:nvPr>
            <p:ph type="sldNum" sz="quarter" idx="12"/>
          </p:nvPr>
        </p:nvSpPr>
        <p:spPr/>
        <p:txBody>
          <a:bodyPr/>
          <a:lstStyle/>
          <a:p>
            <a:fld id="{D57F1E4F-1CFF-5643-939E-217C01CDF565}" type="slidenum">
              <a:rPr lang="en-US" smtClean="0"/>
              <a:pPr/>
              <a:t>17</a:t>
            </a:fld>
            <a:endParaRPr lang="en-US" dirty="0"/>
          </a:p>
        </p:txBody>
      </p:sp>
      <p:sp>
        <p:nvSpPr>
          <p:cNvPr id="7" name="TextBox 6">
            <a:extLst>
              <a:ext uri="{FF2B5EF4-FFF2-40B4-BE49-F238E27FC236}">
                <a16:creationId xmlns:a16="http://schemas.microsoft.com/office/drawing/2014/main" id="{F9EFF882-BB6F-4CAC-85DC-B6CF9012B92C}"/>
              </a:ext>
            </a:extLst>
          </p:cNvPr>
          <p:cNvSpPr txBox="1"/>
          <p:nvPr/>
        </p:nvSpPr>
        <p:spPr>
          <a:xfrm>
            <a:off x="2589212" y="6447633"/>
            <a:ext cx="8915400" cy="272415"/>
          </a:xfrm>
          <a:prstGeom prst="roundRect">
            <a:avLst/>
          </a:prstGeom>
          <a:solidFill>
            <a:srgbClr val="2E5369"/>
          </a:solidFill>
        </p:spPr>
        <p:txBody>
          <a:bodyPr wrap="square" rtlCol="0">
            <a:spAutoFit/>
          </a:bodyPr>
          <a:lstStyle/>
          <a:p>
            <a:pPr algn="ctr"/>
            <a:r>
              <a:rPr lang="en-SG" sz="1000" dirty="0">
                <a:solidFill>
                  <a:schemeClr val="bg1"/>
                </a:solidFill>
              </a:rPr>
              <a:t>Practical Black-Box Attacks against Machine Learning – </a:t>
            </a:r>
            <a:r>
              <a:rPr lang="en-US" sz="1000" dirty="0">
                <a:solidFill>
                  <a:schemeClr val="bg1"/>
                </a:solidFill>
              </a:rPr>
              <a:t>Papernot et. al., ASIA CCS ‘17</a:t>
            </a:r>
          </a:p>
        </p:txBody>
      </p:sp>
    </p:spTree>
    <p:extLst>
      <p:ext uri="{BB962C8B-B14F-4D97-AF65-F5344CB8AC3E}">
        <p14:creationId xmlns:p14="http://schemas.microsoft.com/office/powerpoint/2010/main" val="3567477660"/>
      </p:ext>
    </p:extLst>
  </p:cSld>
  <p:clrMapOvr>
    <a:masterClrMapping/>
  </p:clrMapOvr>
  <mc:AlternateContent xmlns:mc="http://schemas.openxmlformats.org/markup-compatibility/2006">
    <mc:Choice xmlns:p14="http://schemas.microsoft.com/office/powerpoint/2010/main" Requires="p14">
      <p:transition p14:dur="250">
        <p:push/>
      </p:transition>
    </mc:Choice>
    <mc:Fallback>
      <p:transition>
        <p:push/>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300"/>
          </a:xfrm>
        </p:spPr>
        <p:txBody>
          <a:bodyPr/>
          <a:lstStyle/>
          <a:p>
            <a:r>
              <a:rPr lang="en-US" dirty="0"/>
              <a:t>Generalization of the Attack</a:t>
            </a:r>
          </a:p>
        </p:txBody>
      </p:sp>
      <p:sp>
        <p:nvSpPr>
          <p:cNvPr id="3" name="Content Placeholder 2"/>
          <p:cNvSpPr>
            <a:spLocks noGrp="1"/>
          </p:cNvSpPr>
          <p:nvPr>
            <p:ph idx="1"/>
          </p:nvPr>
        </p:nvSpPr>
        <p:spPr>
          <a:xfrm>
            <a:off x="2589212" y="1274410"/>
            <a:ext cx="8915400" cy="4636812"/>
          </a:xfrm>
        </p:spPr>
        <p:txBody>
          <a:bodyPr>
            <a:normAutofit/>
          </a:bodyPr>
          <a:lstStyle/>
          <a:p>
            <a:r>
              <a:rPr lang="en-GB" dirty="0"/>
              <a:t>The attack generalizes to non-differentiable target ora</a:t>
            </a:r>
            <a:r>
              <a:rPr lang="en-IN" dirty="0"/>
              <a:t>cles like decision trees.</a:t>
            </a:r>
          </a:p>
          <a:p>
            <a:pPr lvl="1" algn="just"/>
            <a:r>
              <a:rPr lang="en-GB" dirty="0"/>
              <a:t>The only limitation placed on the substitute is that it must model a differentiable function to allow for synthetic data to be generated with its Jacobian matrix.</a:t>
            </a:r>
          </a:p>
          <a:p>
            <a:pPr lvl="1" algn="just"/>
            <a:r>
              <a:rPr lang="en-GB" dirty="0"/>
              <a:t>Substitutes can also be learned with logistic regression.</a:t>
            </a:r>
          </a:p>
          <a:p>
            <a:r>
              <a:rPr lang="en-GB" dirty="0"/>
              <a:t>The attack generalizes to additional ML models by learning substitutes of 4 classier types</a:t>
            </a:r>
          </a:p>
          <a:p>
            <a:pPr lvl="1"/>
            <a:r>
              <a:rPr lang="en-GB" dirty="0"/>
              <a:t>Logistic regression</a:t>
            </a:r>
          </a:p>
          <a:p>
            <a:pPr lvl="1"/>
            <a:r>
              <a:rPr lang="en-GB" dirty="0"/>
              <a:t>SVM</a:t>
            </a:r>
          </a:p>
          <a:p>
            <a:pPr lvl="1"/>
            <a:r>
              <a:rPr lang="en-GB" dirty="0"/>
              <a:t>Decision Tree</a:t>
            </a:r>
          </a:p>
          <a:p>
            <a:pPr lvl="1"/>
            <a:r>
              <a:rPr lang="en-GB" dirty="0"/>
              <a:t>Nearest Neighbours</a:t>
            </a:r>
          </a:p>
          <a:p>
            <a:pPr lvl="1"/>
            <a:endParaRPr lang="en-GB" dirty="0"/>
          </a:p>
        </p:txBody>
      </p:sp>
      <p:sp>
        <p:nvSpPr>
          <p:cNvPr id="24" name="Date Placeholder 23"/>
          <p:cNvSpPr>
            <a:spLocks noGrp="1"/>
          </p:cNvSpPr>
          <p:nvPr>
            <p:ph type="dt" sz="half" idx="10"/>
          </p:nvPr>
        </p:nvSpPr>
        <p:spPr/>
        <p:txBody>
          <a:bodyPr/>
          <a:lstStyle/>
          <a:p>
            <a:fld id="{2EFB6F28-65EE-44D6-BFFE-56AB02E1ABA6}" type="datetime1">
              <a:rPr lang="en-US" smtClean="0"/>
              <a:t>9/5/2017</a:t>
            </a:fld>
            <a:endParaRPr lang="en-US" dirty="0"/>
          </a:p>
        </p:txBody>
      </p:sp>
      <p:sp>
        <p:nvSpPr>
          <p:cNvPr id="26" name="Slide Number Placeholder 25"/>
          <p:cNvSpPr>
            <a:spLocks noGrp="1"/>
          </p:cNvSpPr>
          <p:nvPr>
            <p:ph type="sldNum" sz="quarter" idx="12"/>
          </p:nvPr>
        </p:nvSpPr>
        <p:spPr/>
        <p:txBody>
          <a:bodyPr/>
          <a:lstStyle/>
          <a:p>
            <a:fld id="{D57F1E4F-1CFF-5643-939E-217C01CDF565}" type="slidenum">
              <a:rPr lang="en-US" smtClean="0"/>
              <a:pPr/>
              <a:t>18</a:t>
            </a:fld>
            <a:endParaRPr lang="en-US" dirty="0"/>
          </a:p>
        </p:txBody>
      </p:sp>
      <p:sp>
        <p:nvSpPr>
          <p:cNvPr id="7" name="TextBox 6">
            <a:extLst>
              <a:ext uri="{FF2B5EF4-FFF2-40B4-BE49-F238E27FC236}">
                <a16:creationId xmlns:a16="http://schemas.microsoft.com/office/drawing/2014/main" id="{F9EFF882-BB6F-4CAC-85DC-B6CF9012B92C}"/>
              </a:ext>
            </a:extLst>
          </p:cNvPr>
          <p:cNvSpPr txBox="1"/>
          <p:nvPr/>
        </p:nvSpPr>
        <p:spPr>
          <a:xfrm>
            <a:off x="2589212" y="6447633"/>
            <a:ext cx="8915400" cy="272415"/>
          </a:xfrm>
          <a:prstGeom prst="roundRect">
            <a:avLst/>
          </a:prstGeom>
          <a:solidFill>
            <a:srgbClr val="2E5369"/>
          </a:solidFill>
        </p:spPr>
        <p:txBody>
          <a:bodyPr wrap="square" rtlCol="0">
            <a:spAutoFit/>
          </a:bodyPr>
          <a:lstStyle/>
          <a:p>
            <a:pPr algn="ctr"/>
            <a:r>
              <a:rPr lang="en-SG" sz="1000" dirty="0">
                <a:solidFill>
                  <a:schemeClr val="bg1"/>
                </a:solidFill>
              </a:rPr>
              <a:t>Practical Black-Box Attacks against Machine Learning – </a:t>
            </a:r>
            <a:r>
              <a:rPr lang="en-US" sz="1000" dirty="0">
                <a:solidFill>
                  <a:schemeClr val="bg1"/>
                </a:solidFill>
              </a:rPr>
              <a:t>Papernot et. al., ASIA CCS ‘17</a:t>
            </a:r>
          </a:p>
        </p:txBody>
      </p:sp>
    </p:spTree>
    <p:extLst>
      <p:ext uri="{BB962C8B-B14F-4D97-AF65-F5344CB8AC3E}">
        <p14:creationId xmlns:p14="http://schemas.microsoft.com/office/powerpoint/2010/main" val="135280477"/>
      </p:ext>
    </p:extLst>
  </p:cSld>
  <p:clrMapOvr>
    <a:masterClrMapping/>
  </p:clrMapOvr>
  <mc:AlternateContent xmlns:mc="http://schemas.openxmlformats.org/markup-compatibility/2006">
    <mc:Choice xmlns:p14="http://schemas.microsoft.com/office/powerpoint/2010/main" Requires="p14">
      <p:transition p14:dur="250">
        <p:push/>
      </p:transition>
    </mc:Choice>
    <mc:Fallback>
      <p:transition>
        <p:push/>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300"/>
          </a:xfrm>
        </p:spPr>
        <p:txBody>
          <a:bodyPr/>
          <a:lstStyle/>
          <a:p>
            <a:r>
              <a:rPr lang="en-US" dirty="0"/>
              <a:t>Intuition behind Transferability</a:t>
            </a:r>
          </a:p>
        </p:txBody>
      </p:sp>
      <p:sp>
        <p:nvSpPr>
          <p:cNvPr id="3" name="Content Placeholder 2"/>
          <p:cNvSpPr>
            <a:spLocks noGrp="1"/>
          </p:cNvSpPr>
          <p:nvPr>
            <p:ph idx="1"/>
          </p:nvPr>
        </p:nvSpPr>
        <p:spPr>
          <a:xfrm>
            <a:off x="2589212" y="1274410"/>
            <a:ext cx="8915400" cy="4636812"/>
          </a:xfrm>
        </p:spPr>
        <p:txBody>
          <a:bodyPr>
            <a:normAutofit/>
          </a:bodyPr>
          <a:lstStyle/>
          <a:p>
            <a:pPr algn="just"/>
            <a:r>
              <a:rPr lang="en-GB" dirty="0"/>
              <a:t>It has been shown that adversarial examples, generated on one classifier, are likely to cause another classifier to make the same mistake, even if the classifiers have different architectures or are trained on disjoint datasets. This property is known as transferability.</a:t>
            </a:r>
          </a:p>
          <a:p>
            <a:pPr algn="just"/>
            <a:r>
              <a:rPr lang="en-GB" dirty="0"/>
              <a:t>In common ML classifiers, the predictions vary smoothly around the input samples, i.e., they classify the noisy samples into the same label as the clean samples. This property enables the transferability of the adversarial examples.</a:t>
            </a:r>
            <a:endParaRPr lang="en-IN" dirty="0"/>
          </a:p>
          <a:p>
            <a:pPr algn="just"/>
            <a:r>
              <a:rPr lang="en-GB" dirty="0"/>
              <a:t>The key to protect black-box learning systems against the adversarial examples is to block their transferability.</a:t>
            </a:r>
          </a:p>
          <a:p>
            <a:pPr lvl="1" algn="just"/>
            <a:r>
              <a:rPr lang="en-GB" dirty="0"/>
              <a:t>Can we train the classifier to discard adversarial examples, while maintaining the accuracy on the clean data?</a:t>
            </a:r>
            <a:endParaRPr lang="en-IN" dirty="0"/>
          </a:p>
        </p:txBody>
      </p:sp>
      <p:sp>
        <p:nvSpPr>
          <p:cNvPr id="24" name="Date Placeholder 23"/>
          <p:cNvSpPr>
            <a:spLocks noGrp="1"/>
          </p:cNvSpPr>
          <p:nvPr>
            <p:ph type="dt" sz="half" idx="10"/>
          </p:nvPr>
        </p:nvSpPr>
        <p:spPr/>
        <p:txBody>
          <a:bodyPr/>
          <a:lstStyle/>
          <a:p>
            <a:fld id="{2EFB6F28-65EE-44D6-BFFE-56AB02E1ABA6}" type="datetime1">
              <a:rPr lang="en-US" smtClean="0"/>
              <a:t>9/5/2017</a:t>
            </a:fld>
            <a:endParaRPr lang="en-US" dirty="0"/>
          </a:p>
        </p:txBody>
      </p:sp>
      <p:sp>
        <p:nvSpPr>
          <p:cNvPr id="26" name="Slide Number Placeholder 25"/>
          <p:cNvSpPr>
            <a:spLocks noGrp="1"/>
          </p:cNvSpPr>
          <p:nvPr>
            <p:ph type="sldNum" sz="quarter" idx="12"/>
          </p:nvPr>
        </p:nvSpPr>
        <p:spPr/>
        <p:txBody>
          <a:bodyPr/>
          <a:lstStyle/>
          <a:p>
            <a:fld id="{D57F1E4F-1CFF-5643-939E-217C01CDF565}" type="slidenum">
              <a:rPr lang="en-US" smtClean="0"/>
              <a:pPr/>
              <a:t>19</a:t>
            </a:fld>
            <a:endParaRPr lang="en-US" dirty="0"/>
          </a:p>
        </p:txBody>
      </p:sp>
      <p:sp>
        <p:nvSpPr>
          <p:cNvPr id="7" name="TextBox 6">
            <a:extLst>
              <a:ext uri="{FF2B5EF4-FFF2-40B4-BE49-F238E27FC236}">
                <a16:creationId xmlns:a16="http://schemas.microsoft.com/office/drawing/2014/main" id="{F9EFF882-BB6F-4CAC-85DC-B6CF9012B92C}"/>
              </a:ext>
            </a:extLst>
          </p:cNvPr>
          <p:cNvSpPr txBox="1"/>
          <p:nvPr/>
        </p:nvSpPr>
        <p:spPr>
          <a:xfrm>
            <a:off x="2589212" y="6447633"/>
            <a:ext cx="8915400" cy="272415"/>
          </a:xfrm>
          <a:prstGeom prst="roundRect">
            <a:avLst/>
          </a:prstGeom>
          <a:solidFill>
            <a:srgbClr val="2E5369"/>
          </a:solidFill>
        </p:spPr>
        <p:txBody>
          <a:bodyPr wrap="square" rtlCol="0">
            <a:spAutoFit/>
          </a:bodyPr>
          <a:lstStyle/>
          <a:p>
            <a:pPr algn="ctr"/>
            <a:r>
              <a:rPr lang="en-GB" sz="1000" dirty="0">
                <a:solidFill>
                  <a:schemeClr val="bg1"/>
                </a:solidFill>
              </a:rPr>
              <a:t>Intriguing properties of neural networks – </a:t>
            </a:r>
            <a:r>
              <a:rPr lang="en-GB" sz="1000" dirty="0" err="1">
                <a:solidFill>
                  <a:schemeClr val="bg1"/>
                </a:solidFill>
              </a:rPr>
              <a:t>Szegedy</a:t>
            </a:r>
            <a:r>
              <a:rPr lang="en-US" sz="1000" dirty="0">
                <a:solidFill>
                  <a:schemeClr val="bg1"/>
                </a:solidFill>
              </a:rPr>
              <a:t> et. al., </a:t>
            </a:r>
            <a:r>
              <a:rPr lang="en-US" sz="1000" dirty="0" err="1">
                <a:solidFill>
                  <a:schemeClr val="bg1"/>
                </a:solidFill>
              </a:rPr>
              <a:t>arXiv</a:t>
            </a:r>
            <a:r>
              <a:rPr lang="en-US" sz="1000" dirty="0">
                <a:solidFill>
                  <a:schemeClr val="bg1"/>
                </a:solidFill>
              </a:rPr>
              <a:t> ‘13</a:t>
            </a:r>
            <a:endParaRPr lang="en-GB" sz="1000" dirty="0">
              <a:solidFill>
                <a:schemeClr val="bg1"/>
              </a:solidFill>
            </a:endParaRPr>
          </a:p>
        </p:txBody>
      </p:sp>
      <p:sp>
        <p:nvSpPr>
          <p:cNvPr id="8" name="TextBox 7">
            <a:extLst>
              <a:ext uri="{FF2B5EF4-FFF2-40B4-BE49-F238E27FC236}">
                <a16:creationId xmlns:a16="http://schemas.microsoft.com/office/drawing/2014/main" id="{DC69F320-0C5D-4919-8987-503C5E1D5EA0}"/>
              </a:ext>
            </a:extLst>
          </p:cNvPr>
          <p:cNvSpPr txBox="1"/>
          <p:nvPr/>
        </p:nvSpPr>
        <p:spPr>
          <a:xfrm>
            <a:off x="2589212" y="6156315"/>
            <a:ext cx="8915400" cy="272415"/>
          </a:xfrm>
          <a:prstGeom prst="roundRect">
            <a:avLst/>
          </a:prstGeom>
          <a:solidFill>
            <a:srgbClr val="2E5369"/>
          </a:solidFill>
        </p:spPr>
        <p:txBody>
          <a:bodyPr wrap="square" rtlCol="0">
            <a:spAutoFit/>
          </a:bodyPr>
          <a:lstStyle/>
          <a:p>
            <a:pPr algn="ctr"/>
            <a:r>
              <a:rPr lang="en-GB" sz="1000" dirty="0">
                <a:solidFill>
                  <a:schemeClr val="bg1"/>
                </a:solidFill>
              </a:rPr>
              <a:t>Blocking Transferability of Adversarial Examples in Black-Box Learning Systems – Hosseini et. al., </a:t>
            </a:r>
            <a:r>
              <a:rPr lang="en-GB" sz="1000" dirty="0" err="1">
                <a:solidFill>
                  <a:schemeClr val="bg1"/>
                </a:solidFill>
              </a:rPr>
              <a:t>arXiv</a:t>
            </a:r>
            <a:r>
              <a:rPr lang="en-GB" sz="1000" dirty="0">
                <a:solidFill>
                  <a:schemeClr val="bg1"/>
                </a:solidFill>
              </a:rPr>
              <a:t> ‘17</a:t>
            </a:r>
          </a:p>
        </p:txBody>
      </p:sp>
    </p:spTree>
    <p:extLst>
      <p:ext uri="{BB962C8B-B14F-4D97-AF65-F5344CB8AC3E}">
        <p14:creationId xmlns:p14="http://schemas.microsoft.com/office/powerpoint/2010/main" val="277372644"/>
      </p:ext>
    </p:extLst>
  </p:cSld>
  <p:clrMapOvr>
    <a:masterClrMapping/>
  </p:clrMapOvr>
  <mc:AlternateContent xmlns:mc="http://schemas.openxmlformats.org/markup-compatibility/2006">
    <mc:Choice xmlns:p14="http://schemas.microsoft.com/office/powerpoint/2010/main" Requires="p14">
      <p:transition p14:dur="250">
        <p:push/>
      </p:transition>
    </mc:Choice>
    <mc:Fallback>
      <p:transition>
        <p:push/>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300"/>
          </a:xfrm>
        </p:spPr>
        <p:txBody>
          <a:bodyPr>
            <a:normAutofit/>
          </a:bodyPr>
          <a:lstStyle/>
          <a:p>
            <a:r>
              <a:rPr lang="en-GB" dirty="0"/>
              <a:t>Defence by Blocking Transferability</a:t>
            </a:r>
          </a:p>
        </p:txBody>
      </p:sp>
      <p:sp>
        <p:nvSpPr>
          <p:cNvPr id="3" name="Content Placeholder 2"/>
          <p:cNvSpPr>
            <a:spLocks noGrp="1"/>
          </p:cNvSpPr>
          <p:nvPr>
            <p:ph idx="1"/>
          </p:nvPr>
        </p:nvSpPr>
        <p:spPr>
          <a:xfrm>
            <a:off x="2589212" y="1274410"/>
            <a:ext cx="8915400" cy="4636812"/>
          </a:xfrm>
        </p:spPr>
        <p:txBody>
          <a:bodyPr>
            <a:normAutofit/>
          </a:bodyPr>
          <a:lstStyle/>
          <a:p>
            <a:pPr algn="just"/>
            <a:r>
              <a:rPr lang="en-GB" dirty="0"/>
              <a:t>The paper propose a training method such that, as the input is more perturbed, the classifier shows lower confidence on the original label and instead declares that the input is “invalid”.</a:t>
            </a:r>
          </a:p>
          <a:p>
            <a:pPr algn="just"/>
            <a:r>
              <a:rPr lang="en-GB" dirty="0"/>
              <a:t>During the training phase, the classifier examines the distinction between the clean and adversarial data, and learns to discard the adversarial examples, while keeping the clean inputs.</a:t>
            </a:r>
            <a:endParaRPr lang="en-IN" dirty="0"/>
          </a:p>
        </p:txBody>
      </p:sp>
      <p:sp>
        <p:nvSpPr>
          <p:cNvPr id="24" name="Date Placeholder 23"/>
          <p:cNvSpPr>
            <a:spLocks noGrp="1"/>
          </p:cNvSpPr>
          <p:nvPr>
            <p:ph type="dt" sz="half" idx="10"/>
          </p:nvPr>
        </p:nvSpPr>
        <p:spPr/>
        <p:txBody>
          <a:bodyPr/>
          <a:lstStyle/>
          <a:p>
            <a:fld id="{2EFB6F28-65EE-44D6-BFFE-56AB02E1ABA6}" type="datetime1">
              <a:rPr lang="en-US" smtClean="0"/>
              <a:t>9/5/2017</a:t>
            </a:fld>
            <a:endParaRPr lang="en-US" dirty="0"/>
          </a:p>
        </p:txBody>
      </p:sp>
      <p:sp>
        <p:nvSpPr>
          <p:cNvPr id="26" name="Slide Number Placeholder 25"/>
          <p:cNvSpPr>
            <a:spLocks noGrp="1"/>
          </p:cNvSpPr>
          <p:nvPr>
            <p:ph type="sldNum" sz="quarter" idx="12"/>
          </p:nvPr>
        </p:nvSpPr>
        <p:spPr/>
        <p:txBody>
          <a:bodyPr/>
          <a:lstStyle/>
          <a:p>
            <a:fld id="{D57F1E4F-1CFF-5643-939E-217C01CDF565}" type="slidenum">
              <a:rPr lang="en-US" smtClean="0"/>
              <a:pPr/>
              <a:t>20</a:t>
            </a:fld>
            <a:endParaRPr lang="en-US" dirty="0"/>
          </a:p>
        </p:txBody>
      </p:sp>
      <p:sp>
        <p:nvSpPr>
          <p:cNvPr id="7" name="TextBox 6">
            <a:extLst>
              <a:ext uri="{FF2B5EF4-FFF2-40B4-BE49-F238E27FC236}">
                <a16:creationId xmlns:a16="http://schemas.microsoft.com/office/drawing/2014/main" id="{F9EFF882-BB6F-4CAC-85DC-B6CF9012B92C}"/>
              </a:ext>
            </a:extLst>
          </p:cNvPr>
          <p:cNvSpPr txBox="1"/>
          <p:nvPr/>
        </p:nvSpPr>
        <p:spPr>
          <a:xfrm>
            <a:off x="2589212" y="6447633"/>
            <a:ext cx="8915400" cy="272415"/>
          </a:xfrm>
          <a:prstGeom prst="roundRect">
            <a:avLst/>
          </a:prstGeom>
          <a:solidFill>
            <a:srgbClr val="2E5369"/>
          </a:solidFill>
        </p:spPr>
        <p:txBody>
          <a:bodyPr wrap="square" rtlCol="0">
            <a:spAutoFit/>
          </a:bodyPr>
          <a:lstStyle/>
          <a:p>
            <a:pPr algn="ctr"/>
            <a:r>
              <a:rPr lang="en-GB" sz="1000" dirty="0">
                <a:solidFill>
                  <a:schemeClr val="bg1"/>
                </a:solidFill>
              </a:rPr>
              <a:t>Blocking Transferability of Adversarial Examples in Black-Box Learning Systems – Hosseini et. al., </a:t>
            </a:r>
            <a:r>
              <a:rPr lang="en-GB" sz="1000" dirty="0" err="1">
                <a:solidFill>
                  <a:schemeClr val="bg1"/>
                </a:solidFill>
              </a:rPr>
              <a:t>arXiv</a:t>
            </a:r>
            <a:r>
              <a:rPr lang="en-GB" sz="1000" dirty="0">
                <a:solidFill>
                  <a:schemeClr val="bg1"/>
                </a:solidFill>
              </a:rPr>
              <a:t> ‘17</a:t>
            </a:r>
          </a:p>
        </p:txBody>
      </p:sp>
      <p:pic>
        <p:nvPicPr>
          <p:cNvPr id="5" name="Picture 4">
            <a:extLst>
              <a:ext uri="{FF2B5EF4-FFF2-40B4-BE49-F238E27FC236}">
                <a16:creationId xmlns:a16="http://schemas.microsoft.com/office/drawing/2014/main" id="{EFC5D09C-D8C5-48F1-9AD3-9E541B8447F6}"/>
              </a:ext>
            </a:extLst>
          </p:cNvPr>
          <p:cNvPicPr>
            <a:picLocks noChangeAspect="1"/>
          </p:cNvPicPr>
          <p:nvPr/>
        </p:nvPicPr>
        <p:blipFill>
          <a:blip r:embed="rId3"/>
          <a:stretch>
            <a:fillRect/>
          </a:stretch>
        </p:blipFill>
        <p:spPr>
          <a:xfrm>
            <a:off x="2984739" y="3271695"/>
            <a:ext cx="3391473" cy="2956723"/>
          </a:xfrm>
          <a:prstGeom prst="rect">
            <a:avLst/>
          </a:prstGeom>
        </p:spPr>
      </p:pic>
      <p:sp>
        <p:nvSpPr>
          <p:cNvPr id="6" name="TextBox 5">
            <a:extLst>
              <a:ext uri="{FF2B5EF4-FFF2-40B4-BE49-F238E27FC236}">
                <a16:creationId xmlns:a16="http://schemas.microsoft.com/office/drawing/2014/main" id="{DBA9B394-E02F-472D-9344-A9B23A46565E}"/>
              </a:ext>
            </a:extLst>
          </p:cNvPr>
          <p:cNvSpPr txBox="1"/>
          <p:nvPr/>
        </p:nvSpPr>
        <p:spPr>
          <a:xfrm>
            <a:off x="6376212" y="3271695"/>
            <a:ext cx="5128400" cy="2031325"/>
          </a:xfrm>
          <a:prstGeom prst="rect">
            <a:avLst/>
          </a:prstGeom>
          <a:noFill/>
        </p:spPr>
        <p:txBody>
          <a:bodyPr wrap="square" rtlCol="0">
            <a:spAutoFit/>
          </a:bodyPr>
          <a:lstStyle/>
          <a:p>
            <a:pPr algn="just"/>
            <a:r>
              <a:rPr lang="en-GB" dirty="0">
                <a:solidFill>
                  <a:schemeClr val="tx1">
                    <a:lumMod val="75000"/>
                    <a:lumOff val="25000"/>
                  </a:schemeClr>
                </a:solidFill>
              </a:rPr>
              <a:t>Augment the output class set of the classifier with an additional label called NULL. During the training phase, generate adversarial examples and train the ML algorithm to label them as NULL with appropriate probabilities according to the amount of perturbation.</a:t>
            </a:r>
            <a:endParaRPr lang="en-IN" dirty="0">
              <a:solidFill>
                <a:schemeClr val="tx1">
                  <a:lumMod val="75000"/>
                  <a:lumOff val="25000"/>
                </a:schemeClr>
              </a:solidFill>
            </a:endParaRPr>
          </a:p>
        </p:txBody>
      </p:sp>
    </p:spTree>
    <p:extLst>
      <p:ext uri="{BB962C8B-B14F-4D97-AF65-F5344CB8AC3E}">
        <p14:creationId xmlns:p14="http://schemas.microsoft.com/office/powerpoint/2010/main" val="3362587633"/>
      </p:ext>
    </p:extLst>
  </p:cSld>
  <p:clrMapOvr>
    <a:masterClrMapping/>
  </p:clrMapOvr>
  <mc:AlternateContent xmlns:mc="http://schemas.openxmlformats.org/markup-compatibility/2006">
    <mc:Choice xmlns:p14="http://schemas.microsoft.com/office/powerpoint/2010/main" Requires="p14">
      <p:transition p14:dur="250">
        <p:push/>
      </p:transition>
    </mc:Choice>
    <mc:Fallback>
      <p:transition>
        <p:push/>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300"/>
          </a:xfrm>
        </p:spPr>
        <p:txBody>
          <a:bodyPr>
            <a:normAutofit fontScale="90000"/>
          </a:bodyPr>
          <a:lstStyle/>
          <a:p>
            <a:r>
              <a:rPr lang="en-GB" dirty="0"/>
              <a:t>Current Works on Malware Classification</a:t>
            </a:r>
          </a:p>
        </p:txBody>
      </p:sp>
      <p:sp>
        <p:nvSpPr>
          <p:cNvPr id="3" name="Content Placeholder 2"/>
          <p:cNvSpPr>
            <a:spLocks noGrp="1"/>
          </p:cNvSpPr>
          <p:nvPr>
            <p:ph idx="1"/>
          </p:nvPr>
        </p:nvSpPr>
        <p:spPr>
          <a:xfrm>
            <a:off x="2589212" y="1274410"/>
            <a:ext cx="8915400" cy="4636812"/>
          </a:xfrm>
        </p:spPr>
        <p:txBody>
          <a:bodyPr>
            <a:normAutofit/>
          </a:bodyPr>
          <a:lstStyle/>
          <a:p>
            <a:pPr algn="just"/>
            <a:r>
              <a:rPr lang="en-GB" dirty="0"/>
              <a:t>Adversarial Perturbations Against Deep Neural Networks for Malware Classification</a:t>
            </a:r>
          </a:p>
          <a:p>
            <a:pPr lvl="1" algn="just"/>
            <a:r>
              <a:rPr lang="en-IN" dirty="0">
                <a:hlinkClick r:id="rId3"/>
              </a:rPr>
              <a:t>Kathrin Grosse et. al., </a:t>
            </a:r>
            <a:r>
              <a:rPr lang="en-IN" dirty="0" err="1">
                <a:hlinkClick r:id="rId3"/>
              </a:rPr>
              <a:t>arXiv</a:t>
            </a:r>
            <a:r>
              <a:rPr lang="en-IN" dirty="0">
                <a:hlinkClick r:id="rId3"/>
              </a:rPr>
              <a:t> ’16</a:t>
            </a:r>
            <a:endParaRPr lang="en-IN" dirty="0"/>
          </a:p>
          <a:p>
            <a:pPr lvl="1" algn="just"/>
            <a:r>
              <a:rPr lang="en-GB" dirty="0"/>
              <a:t>Show how to construct highly-effective adversarial sample crafting attacks for neural networks used as malware classifiers.</a:t>
            </a:r>
          </a:p>
          <a:p>
            <a:pPr lvl="1" algn="just"/>
            <a:r>
              <a:rPr lang="en-GB" dirty="0"/>
              <a:t>Main idea</a:t>
            </a:r>
          </a:p>
          <a:p>
            <a:pPr lvl="2" algn="just"/>
            <a:r>
              <a:rPr lang="en-GB" dirty="0"/>
              <a:t>The application domain of malware classification introduces additional constraints in the adversarial sample crafting problem when compared to the computer vision domain:</a:t>
            </a:r>
          </a:p>
          <a:p>
            <a:pPr lvl="3" algn="just"/>
            <a:r>
              <a:rPr lang="en-GB" dirty="0"/>
              <a:t>continuous, differentiable input domains are replaced by discrete, often binary inputs</a:t>
            </a:r>
          </a:p>
          <a:p>
            <a:pPr lvl="3" algn="just"/>
            <a:r>
              <a:rPr lang="en-GB" dirty="0"/>
              <a:t>the loose condition of leaving visual appearance unchanged is replaced by requiring equivalent functional behavior.</a:t>
            </a:r>
          </a:p>
          <a:p>
            <a:pPr lvl="2" algn="just"/>
            <a:r>
              <a:rPr lang="en-GB" dirty="0"/>
              <a:t>Analysed effectiveness on three defence mechanism: Feature Reduction, Distillation and </a:t>
            </a:r>
            <a:r>
              <a:rPr lang="en-GB" dirty="0" err="1"/>
              <a:t>Adversial</a:t>
            </a:r>
            <a:r>
              <a:rPr lang="en-GB" dirty="0"/>
              <a:t> Learning.</a:t>
            </a:r>
          </a:p>
        </p:txBody>
      </p:sp>
      <p:sp>
        <p:nvSpPr>
          <p:cNvPr id="24" name="Date Placeholder 23"/>
          <p:cNvSpPr>
            <a:spLocks noGrp="1"/>
          </p:cNvSpPr>
          <p:nvPr>
            <p:ph type="dt" sz="half" idx="10"/>
          </p:nvPr>
        </p:nvSpPr>
        <p:spPr/>
        <p:txBody>
          <a:bodyPr/>
          <a:lstStyle/>
          <a:p>
            <a:fld id="{2EFB6F28-65EE-44D6-BFFE-56AB02E1ABA6}" type="datetime1">
              <a:rPr lang="en-US" smtClean="0"/>
              <a:t>9/5/2017</a:t>
            </a:fld>
            <a:endParaRPr lang="en-US" dirty="0"/>
          </a:p>
        </p:txBody>
      </p:sp>
      <p:sp>
        <p:nvSpPr>
          <p:cNvPr id="26" name="Slide Number Placeholder 25"/>
          <p:cNvSpPr>
            <a:spLocks noGrp="1"/>
          </p:cNvSpPr>
          <p:nvPr>
            <p:ph type="sldNum" sz="quarter" idx="12"/>
          </p:nvPr>
        </p:nvSpPr>
        <p:spPr/>
        <p:txBody>
          <a:bodyPr/>
          <a:lstStyle/>
          <a:p>
            <a:fld id="{D57F1E4F-1CFF-5643-939E-217C01CDF565}" type="slidenum">
              <a:rPr lang="en-US" smtClean="0"/>
              <a:pPr/>
              <a:t>21</a:t>
            </a:fld>
            <a:endParaRPr lang="en-US" dirty="0"/>
          </a:p>
        </p:txBody>
      </p:sp>
    </p:spTree>
    <p:extLst>
      <p:ext uri="{BB962C8B-B14F-4D97-AF65-F5344CB8AC3E}">
        <p14:creationId xmlns:p14="http://schemas.microsoft.com/office/powerpoint/2010/main" val="1890888050"/>
      </p:ext>
    </p:extLst>
  </p:cSld>
  <p:clrMapOvr>
    <a:masterClrMapping/>
  </p:clrMapOvr>
  <mc:AlternateContent xmlns:mc="http://schemas.openxmlformats.org/markup-compatibility/2006">
    <mc:Choice xmlns:p14="http://schemas.microsoft.com/office/powerpoint/2010/main" Requires="p14">
      <p:transition p14:dur="250">
        <p:push/>
      </p:transition>
    </mc:Choice>
    <mc:Fallback>
      <p:transition>
        <p:push/>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50300"/>
          </a:xfrm>
        </p:spPr>
        <p:txBody>
          <a:bodyPr>
            <a:normAutofit fontScale="90000"/>
          </a:bodyPr>
          <a:lstStyle/>
          <a:p>
            <a:r>
              <a:rPr lang="en-GB" dirty="0"/>
              <a:t>Current Works on Malware Classification</a:t>
            </a:r>
          </a:p>
        </p:txBody>
      </p:sp>
      <p:sp>
        <p:nvSpPr>
          <p:cNvPr id="3" name="Content Placeholder 2"/>
          <p:cNvSpPr>
            <a:spLocks noGrp="1"/>
          </p:cNvSpPr>
          <p:nvPr>
            <p:ph idx="1"/>
          </p:nvPr>
        </p:nvSpPr>
        <p:spPr>
          <a:xfrm>
            <a:off x="2589212" y="1274410"/>
            <a:ext cx="8915400" cy="4636812"/>
          </a:xfrm>
        </p:spPr>
        <p:txBody>
          <a:bodyPr>
            <a:normAutofit/>
          </a:bodyPr>
          <a:lstStyle/>
          <a:p>
            <a:pPr algn="just"/>
            <a:r>
              <a:rPr lang="en-GB" dirty="0"/>
              <a:t>Black-Box Attacks against RNN based Malware Detection Algorithms</a:t>
            </a:r>
          </a:p>
          <a:p>
            <a:pPr lvl="1" algn="just"/>
            <a:r>
              <a:rPr lang="en-GB" dirty="0">
                <a:hlinkClick r:id="rId3"/>
              </a:rPr>
              <a:t>Weiwei Hu et. al., </a:t>
            </a:r>
            <a:r>
              <a:rPr lang="en-GB" dirty="0" err="1">
                <a:hlinkClick r:id="rId3"/>
              </a:rPr>
              <a:t>arXiv</a:t>
            </a:r>
            <a:r>
              <a:rPr lang="en-GB" dirty="0">
                <a:hlinkClick r:id="rId3"/>
              </a:rPr>
              <a:t> ‘17</a:t>
            </a:r>
            <a:endParaRPr lang="en-IN" dirty="0"/>
          </a:p>
          <a:p>
            <a:pPr lvl="1" algn="just"/>
            <a:r>
              <a:rPr lang="en-GB" dirty="0"/>
              <a:t>Proposed a novel algorithm to generate sequential adversarial examples, which are used to attack a RNN based malware detection system.</a:t>
            </a:r>
          </a:p>
          <a:p>
            <a:pPr lvl="1" algn="just"/>
            <a:r>
              <a:rPr lang="en-GB" dirty="0"/>
              <a:t>Main idea</a:t>
            </a:r>
          </a:p>
          <a:p>
            <a:pPr lvl="2" algn="just"/>
            <a:r>
              <a:rPr lang="en-GB" dirty="0"/>
              <a:t>It is usually hard for malicious attackers to know the exact structures and weights of the victim RNN.</a:t>
            </a:r>
          </a:p>
          <a:p>
            <a:pPr lvl="2" algn="just"/>
            <a:r>
              <a:rPr lang="en-GB" dirty="0"/>
              <a:t>A substitute RNN is trained to approximate the victim RNN.</a:t>
            </a:r>
          </a:p>
          <a:p>
            <a:pPr lvl="2" algn="just"/>
            <a:r>
              <a:rPr lang="en-GB" dirty="0"/>
              <a:t>Then a generative RNN is proposed to output sequential adversarial examples from the original sequential malware inputs.</a:t>
            </a:r>
          </a:p>
        </p:txBody>
      </p:sp>
      <p:sp>
        <p:nvSpPr>
          <p:cNvPr id="24" name="Date Placeholder 23"/>
          <p:cNvSpPr>
            <a:spLocks noGrp="1"/>
          </p:cNvSpPr>
          <p:nvPr>
            <p:ph type="dt" sz="half" idx="10"/>
          </p:nvPr>
        </p:nvSpPr>
        <p:spPr/>
        <p:txBody>
          <a:bodyPr/>
          <a:lstStyle/>
          <a:p>
            <a:fld id="{2EFB6F28-65EE-44D6-BFFE-56AB02E1ABA6}" type="datetime1">
              <a:rPr lang="en-US" smtClean="0"/>
              <a:t>9/5/2017</a:t>
            </a:fld>
            <a:endParaRPr lang="en-US" dirty="0"/>
          </a:p>
        </p:txBody>
      </p:sp>
      <p:sp>
        <p:nvSpPr>
          <p:cNvPr id="26" name="Slide Number Placeholder 25"/>
          <p:cNvSpPr>
            <a:spLocks noGrp="1"/>
          </p:cNvSpPr>
          <p:nvPr>
            <p:ph type="sldNum" sz="quarter" idx="12"/>
          </p:nvPr>
        </p:nvSpPr>
        <p:spPr/>
        <p:txBody>
          <a:bodyPr/>
          <a:lstStyle/>
          <a:p>
            <a:fld id="{D57F1E4F-1CFF-5643-939E-217C01CDF565}" type="slidenum">
              <a:rPr lang="en-US" smtClean="0"/>
              <a:pPr/>
              <a:t>22</a:t>
            </a:fld>
            <a:endParaRPr lang="en-US" dirty="0"/>
          </a:p>
        </p:txBody>
      </p:sp>
    </p:spTree>
    <p:extLst>
      <p:ext uri="{BB962C8B-B14F-4D97-AF65-F5344CB8AC3E}">
        <p14:creationId xmlns:p14="http://schemas.microsoft.com/office/powerpoint/2010/main" val="566802410"/>
      </p:ext>
    </p:extLst>
  </p:cSld>
  <p:clrMapOvr>
    <a:masterClrMapping/>
  </p:clrMapOvr>
  <mc:AlternateContent xmlns:mc="http://schemas.openxmlformats.org/markup-compatibility/2006">
    <mc:Choice xmlns:p14="http://schemas.microsoft.com/office/powerpoint/2010/main" Requires="p14">
      <p:transition p14:dur="250">
        <p:push/>
      </p:transition>
    </mc:Choice>
    <mc:Fallback>
      <p:transition>
        <p:push/>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387F317-DEE1-4862-A5F6-FDE38CF695E3}"/>
              </a:ext>
            </a:extLst>
          </p:cNvPr>
          <p:cNvSpPr>
            <a:spLocks noGrp="1"/>
          </p:cNvSpPr>
          <p:nvPr>
            <p:ph type="ctrTitle"/>
          </p:nvPr>
        </p:nvSpPr>
        <p:spPr/>
        <p:txBody>
          <a:bodyPr/>
          <a:lstStyle/>
          <a:p>
            <a:pPr algn="ctr"/>
            <a:r>
              <a:rPr lang="en-IN" dirty="0"/>
              <a:t>Thank You</a:t>
            </a:r>
          </a:p>
        </p:txBody>
      </p:sp>
      <p:sp>
        <p:nvSpPr>
          <p:cNvPr id="7" name="Subtitle 6">
            <a:extLst>
              <a:ext uri="{FF2B5EF4-FFF2-40B4-BE49-F238E27FC236}">
                <a16:creationId xmlns:a16="http://schemas.microsoft.com/office/drawing/2014/main" id="{8480C7F8-A37A-45DF-A066-C6B6EFBAE7DD}"/>
              </a:ext>
            </a:extLst>
          </p:cNvPr>
          <p:cNvSpPr>
            <a:spLocks noGrp="1"/>
          </p:cNvSpPr>
          <p:nvPr>
            <p:ph type="subTitle" idx="1"/>
          </p:nvPr>
        </p:nvSpPr>
        <p:spPr/>
        <p:txBody>
          <a:bodyPr/>
          <a:lstStyle/>
          <a:p>
            <a:endParaRPr lang="en-IN"/>
          </a:p>
        </p:txBody>
      </p:sp>
      <p:sp>
        <p:nvSpPr>
          <p:cNvPr id="4" name="Date Placeholder 3">
            <a:extLst>
              <a:ext uri="{FF2B5EF4-FFF2-40B4-BE49-F238E27FC236}">
                <a16:creationId xmlns:a16="http://schemas.microsoft.com/office/drawing/2014/main" id="{0E214808-6A3F-4FF3-B62F-DA0511689F90}"/>
              </a:ext>
            </a:extLst>
          </p:cNvPr>
          <p:cNvSpPr>
            <a:spLocks noGrp="1"/>
          </p:cNvSpPr>
          <p:nvPr>
            <p:ph type="dt" sz="half" idx="10"/>
          </p:nvPr>
        </p:nvSpPr>
        <p:spPr/>
        <p:txBody>
          <a:bodyPr/>
          <a:lstStyle/>
          <a:p>
            <a:fld id="{A01FC02B-687E-4F46-8B5A-7AD2318CCB3B}" type="datetime1">
              <a:rPr lang="en-US" smtClean="0"/>
              <a:t>9/5/2017</a:t>
            </a:fld>
            <a:endParaRPr lang="en-US" dirty="0"/>
          </a:p>
        </p:txBody>
      </p:sp>
      <p:sp>
        <p:nvSpPr>
          <p:cNvPr id="5" name="Slide Number Placeholder 4">
            <a:extLst>
              <a:ext uri="{FF2B5EF4-FFF2-40B4-BE49-F238E27FC236}">
                <a16:creationId xmlns:a16="http://schemas.microsoft.com/office/drawing/2014/main" id="{31F9ACC4-A940-4BC1-946F-250F90A03E40}"/>
              </a:ext>
            </a:extLst>
          </p:cNvPr>
          <p:cNvSpPr>
            <a:spLocks noGrp="1"/>
          </p:cNvSpPr>
          <p:nvPr>
            <p:ph type="sldNum" sz="quarter" idx="12"/>
          </p:nvPr>
        </p:nvSpPr>
        <p:spPr/>
        <p:txBody>
          <a:bodyPr/>
          <a:lstStyle/>
          <a:p>
            <a:fld id="{D57F1E4F-1CFF-5643-939E-217C01CDF565}" type="slidenum">
              <a:rPr lang="en-US" smtClean="0"/>
              <a:pPr/>
              <a:t>23</a:t>
            </a:fld>
            <a:endParaRPr lang="en-US" dirty="0"/>
          </a:p>
        </p:txBody>
      </p:sp>
    </p:spTree>
    <p:extLst>
      <p:ext uri="{BB962C8B-B14F-4D97-AF65-F5344CB8AC3E}">
        <p14:creationId xmlns:p14="http://schemas.microsoft.com/office/powerpoint/2010/main" val="315483139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968</TotalTime>
  <Words>2981</Words>
  <Application>Microsoft Office PowerPoint</Application>
  <PresentationFormat>Widescreen</PresentationFormat>
  <Paragraphs>272</Paragraphs>
  <Slides>23</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Cambria Math</vt:lpstr>
      <vt:lpstr>Century Gothic</vt:lpstr>
      <vt:lpstr>Wingdings 3</vt:lpstr>
      <vt:lpstr>Wisp</vt:lpstr>
      <vt:lpstr>Black-Box Attack against Machine Learning</vt:lpstr>
      <vt:lpstr>Introduction</vt:lpstr>
      <vt:lpstr>Introduction</vt:lpstr>
      <vt:lpstr>Introduction</vt:lpstr>
      <vt:lpstr>Deep Neural Network</vt:lpstr>
      <vt:lpstr>Deep Neural Network</vt:lpstr>
      <vt:lpstr>Threat Model</vt:lpstr>
      <vt:lpstr>Threat Model</vt:lpstr>
      <vt:lpstr>Black-Box Attack Strategy</vt:lpstr>
      <vt:lpstr>Black-Box Attack Strategy</vt:lpstr>
      <vt:lpstr>Black-Box Attack Strategy</vt:lpstr>
      <vt:lpstr>Black-Box Attack Strategy</vt:lpstr>
      <vt:lpstr>Black-Box Attack Strategy</vt:lpstr>
      <vt:lpstr>Black-Box Attack Strategy</vt:lpstr>
      <vt:lpstr>Black-Box Attack Strategy</vt:lpstr>
      <vt:lpstr>Validation of the Attack</vt:lpstr>
      <vt:lpstr>Attack Algorithm Calibration</vt:lpstr>
      <vt:lpstr>Generalization of the Attack</vt:lpstr>
      <vt:lpstr>Intuition behind Transferability</vt:lpstr>
      <vt:lpstr>Defence by Blocking Transferability</vt:lpstr>
      <vt:lpstr>Current Works on Malware Classification</vt:lpstr>
      <vt:lpstr>Current Works on Malware Classification</vt:lpstr>
      <vt:lpstr>Thank You</vt:lpstr>
    </vt:vector>
  </TitlesOfParts>
  <Company>NTU, Singapore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Practical Black-Box Attack against Machine Learning</dc:title>
  <dc:creator>#ALAM MANAAR#</dc:creator>
  <cp:lastModifiedBy>Manaar Alam</cp:lastModifiedBy>
  <cp:revision>262</cp:revision>
  <dcterms:created xsi:type="dcterms:W3CDTF">2017-08-28T05:11:15Z</dcterms:created>
  <dcterms:modified xsi:type="dcterms:W3CDTF">2017-09-05T02:28:53Z</dcterms:modified>
</cp:coreProperties>
</file>