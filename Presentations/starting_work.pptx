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3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53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41470C-1BC6-42BA-A2D7-46EB472F757C}" type="datetimeFigureOut">
              <a:rPr lang="en-US" smtClean="0"/>
              <a:t>9/4/2017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E126BE-1A7A-4F71-B3C0-F5D825D182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9024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1E2BD-2D4C-4365-A05B-3F8037A66EF3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FC02B-687E-4F46-8B5A-7AD2318CCB3B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1ABD4-8422-4C87-83DB-D8315500EE01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8A5CC-E27C-4001-AFC1-4367D1F81078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E9591-9136-46FB-AD15-59162C18D235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191FC7-19EF-4F51-9163-C09600C88C2F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71F16-0FAD-4520-9844-B9CD2E8EBEBC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5DE45-0AF2-476B-9D6D-782F27A19F52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1A11F-4446-4913-875F-BE2E81E327AE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35DDC7-E354-4AAB-86C2-03C1BD879FBE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18E86-B5C7-4D8E-8B3E-3F1A6476A55A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70BF-0CE7-4C99-80F8-7BB9A7882004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83D2D-62A4-472F-B056-8E3615585778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8D961-FC1F-4443-8BA9-EA4859F51DB0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2DA31-7CDF-4FB1-9681-482AE50494F6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0E30D-A13F-493C-B2FE-834158BBC05B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157"/>
            <a:ext cx="2356674" cy="6853096"/>
            <a:chOff x="6627813" y="195610"/>
            <a:chExt cx="1952625" cy="5678141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FE156D-CAA6-4157-B7E0-3D324BB69E01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hf hdr="0" ftr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Black-Box </a:t>
            </a:r>
            <a:r>
              <a:rPr lang="en-US" dirty="0" smtClean="0"/>
              <a:t>Attack against Machine Learning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91684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50300"/>
          </a:xfrm>
        </p:spPr>
        <p:txBody>
          <a:bodyPr/>
          <a:lstStyle/>
          <a:p>
            <a:r>
              <a:rPr lang="en-US" dirty="0" smtClean="0"/>
              <a:t>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1274410"/>
            <a:ext cx="8915400" cy="4636812"/>
          </a:xfrm>
        </p:spPr>
        <p:txBody>
          <a:bodyPr/>
          <a:lstStyle/>
          <a:p>
            <a:pPr algn="just"/>
            <a:r>
              <a:rPr lang="en-US" dirty="0" smtClean="0"/>
              <a:t>Classifiers learns a mapping between inputs and set of classes.</a:t>
            </a:r>
          </a:p>
          <a:p>
            <a:pPr lvl="1" algn="just"/>
            <a:r>
              <a:rPr lang="en-SG" dirty="0" smtClean="0"/>
              <a:t>A </a:t>
            </a:r>
            <a:r>
              <a:rPr lang="en-SG" dirty="0"/>
              <a:t>malware </a:t>
            </a:r>
            <a:r>
              <a:rPr lang="en-SG" dirty="0" smtClean="0"/>
              <a:t>detector is </a:t>
            </a:r>
            <a:r>
              <a:rPr lang="en-SG" dirty="0"/>
              <a:t>a </a:t>
            </a:r>
            <a:r>
              <a:rPr lang="en-SG" dirty="0" smtClean="0"/>
              <a:t>classifier </a:t>
            </a:r>
            <a:r>
              <a:rPr lang="en-SG" dirty="0"/>
              <a:t>taking executables as inputs and assigning </a:t>
            </a:r>
            <a:r>
              <a:rPr lang="en-SG" dirty="0" smtClean="0"/>
              <a:t>them to </a:t>
            </a:r>
            <a:r>
              <a:rPr lang="en-SG" dirty="0"/>
              <a:t>the benign or malware class.</a:t>
            </a:r>
            <a:endParaRPr lang="en-US" dirty="0"/>
          </a:p>
          <a:p>
            <a:pPr algn="just"/>
            <a:endParaRPr lang="en-US" dirty="0" smtClean="0"/>
          </a:p>
          <a:p>
            <a:pPr algn="just"/>
            <a:endParaRPr lang="en-US" dirty="0"/>
          </a:p>
          <a:p>
            <a:pPr algn="just"/>
            <a:endParaRPr lang="en-US" dirty="0" smtClean="0"/>
          </a:p>
          <a:p>
            <a:pPr algn="just"/>
            <a:endParaRPr lang="en-US" dirty="0" smtClean="0"/>
          </a:p>
          <a:p>
            <a:pPr algn="just"/>
            <a:r>
              <a:rPr lang="en-US" i="1" u="sng" dirty="0" smtClean="0"/>
              <a:t>Adversarial examples</a:t>
            </a:r>
            <a:r>
              <a:rPr lang="en-US" dirty="0" smtClean="0"/>
              <a:t> can compromise the integrity of a classifier.</a:t>
            </a:r>
          </a:p>
          <a:p>
            <a:pPr lvl="1" algn="just"/>
            <a:r>
              <a:rPr lang="en-US" dirty="0" smtClean="0"/>
              <a:t>To humans, the images appear to be same. But, forces a particular DNN to classify it as a </a:t>
            </a:r>
            <a:r>
              <a:rPr lang="en-US" i="1" dirty="0" smtClean="0"/>
              <a:t>yield sign</a:t>
            </a:r>
            <a:r>
              <a:rPr lang="en-US" dirty="0" smtClean="0"/>
              <a:t>.</a:t>
            </a:r>
            <a:endParaRPr lang="en-US" dirty="0"/>
          </a:p>
        </p:txBody>
      </p:sp>
      <p:grpSp>
        <p:nvGrpSpPr>
          <p:cNvPr id="23" name="Group 22"/>
          <p:cNvGrpSpPr/>
          <p:nvPr/>
        </p:nvGrpSpPr>
        <p:grpSpPr>
          <a:xfrm>
            <a:off x="5342803" y="2288003"/>
            <a:ext cx="3507970" cy="1557467"/>
            <a:chOff x="5054138" y="2998216"/>
            <a:chExt cx="3507970" cy="1557467"/>
          </a:xfrm>
        </p:grpSpPr>
        <p:sp>
          <p:nvSpPr>
            <p:cNvPr id="4" name="Rounded Rectangle 3"/>
            <p:cNvSpPr/>
            <p:nvPr/>
          </p:nvSpPr>
          <p:spPr>
            <a:xfrm>
              <a:off x="6184669" y="3275215"/>
              <a:ext cx="1188720" cy="82296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 smtClean="0">
                  <a:solidFill>
                    <a:schemeClr val="tx1"/>
                  </a:solidFill>
                </a:rPr>
                <a:t>Classifier</a:t>
              </a:r>
              <a:endParaRPr lang="en-US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6" name="Straight Arrow Connector 5"/>
            <p:cNvCxnSpPr>
              <a:endCxn id="4" idx="1"/>
            </p:cNvCxnSpPr>
            <p:nvPr/>
          </p:nvCxnSpPr>
          <p:spPr>
            <a:xfrm>
              <a:off x="5694218" y="3682538"/>
              <a:ext cx="490451" cy="41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5054138" y="3544038"/>
              <a:ext cx="6400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smtClean="0"/>
                <a:t>Inputs</a:t>
              </a:r>
              <a:endParaRPr lang="en-US" sz="1200" dirty="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838901" y="2998216"/>
              <a:ext cx="72320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smtClean="0"/>
                <a:t>Class 1</a:t>
              </a:r>
              <a:endParaRPr lang="en-US" sz="1200" dirty="0"/>
            </a:p>
          </p:txBody>
        </p:sp>
        <p:cxnSp>
          <p:nvCxnSpPr>
            <p:cNvPr id="11" name="Straight Arrow Connector 10"/>
            <p:cNvCxnSpPr>
              <a:stCxn id="4" idx="3"/>
              <a:endCxn id="9" idx="1"/>
            </p:cNvCxnSpPr>
            <p:nvPr/>
          </p:nvCxnSpPr>
          <p:spPr>
            <a:xfrm flipV="1">
              <a:off x="7373389" y="3136716"/>
              <a:ext cx="465512" cy="5499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7838902" y="4098175"/>
              <a:ext cx="72320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smtClean="0"/>
                <a:t>Class N</a:t>
              </a:r>
              <a:endParaRPr lang="en-US" sz="1200" dirty="0"/>
            </a:p>
          </p:txBody>
        </p:sp>
        <p:cxnSp>
          <p:nvCxnSpPr>
            <p:cNvPr id="15" name="Straight Arrow Connector 14"/>
            <p:cNvCxnSpPr>
              <a:endCxn id="12" idx="1"/>
            </p:cNvCxnSpPr>
            <p:nvPr/>
          </p:nvCxnSpPr>
          <p:spPr>
            <a:xfrm>
              <a:off x="7373389" y="3682537"/>
              <a:ext cx="465513" cy="5541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7838902" y="3273874"/>
              <a:ext cx="72320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smtClean="0"/>
                <a:t>Class 2</a:t>
              </a:r>
              <a:endParaRPr lang="en-US" sz="1200" dirty="0"/>
            </a:p>
          </p:txBody>
        </p:sp>
        <p:cxnSp>
          <p:nvCxnSpPr>
            <p:cNvPr id="18" name="Straight Arrow Connector 17"/>
            <p:cNvCxnSpPr>
              <a:stCxn id="4" idx="3"/>
              <a:endCxn id="16" idx="1"/>
            </p:cNvCxnSpPr>
            <p:nvPr/>
          </p:nvCxnSpPr>
          <p:spPr>
            <a:xfrm flipV="1">
              <a:off x="7373389" y="3412374"/>
              <a:ext cx="465513" cy="2743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6010102" y="4094018"/>
              <a:ext cx="153785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smtClean="0"/>
                <a:t>Machine Learning Model</a:t>
              </a:r>
              <a:endParaRPr lang="en-US" sz="1200" dirty="0"/>
            </a:p>
          </p:txBody>
        </p:sp>
      </p:grpSp>
      <p:sp>
        <p:nvSpPr>
          <p:cNvPr id="24" name="Date Placeholder 2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B6F28-65EE-44D6-BFFE-56AB02E1ABA6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26" name="Slide Number Placeholder 2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grpSp>
        <p:nvGrpSpPr>
          <p:cNvPr id="38" name="Group 37"/>
          <p:cNvGrpSpPr/>
          <p:nvPr/>
        </p:nvGrpSpPr>
        <p:grpSpPr>
          <a:xfrm>
            <a:off x="6000017" y="4807493"/>
            <a:ext cx="2135353" cy="1424403"/>
            <a:chOff x="6000017" y="4807493"/>
            <a:chExt cx="2135353" cy="1424403"/>
          </a:xfrm>
        </p:grpSpPr>
        <p:grpSp>
          <p:nvGrpSpPr>
            <p:cNvPr id="10" name="Group 9"/>
            <p:cNvGrpSpPr/>
            <p:nvPr/>
          </p:nvGrpSpPr>
          <p:grpSpPr>
            <a:xfrm>
              <a:off x="6000018" y="4807493"/>
              <a:ext cx="2135351" cy="906700"/>
              <a:chOff x="4385656" y="3751694"/>
              <a:chExt cx="2135351" cy="906700"/>
            </a:xfrm>
          </p:grpSpPr>
          <p:pic>
            <p:nvPicPr>
              <p:cNvPr id="5" name="Picture 4"/>
              <p:cNvPicPr>
                <a:picLocks noChangeAspect="1"/>
              </p:cNvPicPr>
              <p:nvPr/>
            </p:nvPicPr>
            <p:blipFill>
              <a:blip r:embed="rId2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4385656" y="3752462"/>
                <a:ext cx="907271" cy="905932"/>
              </a:xfrm>
              <a:prstGeom prst="rect">
                <a:avLst/>
              </a:prstGeom>
            </p:spPr>
          </p:pic>
          <p:pic>
            <p:nvPicPr>
              <p:cNvPr id="7" name="Picture 6"/>
              <p:cNvPicPr>
                <a:picLocks noChangeAspect="1"/>
              </p:cNvPicPr>
              <p:nvPr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5612967" y="3751694"/>
                <a:ext cx="908040" cy="906700"/>
              </a:xfrm>
              <a:prstGeom prst="rect">
                <a:avLst/>
              </a:prstGeom>
            </p:spPr>
          </p:pic>
        </p:grpSp>
        <p:sp>
          <p:nvSpPr>
            <p:cNvPr id="13" name="TextBox 12"/>
            <p:cNvSpPr txBox="1"/>
            <p:nvPr/>
          </p:nvSpPr>
          <p:spPr>
            <a:xfrm>
              <a:off x="6000017" y="5647121"/>
              <a:ext cx="90727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 smtClean="0"/>
                <a:t>Ordinary Stop Sign</a:t>
              </a:r>
              <a:endParaRPr lang="en-US" sz="800" dirty="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227330" y="5647121"/>
              <a:ext cx="90804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 smtClean="0"/>
                <a:t>Image produced after precise perturbation</a:t>
              </a:r>
              <a:endParaRPr lang="en-US" sz="800" dirty="0"/>
            </a:p>
          </p:txBody>
        </p:sp>
      </p:grpSp>
      <p:sp>
        <p:nvSpPr>
          <p:cNvPr id="17" name="TextBox 16"/>
          <p:cNvSpPr txBox="1"/>
          <p:nvPr/>
        </p:nvSpPr>
        <p:spPr>
          <a:xfrm>
            <a:off x="2589212" y="6465498"/>
            <a:ext cx="8915400" cy="272415"/>
          </a:xfrm>
          <a:prstGeom prst="roundRect">
            <a:avLst/>
          </a:prstGeom>
          <a:solidFill>
            <a:srgbClr val="2E536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000" dirty="0">
                <a:solidFill>
                  <a:schemeClr val="bg1"/>
                </a:solidFill>
              </a:rPr>
              <a:t>Practical Black-Box Attacks against Machine </a:t>
            </a:r>
            <a:r>
              <a:rPr lang="en-SG" sz="1000" dirty="0" smtClean="0">
                <a:solidFill>
                  <a:schemeClr val="bg1"/>
                </a:solidFill>
              </a:rPr>
              <a:t>Learning – </a:t>
            </a:r>
            <a:r>
              <a:rPr lang="en-US" sz="1000" dirty="0" smtClean="0">
                <a:solidFill>
                  <a:schemeClr val="bg1"/>
                </a:solidFill>
              </a:rPr>
              <a:t>Papernot et. al., ASIA CCS ‘17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79556" y="5247011"/>
            <a:ext cx="2678530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000" dirty="0" smtClean="0"/>
              <a:t>Legitimate </a:t>
            </a:r>
            <a:r>
              <a:rPr lang="en-SG" sz="1000" dirty="0" smtClean="0"/>
              <a:t>inputs altered by adding small, often imperceptible, perturbations</a:t>
            </a:r>
            <a:endParaRPr lang="en-US" sz="1000" dirty="0"/>
          </a:p>
        </p:txBody>
      </p:sp>
      <p:cxnSp>
        <p:nvCxnSpPr>
          <p:cNvPr id="35" name="Straight Arrow Connector 34"/>
          <p:cNvCxnSpPr>
            <a:endCxn id="19" idx="0"/>
          </p:cNvCxnSpPr>
          <p:nvPr/>
        </p:nvCxnSpPr>
        <p:spPr>
          <a:xfrm flipH="1">
            <a:off x="2518821" y="4206240"/>
            <a:ext cx="671720" cy="10407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88542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50300"/>
          </a:xfrm>
        </p:spPr>
        <p:txBody>
          <a:bodyPr/>
          <a:lstStyle/>
          <a:p>
            <a:r>
              <a:rPr lang="en-US" dirty="0" smtClean="0"/>
              <a:t>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1274410"/>
            <a:ext cx="8915400" cy="4636812"/>
          </a:xfrm>
        </p:spPr>
        <p:txBody>
          <a:bodyPr>
            <a:normAutofit fontScale="92500"/>
          </a:bodyPr>
          <a:lstStyle/>
          <a:p>
            <a:pPr algn="just"/>
            <a:r>
              <a:rPr lang="en-SG" dirty="0" smtClean="0"/>
              <a:t>The paper first introduced the demonstration of practical real-world black-box </a:t>
            </a:r>
            <a:r>
              <a:rPr lang="en-SG" dirty="0"/>
              <a:t>attacks against DNN </a:t>
            </a:r>
            <a:r>
              <a:rPr lang="en-SG" dirty="0" smtClean="0"/>
              <a:t>classifiers.</a:t>
            </a:r>
          </a:p>
          <a:p>
            <a:pPr algn="just"/>
            <a:r>
              <a:rPr lang="en-SG" dirty="0"/>
              <a:t>Assumptions</a:t>
            </a:r>
          </a:p>
          <a:p>
            <a:pPr lvl="1" algn="just"/>
            <a:r>
              <a:rPr lang="en-SG" dirty="0"/>
              <a:t>The adversary has no information about the structure or parameters of the DNN.</a:t>
            </a:r>
          </a:p>
          <a:p>
            <a:pPr lvl="1" algn="just"/>
            <a:r>
              <a:rPr lang="en-SG" dirty="0"/>
              <a:t>The adversary does not have access to any large training dataset.</a:t>
            </a:r>
          </a:p>
          <a:p>
            <a:pPr algn="just"/>
            <a:r>
              <a:rPr lang="en-SG" dirty="0" smtClean="0"/>
              <a:t>Capability</a:t>
            </a:r>
          </a:p>
          <a:p>
            <a:pPr lvl="1" algn="just"/>
            <a:r>
              <a:rPr lang="en-SG" dirty="0"/>
              <a:t>The adversary's </a:t>
            </a:r>
            <a:r>
              <a:rPr lang="en-SG" dirty="0" smtClean="0"/>
              <a:t>only capability </a:t>
            </a:r>
            <a:r>
              <a:rPr lang="en-SG" dirty="0"/>
              <a:t>is to observe labels assigned by the DNN for </a:t>
            </a:r>
            <a:r>
              <a:rPr lang="en-SG" dirty="0" smtClean="0"/>
              <a:t>chosen inputs</a:t>
            </a:r>
            <a:r>
              <a:rPr lang="en-SG" dirty="0"/>
              <a:t>, in a manner </a:t>
            </a:r>
            <a:r>
              <a:rPr lang="en-SG" dirty="0" smtClean="0"/>
              <a:t>analogous </a:t>
            </a:r>
            <a:r>
              <a:rPr lang="en-SG" dirty="0"/>
              <a:t>to a cryptographic oracle.</a:t>
            </a:r>
          </a:p>
          <a:p>
            <a:pPr algn="just"/>
            <a:r>
              <a:rPr lang="en-SG" dirty="0" smtClean="0"/>
              <a:t>Strategy</a:t>
            </a:r>
          </a:p>
          <a:p>
            <a:pPr lvl="1" algn="just"/>
            <a:r>
              <a:rPr lang="en-SG" dirty="0" smtClean="0"/>
              <a:t>Train </a:t>
            </a:r>
            <a:r>
              <a:rPr lang="en-SG" dirty="0"/>
              <a:t>a local </a:t>
            </a:r>
            <a:r>
              <a:rPr lang="en-SG" dirty="0" smtClean="0"/>
              <a:t>substitute DNN </a:t>
            </a:r>
            <a:r>
              <a:rPr lang="en-SG" dirty="0"/>
              <a:t>with a </a:t>
            </a:r>
            <a:r>
              <a:rPr lang="en-SG" i="1" u="sng" dirty="0"/>
              <a:t>synthetic </a:t>
            </a:r>
            <a:r>
              <a:rPr lang="en-SG" i="1" u="sng" dirty="0" smtClean="0"/>
              <a:t>dataset</a:t>
            </a:r>
            <a:r>
              <a:rPr lang="en-SG" dirty="0" smtClean="0"/>
              <a:t>.</a:t>
            </a:r>
          </a:p>
          <a:p>
            <a:pPr lvl="1" algn="just"/>
            <a:r>
              <a:rPr lang="en-SG" dirty="0"/>
              <a:t>Adversarial examples are crafted using the substitute </a:t>
            </a:r>
            <a:r>
              <a:rPr lang="en-SG" dirty="0" smtClean="0"/>
              <a:t>parameters, which </a:t>
            </a:r>
            <a:r>
              <a:rPr lang="en-SG" dirty="0"/>
              <a:t>are </a:t>
            </a:r>
            <a:r>
              <a:rPr lang="en-SG" dirty="0" smtClean="0"/>
              <a:t>known.</a:t>
            </a:r>
          </a:p>
          <a:p>
            <a:pPr lvl="1" algn="just"/>
            <a:r>
              <a:rPr lang="en-SG" dirty="0" smtClean="0"/>
              <a:t>They </a:t>
            </a:r>
            <a:r>
              <a:rPr lang="en-SG" dirty="0"/>
              <a:t>are not only </a:t>
            </a:r>
            <a:r>
              <a:rPr lang="en-SG" dirty="0" smtClean="0"/>
              <a:t>misclassified by </a:t>
            </a:r>
            <a:r>
              <a:rPr lang="en-SG" dirty="0"/>
              <a:t>the substitute but also by the target DNN, because </a:t>
            </a:r>
            <a:r>
              <a:rPr lang="en-SG" dirty="0" smtClean="0"/>
              <a:t>both models </a:t>
            </a:r>
            <a:r>
              <a:rPr lang="en-SG" dirty="0"/>
              <a:t>have similar decision </a:t>
            </a:r>
            <a:r>
              <a:rPr lang="en-SG" dirty="0" smtClean="0"/>
              <a:t>boundaries</a:t>
            </a:r>
            <a:r>
              <a:rPr lang="en-SG" dirty="0"/>
              <a:t> </a:t>
            </a:r>
            <a:r>
              <a:rPr lang="en-SG" dirty="0" smtClean="0"/>
              <a:t>due to </a:t>
            </a:r>
            <a:r>
              <a:rPr lang="en-SG" i="1" u="sng" dirty="0" smtClean="0"/>
              <a:t>transferability</a:t>
            </a:r>
            <a:r>
              <a:rPr lang="en-SG" dirty="0" smtClean="0"/>
              <a:t> between architectures.</a:t>
            </a:r>
          </a:p>
        </p:txBody>
      </p:sp>
      <p:sp>
        <p:nvSpPr>
          <p:cNvPr id="24" name="Date Placeholder 2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B6F28-65EE-44D6-BFFE-56AB02E1ABA6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26" name="Slide Number Placeholder 2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589212" y="6465498"/>
            <a:ext cx="8915400" cy="272415"/>
          </a:xfrm>
          <a:prstGeom prst="roundRect">
            <a:avLst/>
          </a:prstGeom>
          <a:solidFill>
            <a:srgbClr val="2E536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000" dirty="0">
                <a:solidFill>
                  <a:schemeClr val="bg1"/>
                </a:solidFill>
              </a:rPr>
              <a:t>Practical Black-Box Attacks against Machine </a:t>
            </a:r>
            <a:r>
              <a:rPr lang="en-SG" sz="1000" dirty="0" smtClean="0">
                <a:solidFill>
                  <a:schemeClr val="bg1"/>
                </a:solidFill>
              </a:rPr>
              <a:t>Learning – </a:t>
            </a:r>
            <a:r>
              <a:rPr lang="en-US" sz="1000" dirty="0" smtClean="0">
                <a:solidFill>
                  <a:schemeClr val="bg1"/>
                </a:solidFill>
              </a:rPr>
              <a:t>Papernot et. al., ASIA CCS ‘17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900457" y="3841573"/>
            <a:ext cx="2011681" cy="5539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SG" sz="1000" dirty="0" smtClean="0"/>
              <a:t>Generated </a:t>
            </a:r>
            <a:r>
              <a:rPr lang="en-SG" sz="1000" dirty="0"/>
              <a:t>by </a:t>
            </a:r>
            <a:r>
              <a:rPr lang="en-SG" sz="1000" dirty="0" smtClean="0"/>
              <a:t>the adversary, while the outputs are labels assigned by </a:t>
            </a:r>
            <a:r>
              <a:rPr lang="en-SG" sz="1000" dirty="0"/>
              <a:t>the target </a:t>
            </a:r>
            <a:r>
              <a:rPr lang="en-SG" sz="1000" dirty="0" smtClean="0"/>
              <a:t>DNN</a:t>
            </a:r>
            <a:endParaRPr lang="en-US" sz="1000" dirty="0"/>
          </a:p>
        </p:txBody>
      </p:sp>
      <p:cxnSp>
        <p:nvCxnSpPr>
          <p:cNvPr id="21" name="Straight Arrow Connector 20"/>
          <p:cNvCxnSpPr>
            <a:endCxn id="14" idx="1"/>
          </p:cNvCxnSpPr>
          <p:nvPr/>
        </p:nvCxnSpPr>
        <p:spPr>
          <a:xfrm flipV="1">
            <a:off x="8545484" y="4118572"/>
            <a:ext cx="1354973" cy="2769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42226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50300"/>
          </a:xfrm>
        </p:spPr>
        <p:txBody>
          <a:bodyPr/>
          <a:lstStyle/>
          <a:p>
            <a:r>
              <a:rPr lang="en-US" dirty="0" smtClean="0"/>
              <a:t>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1274410"/>
            <a:ext cx="8915400" cy="4636812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en-SG" dirty="0" smtClean="0"/>
              <a:t>Advantages</a:t>
            </a:r>
          </a:p>
          <a:p>
            <a:pPr lvl="1" algn="just"/>
            <a:r>
              <a:rPr lang="en-SG" dirty="0" smtClean="0"/>
              <a:t>In comparison to previous works</a:t>
            </a:r>
          </a:p>
          <a:p>
            <a:pPr lvl="2" algn="just"/>
            <a:r>
              <a:rPr lang="en-SG" dirty="0" smtClean="0"/>
              <a:t>Detailed knowledge of the DNN architecture and parameters.</a:t>
            </a:r>
          </a:p>
          <a:p>
            <a:pPr lvl="3" algn="just"/>
            <a:r>
              <a:rPr lang="en-SG" i="1" dirty="0" smtClean="0"/>
              <a:t>Learning a substitute - gives the benefit of having full access to the model and apply previous adversarial example crafting methods.</a:t>
            </a:r>
          </a:p>
          <a:p>
            <a:pPr lvl="2" algn="just"/>
            <a:r>
              <a:rPr lang="en-SG" dirty="0" smtClean="0"/>
              <a:t>An independently collected training set to fit an auxiliary model.</a:t>
            </a:r>
          </a:p>
          <a:p>
            <a:pPr lvl="3" algn="just"/>
            <a:r>
              <a:rPr lang="en-SG" i="1" dirty="0" smtClean="0"/>
              <a:t>Replacing with a synthetic dataset constructed by the adversary with synthetic inputs and labelled by observing the target DNN's output.</a:t>
            </a:r>
          </a:p>
          <a:p>
            <a:pPr lvl="1" algn="just"/>
            <a:r>
              <a:rPr lang="en-SG" dirty="0" smtClean="0"/>
              <a:t>Corresponds to the real-world scenario of users interacting with classifiers hosted remotely by a third-party keeping the model internals secret.</a:t>
            </a:r>
          </a:p>
          <a:p>
            <a:pPr lvl="2" algn="just"/>
            <a:r>
              <a:rPr lang="en-SG" dirty="0" smtClean="0"/>
              <a:t>Classifiers automatically trained by MetaMind, Amazon, and Google.</a:t>
            </a:r>
          </a:p>
          <a:p>
            <a:pPr algn="just"/>
            <a:r>
              <a:rPr lang="en-SG" dirty="0" smtClean="0"/>
              <a:t>Applicability</a:t>
            </a:r>
          </a:p>
          <a:p>
            <a:pPr lvl="1"/>
            <a:r>
              <a:rPr lang="en-US" dirty="0" smtClean="0"/>
              <a:t>The capabilities required </a:t>
            </a:r>
            <a:r>
              <a:rPr lang="en-SG" dirty="0" smtClean="0"/>
              <a:t>are limited to observing output class labels only.</a:t>
            </a:r>
          </a:p>
          <a:p>
            <a:pPr lvl="1"/>
            <a:r>
              <a:rPr lang="en-SG" dirty="0" smtClean="0"/>
              <a:t>The number of labels queried are limited.</a:t>
            </a:r>
          </a:p>
          <a:p>
            <a:pPr lvl="1"/>
            <a:r>
              <a:rPr lang="en-SG" dirty="0" smtClean="0"/>
              <a:t>Scales </a:t>
            </a:r>
            <a:r>
              <a:rPr lang="en-SG" dirty="0"/>
              <a:t>to </a:t>
            </a:r>
            <a:r>
              <a:rPr lang="en-SG" dirty="0" smtClean="0"/>
              <a:t>different </a:t>
            </a:r>
            <a:r>
              <a:rPr lang="en-SG" dirty="0"/>
              <a:t>ML </a:t>
            </a:r>
            <a:r>
              <a:rPr lang="en-SG" dirty="0" smtClean="0"/>
              <a:t>classifier types in </a:t>
            </a:r>
            <a:r>
              <a:rPr lang="en-SG" dirty="0"/>
              <a:t>addition to state-of-the-art </a:t>
            </a:r>
            <a:r>
              <a:rPr lang="en-SG" dirty="0" smtClean="0"/>
              <a:t>DNNs.</a:t>
            </a:r>
          </a:p>
        </p:txBody>
      </p:sp>
      <p:sp>
        <p:nvSpPr>
          <p:cNvPr id="24" name="Date Placeholder 2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B6F28-65EE-44D6-BFFE-56AB02E1ABA6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26" name="Slide Number Placeholder 2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589212" y="6465498"/>
            <a:ext cx="8915400" cy="272415"/>
          </a:xfrm>
          <a:prstGeom prst="roundRect">
            <a:avLst/>
          </a:prstGeom>
          <a:solidFill>
            <a:srgbClr val="2E536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000" dirty="0">
                <a:solidFill>
                  <a:schemeClr val="bg1"/>
                </a:solidFill>
              </a:rPr>
              <a:t>Practical Black-Box Attacks against Machine </a:t>
            </a:r>
            <a:r>
              <a:rPr lang="en-SG" sz="1000" dirty="0" smtClean="0">
                <a:solidFill>
                  <a:schemeClr val="bg1"/>
                </a:solidFill>
              </a:rPr>
              <a:t>Learning – </a:t>
            </a:r>
            <a:r>
              <a:rPr lang="en-US" sz="1000" dirty="0" smtClean="0">
                <a:solidFill>
                  <a:schemeClr val="bg1"/>
                </a:solidFill>
              </a:rPr>
              <a:t>Papernot et. al., ASIA CCS ‘17</a:t>
            </a:r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82098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50300"/>
          </a:xfrm>
        </p:spPr>
        <p:txBody>
          <a:bodyPr/>
          <a:lstStyle/>
          <a:p>
            <a:r>
              <a:rPr lang="en-US" dirty="0" smtClean="0"/>
              <a:t>Deep Neural Network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589212" y="2128058"/>
                <a:ext cx="8915400" cy="3783165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en-SG" dirty="0" smtClean="0"/>
                  <a:t>Uses a hierarchical composition of n parametric functions to model an input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SG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SG" dirty="0" smtClean="0"/>
                  <a:t>.</a:t>
                </a:r>
              </a:p>
              <a:p>
                <a:pPr algn="just"/>
                <a:r>
                  <a:rPr lang="en-SG" dirty="0"/>
                  <a:t>Each function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SG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SG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r>
                  <a:rPr lang="en-SG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=1..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SG" dirty="0" smtClean="0"/>
                  <a:t> is </a:t>
                </a:r>
                <a:r>
                  <a:rPr lang="en-SG" dirty="0"/>
                  <a:t>modeled</a:t>
                </a:r>
                <a:r>
                  <a:rPr lang="en-SG" dirty="0"/>
                  <a:t> using a layer of </a:t>
                </a:r>
                <a:r>
                  <a:rPr lang="en-SG" dirty="0" smtClean="0"/>
                  <a:t>neurons </a:t>
                </a:r>
                <a:r>
                  <a:rPr lang="en-SG" dirty="0"/>
                  <a:t>applying an activation </a:t>
                </a:r>
                <a:r>
                  <a:rPr lang="en-SG" dirty="0" smtClean="0"/>
                  <a:t>function to </a:t>
                </a:r>
                <a:r>
                  <a:rPr lang="en-SG" dirty="0"/>
                  <a:t>the previous layer's weighted representation of the input </a:t>
                </a:r>
                <a:r>
                  <a:rPr lang="en-SG" dirty="0" smtClean="0"/>
                  <a:t>to generate </a:t>
                </a:r>
                <a:r>
                  <a:rPr lang="en-SG" dirty="0"/>
                  <a:t>a new representation</a:t>
                </a:r>
                <a:r>
                  <a:rPr lang="en-SG" dirty="0" smtClean="0"/>
                  <a:t>.</a:t>
                </a:r>
              </a:p>
              <a:p>
                <a:pPr algn="just"/>
                <a:r>
                  <a:rPr lang="en-SG" dirty="0"/>
                  <a:t>Each layer is </a:t>
                </a:r>
                <a:r>
                  <a:rPr lang="en-SG" dirty="0" smtClean="0"/>
                  <a:t>parameterized by </a:t>
                </a:r>
                <a:r>
                  <a:rPr lang="en-SG" dirty="0"/>
                  <a:t>a weight vector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SG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SG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SG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r>
                  <a:rPr lang="en-SG" dirty="0" smtClean="0"/>
                  <a:t> impacting each </a:t>
                </a:r>
                <a:r>
                  <a:rPr lang="en-SG" dirty="0"/>
                  <a:t>neuron's activation. Such weights hold the knowledge </a:t>
                </a:r>
                <a:r>
                  <a:rPr lang="en-SG" dirty="0" smtClean="0"/>
                  <a:t>of a </a:t>
                </a:r>
                <a:r>
                  <a:rPr lang="en-SG" dirty="0"/>
                  <a:t>DNN model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SG" dirty="0" smtClean="0"/>
                  <a:t> </a:t>
                </a:r>
                <a:r>
                  <a:rPr lang="en-SG" dirty="0"/>
                  <a:t>and are evaluated during its training </a:t>
                </a:r>
                <a:r>
                  <a:rPr lang="en-SG" dirty="0" smtClean="0"/>
                  <a:t>phase.</a:t>
                </a:r>
              </a:p>
              <a:p>
                <a:pPr algn="just"/>
                <a:r>
                  <a:rPr lang="en-SG" dirty="0"/>
                  <a:t>Thus, a DNN </a:t>
                </a:r>
                <a:r>
                  <a:rPr lang="en-SG" dirty="0" smtClean="0"/>
                  <a:t>defines </a:t>
                </a:r>
                <a:r>
                  <a:rPr lang="en-SG" dirty="0"/>
                  <a:t>and computes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89212" y="2128058"/>
                <a:ext cx="8915400" cy="3783165"/>
              </a:xfrm>
              <a:blipFill>
                <a:blip r:embed="rId2"/>
                <a:stretch>
                  <a:fillRect l="-479" t="-805" r="-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Date Placeholder 2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B6F28-65EE-44D6-BFFE-56AB02E1ABA6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26" name="Slide Number Placeholder 2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589212" y="6465498"/>
            <a:ext cx="8915400" cy="272415"/>
          </a:xfrm>
          <a:prstGeom prst="roundRect">
            <a:avLst/>
          </a:prstGeom>
          <a:solidFill>
            <a:srgbClr val="2E536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000" dirty="0">
                <a:solidFill>
                  <a:schemeClr val="bg1"/>
                </a:solidFill>
              </a:rPr>
              <a:t>Practical Black-Box Attacks against Machine </a:t>
            </a:r>
            <a:r>
              <a:rPr lang="en-SG" sz="1000" dirty="0" smtClean="0">
                <a:solidFill>
                  <a:schemeClr val="bg1"/>
                </a:solidFill>
              </a:rPr>
              <a:t>Learning – </a:t>
            </a:r>
            <a:r>
              <a:rPr lang="en-US" sz="1000" dirty="0" smtClean="0">
                <a:solidFill>
                  <a:schemeClr val="bg1"/>
                </a:solidFill>
              </a:rPr>
              <a:t>Papernot et. al., ASIA CCS ‘17</a:t>
            </a:r>
            <a:endParaRPr lang="en-US" sz="1000" dirty="0">
              <a:solidFill>
                <a:schemeClr val="bg1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251078" y="0"/>
            <a:ext cx="2940922" cy="212805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765133" y="5261957"/>
                <a:ext cx="4563557" cy="3196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))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5133" y="5261957"/>
                <a:ext cx="4563557" cy="319639"/>
              </a:xfrm>
              <a:prstGeom prst="rect">
                <a:avLst/>
              </a:prstGeom>
              <a:blipFill>
                <a:blip r:embed="rId4"/>
                <a:stretch>
                  <a:fillRect l="-668" t="-24528" r="-1471" b="-30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85757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50300"/>
          </a:xfrm>
        </p:spPr>
        <p:txBody>
          <a:bodyPr/>
          <a:lstStyle/>
          <a:p>
            <a:r>
              <a:rPr lang="en-US" dirty="0" smtClean="0"/>
              <a:t>Deep Neural Network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589212" y="2128058"/>
                <a:ext cx="8915400" cy="3783165"/>
              </a:xfrm>
            </p:spPr>
            <p:txBody>
              <a:bodyPr>
                <a:normAutofit lnSpcReduction="10000"/>
              </a:bodyPr>
              <a:lstStyle/>
              <a:p>
                <a:pPr algn="just"/>
                <a:r>
                  <a:rPr lang="en-SG" dirty="0"/>
                  <a:t>The </a:t>
                </a:r>
                <a:r>
                  <a:rPr lang="en-SG" b="1" i="1" dirty="0"/>
                  <a:t>training phase</a:t>
                </a:r>
                <a:r>
                  <a:rPr lang="en-SG" dirty="0"/>
                  <a:t> of a DNN F learns values for its </a:t>
                </a:r>
                <a:r>
                  <a:rPr lang="en-SG" dirty="0" smtClean="0"/>
                  <a:t>parameters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SG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SG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SG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sub>
                        </m:sSub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SG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SG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SG" dirty="0"/>
                  <a:t>.</a:t>
                </a:r>
              </a:p>
              <a:p>
                <a:pPr lvl="1" algn="just"/>
                <a:r>
                  <a:rPr lang="en-SG" dirty="0"/>
                  <a:t>For a classification tasks, where the goal is to assign inputs a label among a predefined set of labels, the DNN is given a large set of known input-output pairs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  <m:ctrlPr>
                          <a:rPr lang="en-SG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SG" dirty="0"/>
                  <a:t> and it adjusts weight parameters to reduce a cost quantifying the prediction error between the prediction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SG" dirty="0"/>
                  <a:t> </a:t>
                </a:r>
                <a:r>
                  <a:rPr lang="en-SG" dirty="0"/>
                  <a:t>and the correct output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SG" dirty="0"/>
                  <a:t>. The adjustment is typically performed using techniques derived from the backpropagation algorithm.</a:t>
                </a:r>
              </a:p>
              <a:p>
                <a:r>
                  <a:rPr lang="en-SG" dirty="0"/>
                  <a:t>During the </a:t>
                </a:r>
                <a:r>
                  <a:rPr lang="en-SG" b="1" i="1" dirty="0"/>
                  <a:t>test </a:t>
                </a:r>
                <a:r>
                  <a:rPr lang="en-SG" b="1" i="1" dirty="0"/>
                  <a:t>phase</a:t>
                </a:r>
                <a:r>
                  <a:rPr lang="en-SG" dirty="0"/>
                  <a:t>, the </a:t>
                </a:r>
                <a:r>
                  <a:rPr lang="en-SG" dirty="0"/>
                  <a:t>DNN is deployed with a </a:t>
                </a:r>
                <a:r>
                  <a:rPr lang="en-SG" dirty="0"/>
                  <a:t>fixed set </a:t>
                </a:r>
                <a:r>
                  <a:rPr lang="en-SG" dirty="0"/>
                  <a:t>of parameters </a:t>
                </a:r>
                <a14:m>
                  <m:oMath xmlns:m="http://schemas.openxmlformats.org/officeDocument/2006/math">
                    <m:r>
                      <a:rPr lang="en-SG" i="1" dirty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SG" dirty="0"/>
                  <a:t> to make predictions on inputs </a:t>
                </a:r>
                <a:r>
                  <a:rPr lang="en-SG" dirty="0"/>
                  <a:t>unseen during training.</a:t>
                </a:r>
              </a:p>
              <a:p>
                <a:pPr lvl="1"/>
                <a:r>
                  <a:rPr lang="en-SG" dirty="0"/>
                  <a:t>For a classification task </a:t>
                </a:r>
                <a:r>
                  <a:rPr lang="en-SG" dirty="0"/>
                  <a:t>the DNN </a:t>
                </a:r>
                <a:r>
                  <a:rPr lang="en-SG" dirty="0"/>
                  <a:t>produces a </a:t>
                </a:r>
                <a:r>
                  <a:rPr lang="en-SG" dirty="0"/>
                  <a:t>probability vector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SG" dirty="0"/>
                  <a:t> encoding </a:t>
                </a:r>
                <a:r>
                  <a:rPr lang="en-SG" dirty="0"/>
                  <a:t>its belief of input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SG" dirty="0"/>
                  <a:t> </a:t>
                </a:r>
                <a:r>
                  <a:rPr lang="en-SG" dirty="0"/>
                  <a:t>being in </a:t>
                </a:r>
                <a:r>
                  <a:rPr lang="en-SG" dirty="0"/>
                  <a:t>each of the </a:t>
                </a:r>
                <a:r>
                  <a:rPr lang="en-SG" dirty="0"/>
                  <a:t>classes. </a:t>
                </a:r>
                <a:r>
                  <a:rPr lang="en-SG" dirty="0"/>
                  <a:t>The weight </a:t>
                </a:r>
                <a:r>
                  <a:rPr lang="en-SG" dirty="0"/>
                  <a:t>parameters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SG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</m:oMath>
                </a14:m>
                <a:r>
                  <a:rPr lang="en-SG" dirty="0"/>
                  <a:t> hold </a:t>
                </a:r>
                <a:r>
                  <a:rPr lang="en-SG" dirty="0"/>
                  <a:t>the model knowledge acquired by training</a:t>
                </a:r>
                <a:r>
                  <a:rPr lang="en-SG" dirty="0"/>
                  <a:t>.</a:t>
                </a:r>
                <a:endParaRPr lang="en-SG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89212" y="2128058"/>
                <a:ext cx="8915400" cy="3783165"/>
              </a:xfrm>
              <a:blipFill>
                <a:blip r:embed="rId2"/>
                <a:stretch>
                  <a:fillRect l="-479" t="-644" r="-3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Date Placeholder 2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B6F28-65EE-44D6-BFFE-56AB02E1ABA6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26" name="Slide Number Placeholder 2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589212" y="6465498"/>
            <a:ext cx="8915400" cy="272415"/>
          </a:xfrm>
          <a:prstGeom prst="roundRect">
            <a:avLst/>
          </a:prstGeom>
          <a:solidFill>
            <a:srgbClr val="2E536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000" dirty="0">
                <a:solidFill>
                  <a:schemeClr val="bg1"/>
                </a:solidFill>
              </a:rPr>
              <a:t>Practical Black-Box Attacks against Machine </a:t>
            </a:r>
            <a:r>
              <a:rPr lang="en-SG" sz="1000" dirty="0" smtClean="0">
                <a:solidFill>
                  <a:schemeClr val="bg1"/>
                </a:solidFill>
              </a:rPr>
              <a:t>Learning – </a:t>
            </a:r>
            <a:r>
              <a:rPr lang="en-US" sz="1000" dirty="0" smtClean="0">
                <a:solidFill>
                  <a:schemeClr val="bg1"/>
                </a:solidFill>
              </a:rPr>
              <a:t>Papernot et. al., ASIA CCS ‘17</a:t>
            </a:r>
            <a:endParaRPr lang="en-US" sz="1000" dirty="0">
              <a:solidFill>
                <a:schemeClr val="bg1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251078" y="0"/>
            <a:ext cx="2940922" cy="2128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978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50300"/>
          </a:xfrm>
        </p:spPr>
        <p:txBody>
          <a:bodyPr/>
          <a:lstStyle/>
          <a:p>
            <a:r>
              <a:rPr lang="en-US" dirty="0" smtClean="0"/>
              <a:t>Threat Model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589212" y="1274410"/>
                <a:ext cx="8915400" cy="4636812"/>
              </a:xfrm>
            </p:spPr>
            <p:txBody>
              <a:bodyPr>
                <a:normAutofit lnSpcReduction="10000"/>
              </a:bodyPr>
              <a:lstStyle/>
              <a:p>
                <a:pPr algn="just"/>
                <a:r>
                  <a:rPr lang="en-SG" dirty="0" smtClean="0"/>
                  <a:t>Targeted Model</a:t>
                </a:r>
              </a:p>
              <a:p>
                <a:pPr lvl="1" algn="just"/>
                <a:r>
                  <a:rPr lang="en-SG" b="1" dirty="0"/>
                  <a:t>Targeting a multiclass DNN classifier.</a:t>
                </a:r>
                <a:r>
                  <a:rPr lang="en-SG" dirty="0"/>
                  <a:t> It outputs probability vectors, where each vector component encodes the DNN's belief of the input being part of one of the predefined classes</a:t>
                </a:r>
                <a:r>
                  <a:rPr lang="en-SG" dirty="0" smtClean="0"/>
                  <a:t>.</a:t>
                </a:r>
                <a:endParaRPr lang="en-SG" dirty="0"/>
              </a:p>
              <a:p>
                <a:pPr algn="just"/>
                <a:r>
                  <a:rPr lang="en-SG" dirty="0"/>
                  <a:t>Adversarial </a:t>
                </a:r>
                <a:r>
                  <a:rPr lang="en-SG" dirty="0" smtClean="0"/>
                  <a:t>Capabilities</a:t>
                </a:r>
              </a:p>
              <a:p>
                <a:pPr lvl="1" algn="just"/>
                <a:r>
                  <a:rPr lang="en-SG" dirty="0" smtClean="0"/>
                  <a:t>The </a:t>
                </a:r>
                <a:r>
                  <a:rPr lang="en-SG" i="1" dirty="0"/>
                  <a:t>oracle</a:t>
                </a:r>
                <a:r>
                  <a:rPr lang="en-SG" dirty="0"/>
                  <a:t> </a:t>
                </a:r>
                <a14:m>
                  <m:oMath xmlns:m="http://schemas.openxmlformats.org/officeDocument/2006/math">
                    <m:r>
                      <a:rPr lang="en-SG" i="1" dirty="0" smtClean="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SG" dirty="0"/>
                  <a:t> is the </a:t>
                </a:r>
                <a:r>
                  <a:rPr lang="en-SG" dirty="0" smtClean="0"/>
                  <a:t>targeted DNN</a:t>
                </a:r>
                <a:r>
                  <a:rPr lang="en-SG" dirty="0"/>
                  <a:t>. </a:t>
                </a:r>
                <a:r>
                  <a:rPr lang="en-SG" dirty="0" smtClean="0"/>
                  <a:t>Only </a:t>
                </a:r>
                <a:r>
                  <a:rPr lang="en-SG" dirty="0"/>
                  <a:t>capability of the </a:t>
                </a:r>
                <a:r>
                  <a:rPr lang="en-SG" dirty="0" smtClean="0"/>
                  <a:t>adversary is accessing </a:t>
                </a:r>
                <a:r>
                  <a:rPr lang="en-SG" dirty="0"/>
                  <a:t>the label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SG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SG" dirty="0" smtClean="0"/>
                  <a:t> for </a:t>
                </a:r>
                <a:r>
                  <a:rPr lang="en-SG" dirty="0"/>
                  <a:t>any input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SG" dirty="0"/>
                  <a:t> by querying </a:t>
                </a:r>
                <a:r>
                  <a:rPr lang="en-SG" dirty="0" smtClean="0"/>
                  <a:t>oracle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SG" dirty="0" smtClean="0"/>
                  <a:t>. </a:t>
                </a:r>
                <a:r>
                  <a:rPr lang="en-SG" dirty="0"/>
                  <a:t>The output label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SG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SG" dirty="0"/>
                  <a:t> is the index of the class </a:t>
                </a:r>
                <a:r>
                  <a:rPr lang="en-SG" dirty="0" smtClean="0"/>
                  <a:t>assigned the </a:t>
                </a:r>
                <a:r>
                  <a:rPr lang="en-SG" dirty="0"/>
                  <a:t>largest probability by the </a:t>
                </a:r>
                <a:r>
                  <a:rPr lang="en-SG" dirty="0" smtClean="0"/>
                  <a:t>DNN.</a:t>
                </a:r>
              </a:p>
              <a:p>
                <a:pPr marL="457200" lvl="1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SG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ac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</m:fNam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e>
                          </m:fun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=0,  …, 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US" dirty="0" smtClean="0"/>
              </a:p>
              <a:p>
                <a:pPr marL="457200" lvl="1" indent="0" algn="just">
                  <a:buNone/>
                </a:pPr>
                <a:r>
                  <a:rPr lang="en-SG" dirty="0"/>
                  <a:t> </a:t>
                </a:r>
                <a:r>
                  <a:rPr lang="en-SG" dirty="0" smtClean="0"/>
                  <a:t>    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r>
                  <a:rPr lang="en-SG" dirty="0"/>
                  <a:t> is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SG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SG" dirty="0" smtClean="0"/>
                  <a:t> component </a:t>
                </a:r>
                <a:r>
                  <a:rPr lang="en-SG" dirty="0"/>
                  <a:t>of the probability </a:t>
                </a:r>
                <a:r>
                  <a:rPr lang="en-SG" dirty="0" smtClean="0"/>
                  <a:t>vector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SG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r>
                  <a:rPr lang="en-SG" dirty="0"/>
                  <a:t> output by DNN </a:t>
                </a:r>
                <a14:m>
                  <m:oMath xmlns:m="http://schemas.openxmlformats.org/officeDocument/2006/math">
                    <m:r>
                      <a:rPr lang="en-SG" i="1" dirty="0" smtClean="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SG" dirty="0" smtClean="0"/>
                  <a:t>. </a:t>
                </a:r>
              </a:p>
              <a:p>
                <a:pPr lvl="1" algn="just"/>
                <a:r>
                  <a:rPr lang="en-SG" dirty="0" smtClean="0"/>
                  <a:t>Distinguishing </a:t>
                </a:r>
                <a:r>
                  <a:rPr lang="en-SG" dirty="0"/>
                  <a:t>between labels </a:t>
                </a:r>
                <a:r>
                  <a:rPr lang="en-SG" dirty="0" smtClean="0"/>
                  <a:t>and probabilities </a:t>
                </a:r>
                <a:r>
                  <a:rPr lang="en-SG" dirty="0"/>
                  <a:t>makes adversaries realistic (they more </a:t>
                </a:r>
                <a:r>
                  <a:rPr lang="en-SG" dirty="0" smtClean="0"/>
                  <a:t>often have </a:t>
                </a:r>
                <a:r>
                  <a:rPr lang="en-SG" dirty="0"/>
                  <a:t>access to labels than probabilities) </a:t>
                </a:r>
                <a:r>
                  <a:rPr lang="en-SG" dirty="0" smtClean="0"/>
                  <a:t>but weaker: labels encode </a:t>
                </a:r>
                <a:r>
                  <a:rPr lang="en-SG" dirty="0"/>
                  <a:t>less information about the model's learned </a:t>
                </a:r>
                <a:r>
                  <a:rPr lang="en-SG" dirty="0" smtClean="0"/>
                  <a:t>behaviour.</a:t>
                </a:r>
              </a:p>
              <a:p>
                <a:pPr lvl="1" algn="just"/>
                <a:r>
                  <a:rPr lang="en-SG" b="1" i="1" dirty="0" smtClean="0"/>
                  <a:t>Accessing </a:t>
                </a:r>
                <a:r>
                  <a:rPr lang="en-SG" b="1" i="1" dirty="0"/>
                  <a:t>labels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SG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𝑶</m:t>
                        </m:r>
                      </m:e>
                    </m:acc>
                  </m:oMath>
                </a14:m>
                <a:r>
                  <a:rPr lang="en-SG" b="1" i="1" dirty="0"/>
                  <a:t> produced by the DNN </a:t>
                </a:r>
                <a14:m>
                  <m:oMath xmlns:m="http://schemas.openxmlformats.org/officeDocument/2006/math">
                    <m:r>
                      <a:rPr lang="en-SG" b="1" i="1" dirty="0" smtClean="0">
                        <a:latin typeface="Cambria Math" panose="02040503050406030204" pitchFamily="18" charset="0"/>
                      </a:rPr>
                      <m:t>𝑶</m:t>
                    </m:r>
                  </m:oMath>
                </a14:m>
                <a:r>
                  <a:rPr lang="en-SG" b="1" i="1" dirty="0"/>
                  <a:t> is </a:t>
                </a:r>
                <a:r>
                  <a:rPr lang="en-SG" b="1" i="1" dirty="0" smtClean="0"/>
                  <a:t>the only </a:t>
                </a:r>
                <a:r>
                  <a:rPr lang="en-SG" b="1" i="1" dirty="0"/>
                  <a:t>capability assumed in </a:t>
                </a:r>
                <a:r>
                  <a:rPr lang="en-SG" b="1" i="1" dirty="0" smtClean="0"/>
                  <a:t>the </a:t>
                </a:r>
                <a:r>
                  <a:rPr lang="en-SG" b="1" i="1" dirty="0"/>
                  <a:t>threat model. </a:t>
                </a:r>
                <a:r>
                  <a:rPr lang="en-SG" b="1" i="1" dirty="0" smtClean="0"/>
                  <a:t>The adversary does not </a:t>
                </a:r>
                <a:r>
                  <a:rPr lang="en-SG" b="1" i="1" dirty="0"/>
                  <a:t>have access to the oracle internals or training data</a:t>
                </a:r>
                <a:r>
                  <a:rPr lang="en-SG" b="1" i="1" dirty="0" smtClean="0"/>
                  <a:t>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89212" y="1274410"/>
                <a:ext cx="8915400" cy="4636812"/>
              </a:xfrm>
              <a:blipFill>
                <a:blip r:embed="rId2"/>
                <a:stretch>
                  <a:fillRect l="-479" t="-1314" r="-3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Date Placeholder 2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B6F28-65EE-44D6-BFFE-56AB02E1ABA6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26" name="Slide Number Placeholder 2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589212" y="6465498"/>
            <a:ext cx="8915400" cy="272415"/>
          </a:xfrm>
          <a:prstGeom prst="roundRect">
            <a:avLst/>
          </a:prstGeom>
          <a:solidFill>
            <a:srgbClr val="2E536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000" dirty="0">
                <a:solidFill>
                  <a:schemeClr val="bg1"/>
                </a:solidFill>
              </a:rPr>
              <a:t>Practical Black-Box Attacks against Machine </a:t>
            </a:r>
            <a:r>
              <a:rPr lang="en-SG" sz="1000" dirty="0" smtClean="0">
                <a:solidFill>
                  <a:schemeClr val="bg1"/>
                </a:solidFill>
              </a:rPr>
              <a:t>Learning – </a:t>
            </a:r>
            <a:r>
              <a:rPr lang="en-US" sz="1000" dirty="0" smtClean="0">
                <a:solidFill>
                  <a:schemeClr val="bg1"/>
                </a:solidFill>
              </a:rPr>
              <a:t>Papernot et. al., ASIA CCS ‘17</a:t>
            </a:r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33425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50300"/>
          </a:xfrm>
        </p:spPr>
        <p:txBody>
          <a:bodyPr/>
          <a:lstStyle/>
          <a:p>
            <a:r>
              <a:rPr lang="en-US" dirty="0" smtClean="0"/>
              <a:t>Threat Model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589212" y="1274410"/>
                <a:ext cx="8915400" cy="4636812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en-SG" dirty="0" smtClean="0"/>
                  <a:t>Adversarial Goal</a:t>
                </a:r>
              </a:p>
              <a:p>
                <a:pPr lvl="1" algn="just"/>
                <a:r>
                  <a:rPr lang="en-SG" b="1" dirty="0" smtClean="0"/>
                  <a:t>To </a:t>
                </a:r>
                <a:r>
                  <a:rPr lang="en-SG" b="1" dirty="0"/>
                  <a:t>produce a minimally </a:t>
                </a:r>
                <a:r>
                  <a:rPr lang="en-SG" b="1" dirty="0" smtClean="0"/>
                  <a:t>altered version </a:t>
                </a:r>
                <a:r>
                  <a:rPr lang="en-SG" b="1" dirty="0"/>
                  <a:t>of any input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acc>
                  </m:oMath>
                </a14:m>
                <a:r>
                  <a:rPr lang="en-SG" dirty="0"/>
                  <a:t>, named adversarial sample, </a:t>
                </a:r>
                <a:r>
                  <a:rPr lang="en-SG" dirty="0" smtClean="0"/>
                  <a:t>and denoted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⃗"/>
                            <m:ctrlPr>
                              <a:rPr lang="en-US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b="0" i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</m:acc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SG" dirty="0" smtClean="0"/>
                  <a:t>, misclassified </a:t>
                </a:r>
                <a:r>
                  <a:rPr lang="en-SG" dirty="0"/>
                  <a:t>by oracle </a:t>
                </a:r>
                <a14:m>
                  <m:oMath xmlns:m="http://schemas.openxmlformats.org/officeDocument/2006/math">
                    <m:r>
                      <a:rPr lang="en-SG" i="1" dirty="0" smtClean="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SG" dirty="0" smtClean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⃗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</m:acc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acc>
                      <m:accPr>
                        <m:chr m:val="̃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SG" dirty="0" smtClean="0"/>
                  <a:t>. This corresponds </a:t>
                </a:r>
                <a:r>
                  <a:rPr lang="en-SG" dirty="0"/>
                  <a:t>to an attack on the oracle's output </a:t>
                </a:r>
                <a:r>
                  <a:rPr lang="en-SG" dirty="0" smtClean="0"/>
                  <a:t>integrity.</a:t>
                </a:r>
              </a:p>
              <a:p>
                <a:pPr lvl="1" algn="just"/>
                <a:r>
                  <a:rPr lang="en-SG" dirty="0" smtClean="0"/>
                  <a:t>Adversarial samples </a:t>
                </a:r>
                <a:r>
                  <a:rPr lang="en-SG" dirty="0"/>
                  <a:t>solve the following optimization problem</a:t>
                </a:r>
                <a:r>
                  <a:rPr lang="en-SG" dirty="0" smtClean="0"/>
                  <a:t>:</a:t>
                </a:r>
              </a:p>
              <a:p>
                <a:pPr marL="457200" lvl="1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SG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⃗"/>
                              <m:ctrlPr>
                                <a:rPr lang="en-SG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𝑎𝑟𝑔𝑚𝑖𝑛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acc>
                            <m:accPr>
                              <m:chr m:val="̃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</m:acc>
                            </m:e>
                          </m:d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≠</m:t>
                          </m:r>
                          <m:acc>
                            <m:accPr>
                              <m:chr m:val="̃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acc>
                            <m:accPr>
                              <m:chr m:val="⃗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  <a:endParaRPr lang="en-SG" dirty="0"/>
              </a:p>
              <a:p>
                <a:pPr lvl="1" algn="just"/>
                <a:endParaRPr lang="en-SG" dirty="0" smtClean="0"/>
              </a:p>
              <a:p>
                <a:pPr lvl="1" algn="just"/>
                <a:endParaRPr lang="en-SG" dirty="0" smtClean="0"/>
              </a:p>
              <a:p>
                <a:pPr lvl="1" algn="just"/>
                <a:r>
                  <a:rPr lang="en-SG" dirty="0" smtClean="0"/>
                  <a:t>Even </a:t>
                </a:r>
                <a:r>
                  <a:rPr lang="en-SG" dirty="0"/>
                  <a:t>with </a:t>
                </a:r>
                <a:r>
                  <a:rPr lang="en-SG" dirty="0" smtClean="0"/>
                  <a:t>total knowledge </a:t>
                </a:r>
                <a:r>
                  <a:rPr lang="en-SG" dirty="0"/>
                  <a:t>of the architecture used to train model </a:t>
                </a:r>
                <a14:m>
                  <m:oMath xmlns:m="http://schemas.openxmlformats.org/officeDocument/2006/math">
                    <m:r>
                      <a:rPr lang="en-SG" i="1" dirty="0" smtClean="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SG" dirty="0"/>
                  <a:t> and </a:t>
                </a:r>
                <a:r>
                  <a:rPr lang="en-SG" dirty="0" smtClean="0"/>
                  <a:t>its parameters </a:t>
                </a:r>
                <a:r>
                  <a:rPr lang="en-SG" dirty="0"/>
                  <a:t>resulting from </a:t>
                </a:r>
                <a:r>
                  <a:rPr lang="en-SG" dirty="0" smtClean="0"/>
                  <a:t>training, finding </a:t>
                </a:r>
                <a:r>
                  <a:rPr lang="en-SG" dirty="0"/>
                  <a:t>such a </a:t>
                </a:r>
                <a:r>
                  <a:rPr lang="en-SG" dirty="0" smtClean="0"/>
                  <a:t>minimal perturbation </a:t>
                </a:r>
                <a:r>
                  <a:rPr lang="en-SG" dirty="0"/>
                  <a:t>is not trivial, as properties of DNNs </a:t>
                </a:r>
                <a:r>
                  <a:rPr lang="en-SG" dirty="0" smtClean="0"/>
                  <a:t>preclude the </a:t>
                </a:r>
                <a:r>
                  <a:rPr lang="en-SG" dirty="0"/>
                  <a:t>optimization problem from being linear or </a:t>
                </a:r>
                <a:r>
                  <a:rPr lang="en-SG" dirty="0" smtClean="0"/>
                  <a:t>convex.</a:t>
                </a:r>
              </a:p>
              <a:p>
                <a:pPr lvl="1" algn="just"/>
                <a:r>
                  <a:rPr lang="en-SG" dirty="0" smtClean="0"/>
                  <a:t>Removing </a:t>
                </a:r>
                <a:r>
                  <a:rPr lang="en-SG" dirty="0"/>
                  <a:t>knowledge </a:t>
                </a:r>
                <a:r>
                  <a:rPr lang="en-SG" dirty="0" smtClean="0"/>
                  <a:t>of model </a:t>
                </a:r>
                <a14:m>
                  <m:oMath xmlns:m="http://schemas.openxmlformats.org/officeDocument/2006/math">
                    <m:r>
                      <a:rPr lang="en-SG" i="1" dirty="0" smtClean="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SG" dirty="0"/>
                  <a:t>'s architecture and training data makes it harder </a:t>
                </a:r>
                <a:r>
                  <a:rPr lang="en-SG" dirty="0" smtClean="0"/>
                  <a:t>to find </a:t>
                </a:r>
                <a:r>
                  <a:rPr lang="en-SG" dirty="0"/>
                  <a:t>a perturbation such </a:t>
                </a:r>
                <a:r>
                  <a:rPr lang="en-SG" dirty="0" smtClean="0"/>
                  <a:t>that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acc>
                              <m:accPr>
                                <m:chr m:val="⃗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≠</m:t>
                    </m:r>
                    <m:acc>
                      <m:accPr>
                        <m:chr m:val="̃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r>
                  <a:rPr lang="en-SG" dirty="0" smtClean="0"/>
                  <a:t> holds</a:t>
                </a:r>
                <a:r>
                  <a:rPr lang="en-SG" dirty="0"/>
                  <a:t>.</a:t>
                </a:r>
                <a:endParaRPr lang="en-SG" dirty="0" smtClean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89212" y="1274410"/>
                <a:ext cx="8915400" cy="4636812"/>
              </a:xfrm>
              <a:blipFill>
                <a:blip r:embed="rId2"/>
                <a:stretch>
                  <a:fillRect l="-479" t="-657" r="-3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Date Placeholder 2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B6F28-65EE-44D6-BFFE-56AB02E1ABA6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26" name="Slide Number Placeholder 2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589212" y="6465498"/>
            <a:ext cx="8915400" cy="272415"/>
          </a:xfrm>
          <a:prstGeom prst="roundRect">
            <a:avLst/>
          </a:prstGeom>
          <a:solidFill>
            <a:srgbClr val="2E536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000" dirty="0">
                <a:solidFill>
                  <a:schemeClr val="bg1"/>
                </a:solidFill>
              </a:rPr>
              <a:t>Practical Black-Box Attacks against Machine </a:t>
            </a:r>
            <a:r>
              <a:rPr lang="en-SG" sz="1000" dirty="0" smtClean="0">
                <a:solidFill>
                  <a:schemeClr val="bg1"/>
                </a:solidFill>
              </a:rPr>
              <a:t>Learning – </a:t>
            </a:r>
            <a:r>
              <a:rPr lang="en-US" sz="1000" dirty="0" smtClean="0">
                <a:solidFill>
                  <a:schemeClr val="bg1"/>
                </a:solidFill>
              </a:rPr>
              <a:t>Papernot et. al., ASIA CCS ‘17</a:t>
            </a:r>
            <a:endParaRPr lang="en-US" sz="1000" dirty="0">
              <a:solidFill>
                <a:schemeClr val="bg1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6845" y="2807776"/>
            <a:ext cx="2233324" cy="1182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8073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50300"/>
          </a:xfrm>
        </p:spPr>
        <p:txBody>
          <a:bodyPr/>
          <a:lstStyle/>
          <a:p>
            <a:r>
              <a:rPr lang="en-US" dirty="0" smtClean="0"/>
              <a:t>Black-Box Attack Strategy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589212" y="1274410"/>
                <a:ext cx="8915400" cy="4636812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en-SG" b="1" u="sng" dirty="0" smtClean="0"/>
                  <a:t>Substitute Model Training</a:t>
                </a:r>
              </a:p>
              <a:p>
                <a:pPr lvl="1" algn="just"/>
                <a:r>
                  <a:rPr lang="en-SG" dirty="0" smtClean="0"/>
                  <a:t>The </a:t>
                </a:r>
                <a:r>
                  <a:rPr lang="en-SG" dirty="0"/>
                  <a:t>attacker </a:t>
                </a:r>
                <a:r>
                  <a:rPr lang="en-SG" dirty="0" smtClean="0"/>
                  <a:t>queries the </a:t>
                </a:r>
                <a:r>
                  <a:rPr lang="en-SG" dirty="0"/>
                  <a:t>oracle with synthetic inputs selected by a </a:t>
                </a:r>
                <a:r>
                  <a:rPr lang="en-SG" i="1" u="sng" dirty="0" smtClean="0"/>
                  <a:t>Jacobian based heuristic</a:t>
                </a:r>
                <a:r>
                  <a:rPr lang="en-SG" dirty="0" smtClean="0"/>
                  <a:t> </a:t>
                </a:r>
                <a:r>
                  <a:rPr lang="en-SG" dirty="0"/>
                  <a:t>to build a model </a:t>
                </a:r>
                <a14:m>
                  <m:oMath xmlns:m="http://schemas.openxmlformats.org/officeDocument/2006/math">
                    <m:r>
                      <a:rPr lang="en-SG" i="1" dirty="0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SG" dirty="0"/>
                  <a:t> approximating </a:t>
                </a:r>
                <a:r>
                  <a:rPr lang="en-SG" dirty="0" smtClean="0"/>
                  <a:t>the oracle </a:t>
                </a:r>
                <a:r>
                  <a:rPr lang="en-SG" dirty="0"/>
                  <a:t>model </a:t>
                </a:r>
                <a14:m>
                  <m:oMath xmlns:m="http://schemas.openxmlformats.org/officeDocument/2006/math">
                    <m:r>
                      <a:rPr lang="en-SG" i="1" dirty="0" smtClean="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SG" dirty="0"/>
                  <a:t>'s decision boundaries</a:t>
                </a:r>
                <a:r>
                  <a:rPr lang="en-SG" dirty="0" smtClean="0"/>
                  <a:t>.</a:t>
                </a:r>
              </a:p>
              <a:p>
                <a:pPr lvl="1" algn="just"/>
                <a:r>
                  <a:rPr lang="en-SG" dirty="0" smtClean="0"/>
                  <a:t>Challenges</a:t>
                </a:r>
              </a:p>
              <a:p>
                <a:pPr lvl="2" algn="just"/>
                <a:r>
                  <a:rPr lang="en-SG" dirty="0" smtClean="0"/>
                  <a:t>Select </a:t>
                </a:r>
                <a:r>
                  <a:rPr lang="en-SG" dirty="0"/>
                  <a:t>an architecture </a:t>
                </a:r>
                <a:r>
                  <a:rPr lang="en-SG" dirty="0" smtClean="0"/>
                  <a:t>for substitute </a:t>
                </a:r>
                <a:r>
                  <a:rPr lang="en-SG" dirty="0"/>
                  <a:t>without knowledge of the targeted </a:t>
                </a:r>
                <a:r>
                  <a:rPr lang="en-SG" dirty="0" smtClean="0"/>
                  <a:t>oracle's architecture.</a:t>
                </a:r>
              </a:p>
              <a:p>
                <a:pPr lvl="2" algn="just"/>
                <a:r>
                  <a:rPr lang="en-SG" dirty="0" smtClean="0"/>
                  <a:t>Limit </a:t>
                </a:r>
                <a:r>
                  <a:rPr lang="en-SG" dirty="0"/>
                  <a:t>the number of queries made to </a:t>
                </a:r>
                <a:r>
                  <a:rPr lang="en-SG" dirty="0" smtClean="0"/>
                  <a:t>the oracle </a:t>
                </a:r>
                <a:r>
                  <a:rPr lang="en-SG" dirty="0"/>
                  <a:t>in order to ensure that the approach is </a:t>
                </a:r>
                <a:r>
                  <a:rPr lang="en-SG" dirty="0" smtClean="0"/>
                  <a:t>tractable.</a:t>
                </a:r>
                <a:endParaRPr lang="en-SG" dirty="0"/>
              </a:p>
              <a:p>
                <a:pPr lvl="1" algn="just"/>
                <a:r>
                  <a:rPr lang="en-SG" dirty="0"/>
                  <a:t>Substitute </a:t>
                </a:r>
                <a:r>
                  <a:rPr lang="en-SG" dirty="0" smtClean="0"/>
                  <a:t>Architecture</a:t>
                </a:r>
              </a:p>
              <a:p>
                <a:pPr lvl="2" algn="just"/>
                <a:r>
                  <a:rPr lang="en-SG" dirty="0"/>
                  <a:t>This factor is not the </a:t>
                </a:r>
                <a:r>
                  <a:rPr lang="en-SG" dirty="0" smtClean="0"/>
                  <a:t>most limiting </a:t>
                </a:r>
                <a:r>
                  <a:rPr lang="en-SG" dirty="0"/>
                  <a:t>as the adversary must at least have some </a:t>
                </a:r>
                <a:r>
                  <a:rPr lang="en-SG" dirty="0" smtClean="0"/>
                  <a:t>partial knowledge </a:t>
                </a:r>
                <a:r>
                  <a:rPr lang="en-SG" dirty="0"/>
                  <a:t>of the oracle input (e.g., images, text) and </a:t>
                </a:r>
                <a:r>
                  <a:rPr lang="en-SG" dirty="0" smtClean="0"/>
                  <a:t>expected output </a:t>
                </a:r>
                <a:r>
                  <a:rPr lang="en-SG" dirty="0"/>
                  <a:t>(e.g., classification). The adversary can </a:t>
                </a:r>
                <a:r>
                  <a:rPr lang="en-SG" dirty="0" smtClean="0"/>
                  <a:t>thus use </a:t>
                </a:r>
                <a:r>
                  <a:rPr lang="en-SG" dirty="0"/>
                  <a:t>an architecture adapted to the input-output relation</a:t>
                </a:r>
                <a:r>
                  <a:rPr lang="en-SG" dirty="0" smtClean="0"/>
                  <a:t>.</a:t>
                </a:r>
              </a:p>
              <a:p>
                <a:pPr lvl="2" algn="just"/>
                <a:r>
                  <a:rPr lang="en-SG" dirty="0" smtClean="0"/>
                  <a:t>The type</a:t>
                </a:r>
                <a:r>
                  <a:rPr lang="en-SG" dirty="0"/>
                  <a:t>, number, and size of layers used in the substitute </a:t>
                </a:r>
                <a:r>
                  <a:rPr lang="en-SG" dirty="0" smtClean="0"/>
                  <a:t>DNN have </a:t>
                </a:r>
                <a:r>
                  <a:rPr lang="en-SG" dirty="0"/>
                  <a:t>relatively little impact on the success of the attack.</a:t>
                </a:r>
                <a:endParaRPr lang="en-SG" dirty="0" smtClean="0"/>
              </a:p>
              <a:p>
                <a:pPr algn="just"/>
                <a:endParaRPr lang="en-SG" dirty="0" smtClean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89212" y="1274410"/>
                <a:ext cx="8915400" cy="4636812"/>
              </a:xfrm>
              <a:blipFill>
                <a:blip r:embed="rId2"/>
                <a:stretch>
                  <a:fillRect l="-479" t="-657" r="-342" b="-6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Date Placeholder 2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B6F28-65EE-44D6-BFFE-56AB02E1ABA6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26" name="Slide Number Placeholder 2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589212" y="6465498"/>
            <a:ext cx="8915400" cy="272415"/>
          </a:xfrm>
          <a:prstGeom prst="roundRect">
            <a:avLst/>
          </a:prstGeom>
          <a:solidFill>
            <a:srgbClr val="2E536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000" dirty="0">
                <a:solidFill>
                  <a:schemeClr val="bg1"/>
                </a:solidFill>
              </a:rPr>
              <a:t>Practical Black-Box Attacks against Machine </a:t>
            </a:r>
            <a:r>
              <a:rPr lang="en-SG" sz="1000" dirty="0" smtClean="0">
                <a:solidFill>
                  <a:schemeClr val="bg1"/>
                </a:solidFill>
              </a:rPr>
              <a:t>Learning – </a:t>
            </a:r>
            <a:r>
              <a:rPr lang="en-US" sz="1000" dirty="0" smtClean="0">
                <a:solidFill>
                  <a:schemeClr val="bg1"/>
                </a:solidFill>
              </a:rPr>
              <a:t>Papernot et. al., ASIA CCS ‘17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2758" y="2530987"/>
            <a:ext cx="2818013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SG" sz="1000" dirty="0"/>
              <a:t>T</a:t>
            </a:r>
            <a:r>
              <a:rPr lang="en-SG" sz="1000" dirty="0" smtClean="0"/>
              <a:t>his </a:t>
            </a:r>
            <a:r>
              <a:rPr lang="en-SG" sz="1000" dirty="0"/>
              <a:t>technique is not designed to maximize the </a:t>
            </a:r>
            <a:r>
              <a:rPr lang="en-SG" sz="1000" dirty="0" smtClean="0"/>
              <a:t>substitute DNN's </a:t>
            </a:r>
            <a:r>
              <a:rPr lang="en-SG" sz="1000" dirty="0"/>
              <a:t>accuracy but rather ensure that it approximates </a:t>
            </a:r>
            <a:r>
              <a:rPr lang="en-SG" sz="1000" dirty="0" smtClean="0"/>
              <a:t>the oracle's </a:t>
            </a:r>
            <a:r>
              <a:rPr lang="en-SG" sz="1000" dirty="0"/>
              <a:t>decision boundaries with few label </a:t>
            </a:r>
            <a:r>
              <a:rPr lang="en-SG" sz="1000" dirty="0" smtClean="0"/>
              <a:t>queries</a:t>
            </a:r>
            <a:endParaRPr lang="en-US" sz="1000" dirty="0"/>
          </a:p>
        </p:txBody>
      </p:sp>
      <p:cxnSp>
        <p:nvCxnSpPr>
          <p:cNvPr id="7" name="Straight Arrow Connector 6"/>
          <p:cNvCxnSpPr>
            <a:endCxn id="5" idx="0"/>
          </p:cNvCxnSpPr>
          <p:nvPr/>
        </p:nvCxnSpPr>
        <p:spPr>
          <a:xfrm flipH="1">
            <a:off x="1641765" y="2194560"/>
            <a:ext cx="1824642" cy="3364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7855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50300"/>
          </a:xfrm>
        </p:spPr>
        <p:txBody>
          <a:bodyPr/>
          <a:lstStyle/>
          <a:p>
            <a:r>
              <a:rPr lang="en-US" dirty="0" smtClean="0"/>
              <a:t>Black-Box Attack Strategy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589212" y="1274410"/>
                <a:ext cx="8915400" cy="4636812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en-SG" b="1" u="sng" dirty="0" smtClean="0"/>
                  <a:t>Substitute Model Training</a:t>
                </a:r>
              </a:p>
              <a:p>
                <a:pPr lvl="1" algn="just"/>
                <a:r>
                  <a:rPr lang="en-SG" dirty="0"/>
                  <a:t>Generating a Synthetic </a:t>
                </a:r>
                <a:r>
                  <a:rPr lang="en-SG" dirty="0" smtClean="0"/>
                  <a:t>Dataset</a:t>
                </a:r>
              </a:p>
              <a:p>
                <a:pPr lvl="2" algn="just"/>
                <a:r>
                  <a:rPr lang="en-SG" dirty="0" smtClean="0"/>
                  <a:t>An adversary </a:t>
                </a:r>
                <a:r>
                  <a:rPr lang="en-SG" dirty="0"/>
                  <a:t>could </a:t>
                </a:r>
                <a:r>
                  <a:rPr lang="en-SG" dirty="0" smtClean="0"/>
                  <a:t>potentially make </a:t>
                </a:r>
                <a:r>
                  <a:rPr lang="en-SG" dirty="0"/>
                  <a:t>an </a:t>
                </a:r>
                <a:r>
                  <a:rPr lang="en-SG" dirty="0" smtClean="0"/>
                  <a:t>infinite </a:t>
                </a:r>
                <a:r>
                  <a:rPr lang="en-SG" dirty="0"/>
                  <a:t>number of queries to obtain the </a:t>
                </a:r>
                <a:r>
                  <a:rPr lang="en-SG" dirty="0" smtClean="0"/>
                  <a:t>oracle's output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SG" dirty="0" smtClean="0"/>
                  <a:t> </a:t>
                </a:r>
                <a:r>
                  <a:rPr lang="en-SG" dirty="0"/>
                  <a:t>for any input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</m:oMath>
                </a14:m>
                <a:r>
                  <a:rPr lang="en-SG" dirty="0"/>
                  <a:t> belonging to the input </a:t>
                </a:r>
                <a:r>
                  <a:rPr lang="en-SG" dirty="0" smtClean="0"/>
                  <a:t>domain. This </a:t>
                </a:r>
                <a:r>
                  <a:rPr lang="en-SG" dirty="0"/>
                  <a:t>would </a:t>
                </a:r>
                <a:r>
                  <a:rPr lang="en-SG" dirty="0" smtClean="0"/>
                  <a:t>provide a </a:t>
                </a:r>
                <a:r>
                  <a:rPr lang="en-SG" dirty="0"/>
                  <a:t>copy of the oracle. </a:t>
                </a:r>
                <a:r>
                  <a:rPr lang="en-SG" dirty="0" smtClean="0"/>
                  <a:t>However, this </a:t>
                </a:r>
                <a:r>
                  <a:rPr lang="en-SG" dirty="0"/>
                  <a:t>is simply not </a:t>
                </a:r>
                <a:r>
                  <a:rPr lang="en-SG" dirty="0" smtClean="0"/>
                  <a:t>tractable.</a:t>
                </a:r>
              </a:p>
              <a:p>
                <a:pPr lvl="2" algn="just"/>
                <a:r>
                  <a:rPr lang="en-SG" dirty="0"/>
                  <a:t>Furthermore, making a large </a:t>
                </a:r>
                <a:r>
                  <a:rPr lang="en-SG" dirty="0" smtClean="0"/>
                  <a:t>number of </a:t>
                </a:r>
                <a:r>
                  <a:rPr lang="en-SG" dirty="0"/>
                  <a:t>queries renders the </a:t>
                </a:r>
                <a:r>
                  <a:rPr lang="en-SG"/>
                  <a:t>adversarial </a:t>
                </a:r>
                <a:r>
                  <a:rPr lang="en-SG" smtClean="0"/>
                  <a:t>behaviour </a:t>
                </a:r>
                <a:r>
                  <a:rPr lang="en-SG" dirty="0"/>
                  <a:t>easy to detect.</a:t>
                </a:r>
                <a:endParaRPr lang="en-SG" dirty="0" smtClean="0"/>
              </a:p>
              <a:p>
                <a:pPr algn="just"/>
                <a:endParaRPr lang="en-SG" dirty="0" smtClean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89212" y="1274410"/>
                <a:ext cx="8915400" cy="4636812"/>
              </a:xfrm>
              <a:blipFill>
                <a:blip r:embed="rId2"/>
                <a:stretch>
                  <a:fillRect l="-479" t="-657" r="-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Date Placeholder 2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B6F28-65EE-44D6-BFFE-56AB02E1ABA6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26" name="Slide Number Placeholder 2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589212" y="6465498"/>
            <a:ext cx="8915400" cy="272415"/>
          </a:xfrm>
          <a:prstGeom prst="roundRect">
            <a:avLst/>
          </a:prstGeom>
          <a:solidFill>
            <a:srgbClr val="2E536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000" dirty="0">
                <a:solidFill>
                  <a:schemeClr val="bg1"/>
                </a:solidFill>
              </a:rPr>
              <a:t>Practical Black-Box Attacks against Machine </a:t>
            </a:r>
            <a:r>
              <a:rPr lang="en-SG" sz="1000" dirty="0" smtClean="0">
                <a:solidFill>
                  <a:schemeClr val="bg1"/>
                </a:solidFill>
              </a:rPr>
              <a:t>Learning – </a:t>
            </a:r>
            <a:r>
              <a:rPr lang="en-US" sz="1000" dirty="0" smtClean="0">
                <a:solidFill>
                  <a:schemeClr val="bg1"/>
                </a:solidFill>
              </a:rPr>
              <a:t>Papernot et. al., ASIA CCS ‘17</a:t>
            </a:r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68038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50300"/>
          </a:xfrm>
        </p:spPr>
        <p:txBody>
          <a:bodyPr/>
          <a:lstStyle/>
          <a:p>
            <a:r>
              <a:rPr lang="en-US" dirty="0" smtClean="0"/>
              <a:t>Black-Box Attack Strategy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589212" y="1274410"/>
                <a:ext cx="8915400" cy="4636812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en-SG" b="1" u="sng" dirty="0" smtClean="0"/>
                  <a:t>Adversial Sample Crafting</a:t>
                </a:r>
              </a:p>
              <a:p>
                <a:pPr lvl="1" algn="just"/>
                <a:r>
                  <a:rPr lang="en-SG" dirty="0" smtClean="0"/>
                  <a:t>The </a:t>
                </a:r>
                <a:r>
                  <a:rPr lang="en-SG" dirty="0"/>
                  <a:t>attacker </a:t>
                </a:r>
                <a:r>
                  <a:rPr lang="en-SG" dirty="0" smtClean="0"/>
                  <a:t>uses substitute </a:t>
                </a:r>
                <a:r>
                  <a:rPr lang="en-SG" dirty="0"/>
                  <a:t>network </a:t>
                </a:r>
                <a14:m>
                  <m:oMath xmlns:m="http://schemas.openxmlformats.org/officeDocument/2006/math">
                    <m:r>
                      <a:rPr lang="en-SG" i="1" dirty="0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SG" dirty="0"/>
                  <a:t> to craft adversarial samples, </a:t>
                </a:r>
                <a:r>
                  <a:rPr lang="en-SG" dirty="0" smtClean="0"/>
                  <a:t>which are </a:t>
                </a:r>
                <a:r>
                  <a:rPr lang="en-SG" dirty="0"/>
                  <a:t>then </a:t>
                </a:r>
                <a:r>
                  <a:rPr lang="en-SG" dirty="0" smtClean="0"/>
                  <a:t>misclassified </a:t>
                </a:r>
                <a:r>
                  <a:rPr lang="en-SG" dirty="0"/>
                  <a:t>by oracle </a:t>
                </a:r>
                <a14:m>
                  <m:oMath xmlns:m="http://schemas.openxmlformats.org/officeDocument/2006/math">
                    <m:r>
                      <a:rPr lang="en-SG" i="1" dirty="0" smtClean="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SG" dirty="0"/>
                  <a:t> due to the </a:t>
                </a:r>
                <a:r>
                  <a:rPr lang="en-SG" dirty="0" smtClean="0"/>
                  <a:t>transferability of </a:t>
                </a:r>
                <a:r>
                  <a:rPr lang="en-SG" dirty="0"/>
                  <a:t>adversarial samples.</a:t>
                </a:r>
                <a:endParaRPr lang="en-SG" dirty="0" smtClean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89212" y="1274410"/>
                <a:ext cx="8915400" cy="4636812"/>
              </a:xfrm>
              <a:blipFill>
                <a:blip r:embed="rId2"/>
                <a:stretch>
                  <a:fillRect l="-479" t="-657" r="-3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Date Placeholder 2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B6F28-65EE-44D6-BFFE-56AB02E1ABA6}" type="datetime1">
              <a:rPr lang="en-US" smtClean="0"/>
              <a:t>9/4/2017</a:t>
            </a:fld>
            <a:endParaRPr lang="en-US" dirty="0"/>
          </a:p>
        </p:txBody>
      </p:sp>
      <p:sp>
        <p:nvSpPr>
          <p:cNvPr id="26" name="Slide Number Placeholder 2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589212" y="6465498"/>
            <a:ext cx="8915400" cy="272415"/>
          </a:xfrm>
          <a:prstGeom prst="roundRect">
            <a:avLst/>
          </a:prstGeom>
          <a:solidFill>
            <a:srgbClr val="2E536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000" dirty="0">
                <a:solidFill>
                  <a:schemeClr val="bg1"/>
                </a:solidFill>
              </a:rPr>
              <a:t>Practical Black-Box Attacks against Machine </a:t>
            </a:r>
            <a:r>
              <a:rPr lang="en-SG" sz="1000" dirty="0" smtClean="0">
                <a:solidFill>
                  <a:schemeClr val="bg1"/>
                </a:solidFill>
              </a:rPr>
              <a:t>Learning – </a:t>
            </a:r>
            <a:r>
              <a:rPr lang="en-US" sz="1000" dirty="0" smtClean="0">
                <a:solidFill>
                  <a:schemeClr val="bg1"/>
                </a:solidFill>
              </a:rPr>
              <a:t>Papernot et. al., ASIA CCS ‘17</a:t>
            </a:r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3067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2E5369"/>
      </a:dk2>
      <a:lt2>
        <a:srgbClr val="CFE2E7"/>
      </a:lt2>
      <a:accent1>
        <a:srgbClr val="353535"/>
      </a:accent1>
      <a:accent2>
        <a:srgbClr val="31B4E6"/>
      </a:accent2>
      <a:accent3>
        <a:srgbClr val="265991"/>
      </a:accent3>
      <a:accent4>
        <a:srgbClr val="7E40CC"/>
      </a:accent4>
      <a:accent5>
        <a:srgbClr val="B927E9"/>
      </a:accent5>
      <a:accent6>
        <a:srgbClr val="E833BF"/>
      </a:accent6>
      <a:hlink>
        <a:srgbClr val="2DA0F1"/>
      </a:hlink>
      <a:folHlink>
        <a:srgbClr val="7ED1E6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4F34B87B-9C7A-41AE-A6CB-48536223DFF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516</TotalTime>
  <Words>875</Words>
  <Application>Microsoft Office PowerPoint</Application>
  <PresentationFormat>Widescreen</PresentationFormat>
  <Paragraphs>121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Cambria Math</vt:lpstr>
      <vt:lpstr>Century Gothic</vt:lpstr>
      <vt:lpstr>Wingdings 3</vt:lpstr>
      <vt:lpstr>Wisp</vt:lpstr>
      <vt:lpstr>Black-Box Attack against Machine Learning</vt:lpstr>
      <vt:lpstr>Introduction</vt:lpstr>
      <vt:lpstr>Introduction</vt:lpstr>
      <vt:lpstr>Introduction</vt:lpstr>
      <vt:lpstr>Deep Neural Network</vt:lpstr>
      <vt:lpstr>Deep Neural Network</vt:lpstr>
      <vt:lpstr>Threat Model</vt:lpstr>
      <vt:lpstr>Threat Model</vt:lpstr>
      <vt:lpstr>Black-Box Attack Strategy</vt:lpstr>
      <vt:lpstr>Black-Box Attack Strategy</vt:lpstr>
      <vt:lpstr>Black-Box Attack Strategy</vt:lpstr>
    </vt:vector>
  </TitlesOfParts>
  <Company>NTU, Singapore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Practical Black-Box Attack against Machine Learning</dc:title>
  <dc:creator>#ALAM MANAAR#</dc:creator>
  <cp:lastModifiedBy>#ALAM MANAAR#</cp:lastModifiedBy>
  <cp:revision>122</cp:revision>
  <dcterms:created xsi:type="dcterms:W3CDTF">2017-08-28T05:11:15Z</dcterms:created>
  <dcterms:modified xsi:type="dcterms:W3CDTF">2017-09-04T09:59:32Z</dcterms:modified>
</cp:coreProperties>
</file>