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4" r:id="rId1"/>
  </p:sldMasterIdLst>
  <p:notesMasterIdLst>
    <p:notesMasterId r:id="rId22"/>
  </p:notesMasterIdLst>
  <p:handoutMasterIdLst>
    <p:handoutMasterId r:id="rId23"/>
  </p:handoutMasterIdLst>
  <p:sldIdLst>
    <p:sldId id="256" r:id="rId2"/>
    <p:sldId id="552" r:id="rId3"/>
    <p:sldId id="549" r:id="rId4"/>
    <p:sldId id="550" r:id="rId5"/>
    <p:sldId id="541" r:id="rId6"/>
    <p:sldId id="555" r:id="rId7"/>
    <p:sldId id="553" r:id="rId8"/>
    <p:sldId id="551" r:id="rId9"/>
    <p:sldId id="556" r:id="rId10"/>
    <p:sldId id="557" r:id="rId11"/>
    <p:sldId id="560" r:id="rId12"/>
    <p:sldId id="561" r:id="rId13"/>
    <p:sldId id="558" r:id="rId14"/>
    <p:sldId id="562" r:id="rId15"/>
    <p:sldId id="563" r:id="rId16"/>
    <p:sldId id="564" r:id="rId17"/>
    <p:sldId id="565" r:id="rId18"/>
    <p:sldId id="566" r:id="rId19"/>
    <p:sldId id="567" r:id="rId20"/>
    <p:sldId id="4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7354" autoAdjust="0"/>
  </p:normalViewPr>
  <p:slideViewPr>
    <p:cSldViewPr>
      <p:cViewPr varScale="1">
        <p:scale>
          <a:sx n="107" d="100"/>
          <a:sy n="107" d="100"/>
        </p:scale>
        <p:origin x="166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6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Variation of LAMBDA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Backdoors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Sheet1!$B$9:$H$9</c:f>
              <c:numCache>
                <c:formatCode>General</c:formatCode>
                <c:ptCount val="7"/>
                <c:pt idx="0">
                  <c:v>0.90659999999999996</c:v>
                </c:pt>
                <c:pt idx="1">
                  <c:v>0.95420000000000005</c:v>
                </c:pt>
                <c:pt idx="2">
                  <c:v>0.96750000000000003</c:v>
                </c:pt>
                <c:pt idx="3">
                  <c:v>0.96889999999999998</c:v>
                </c:pt>
                <c:pt idx="4">
                  <c:v>0.95809999999999995</c:v>
                </c:pt>
                <c:pt idx="5">
                  <c:v>0.98699999999999999</c:v>
                </c:pt>
                <c:pt idx="6">
                  <c:v>0.94740000000000002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2F-480A-9811-17C49A5A46E0}"/>
            </c:ext>
          </c:extLst>
        </c:ser>
        <c:ser>
          <c:idx val="1"/>
          <c:order val="1"/>
          <c:tx>
            <c:strRef>
              <c:f>Sheet1!$A$10</c:f>
              <c:strCache>
                <c:ptCount val="1"/>
                <c:pt idx="0">
                  <c:v>Exploits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Sheet1!$B$10:$H$10</c:f>
              <c:numCache>
                <c:formatCode>General</c:formatCode>
                <c:ptCount val="7"/>
                <c:pt idx="0">
                  <c:v>0.95330000000000004</c:v>
                </c:pt>
                <c:pt idx="1">
                  <c:v>0.83309999999999995</c:v>
                </c:pt>
                <c:pt idx="2">
                  <c:v>0.86960000000000004</c:v>
                </c:pt>
                <c:pt idx="3">
                  <c:v>0.78449999999999998</c:v>
                </c:pt>
                <c:pt idx="4">
                  <c:v>0.79390000000000005</c:v>
                </c:pt>
                <c:pt idx="5">
                  <c:v>0.98909999999999998</c:v>
                </c:pt>
                <c:pt idx="6">
                  <c:v>0.81220000000000003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2F-480A-9811-17C49A5A46E0}"/>
            </c:ext>
          </c:extLst>
        </c:ser>
        <c:ser>
          <c:idx val="2"/>
          <c:order val="2"/>
          <c:tx>
            <c:strRef>
              <c:f>Sheet1!$A$11</c:f>
              <c:strCache>
                <c:ptCount val="1"/>
                <c:pt idx="0">
                  <c:v>Flooders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Sheet1!$B$11:$H$11</c:f>
              <c:numCache>
                <c:formatCode>General</c:formatCode>
                <c:ptCount val="7"/>
                <c:pt idx="0">
                  <c:v>0.82840000000000003</c:v>
                </c:pt>
                <c:pt idx="1">
                  <c:v>0.80249999999999999</c:v>
                </c:pt>
                <c:pt idx="2">
                  <c:v>0.79910000000000003</c:v>
                </c:pt>
                <c:pt idx="3">
                  <c:v>0.81</c:v>
                </c:pt>
                <c:pt idx="4">
                  <c:v>0.8085</c:v>
                </c:pt>
                <c:pt idx="5">
                  <c:v>0.81479999999999997</c:v>
                </c:pt>
                <c:pt idx="6">
                  <c:v>0.80810000000000004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E2F-480A-9811-17C49A5A46E0}"/>
            </c:ext>
          </c:extLst>
        </c:ser>
        <c:ser>
          <c:idx val="3"/>
          <c:order val="3"/>
          <c:tx>
            <c:strRef>
              <c:f>Sheet1!$A$12</c:f>
              <c:strCache>
                <c:ptCount val="1"/>
                <c:pt idx="0">
                  <c:v>Trojans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Sheet1!$B$12:$H$12</c:f>
              <c:numCache>
                <c:formatCode>General</c:formatCode>
                <c:ptCount val="7"/>
                <c:pt idx="0">
                  <c:v>0.81969999999999998</c:v>
                </c:pt>
                <c:pt idx="1">
                  <c:v>0.81510000000000005</c:v>
                </c:pt>
                <c:pt idx="2">
                  <c:v>0.81669999999999998</c:v>
                </c:pt>
                <c:pt idx="3">
                  <c:v>0.7631</c:v>
                </c:pt>
                <c:pt idx="4">
                  <c:v>0.82609999999999995</c:v>
                </c:pt>
                <c:pt idx="5">
                  <c:v>0.87450000000000006</c:v>
                </c:pt>
                <c:pt idx="6">
                  <c:v>0.76629999999999998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E2F-480A-9811-17C49A5A46E0}"/>
            </c:ext>
          </c:extLst>
        </c:ser>
        <c:ser>
          <c:idx val="4"/>
          <c:order val="4"/>
          <c:tx>
            <c:strRef>
              <c:f>Sheet1!$A$13</c:f>
              <c:strCache>
                <c:ptCount val="1"/>
                <c:pt idx="0">
                  <c:v>Virus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Sheet1!$B$13:$H$13</c:f>
              <c:numCache>
                <c:formatCode>General</c:formatCode>
                <c:ptCount val="7"/>
                <c:pt idx="0">
                  <c:v>0.76880000000000004</c:v>
                </c:pt>
                <c:pt idx="1">
                  <c:v>0.85850000000000004</c:v>
                </c:pt>
                <c:pt idx="2">
                  <c:v>0.75760000000000005</c:v>
                </c:pt>
                <c:pt idx="3">
                  <c:v>0.84140000000000004</c:v>
                </c:pt>
                <c:pt idx="4">
                  <c:v>0.78029999999999999</c:v>
                </c:pt>
                <c:pt idx="5">
                  <c:v>0.83160000000000001</c:v>
                </c:pt>
                <c:pt idx="6">
                  <c:v>0.75980000000000003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F-480A-9811-17C49A5A4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55904"/>
        <c:axId val="33757440"/>
      </c:lineChart>
      <c:catAx>
        <c:axId val="337559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57440"/>
        <c:crosses val="autoZero"/>
        <c:auto val="1"/>
        <c:lblAlgn val="ctr"/>
        <c:lblOffset val="100"/>
        <c:noMultiLvlLbl val="0"/>
      </c:catAx>
      <c:valAx>
        <c:axId val="33757440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5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12700" cap="rnd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599B9-41F8-46C8-9C4C-A8418E590AC5}" type="datetimeFigureOut">
              <a:rPr lang="en-US" smtClean="0"/>
              <a:pPr/>
              <a:t>10/27/2017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3A32E-FC4C-4F1B-8B4F-13C598A17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5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A3B61-7773-4B13-953A-12EC84AA77C6}" type="datetimeFigureOut">
              <a:rPr lang="en-US" smtClean="0"/>
              <a:pPr/>
              <a:t>10/27/2017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62C88-753E-4531-B0E3-3A31325EBE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A510-30BC-4B79-9E12-62D99A9D4467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6EC-F606-43F2-B288-F41D436AB01D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1F01-1DD2-43D6-8F3A-B3ECB7E252D8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123-ED73-46C7-AD79-D1FA1548AC2B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630DB-6D7D-4B34-BDD1-A9BBCB144BDF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C948-E3AC-4793-BD02-8341A0CAE871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A5FB-AF44-43C4-8378-E8D86AB43390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032E-6ED2-4EF9-82B6-80B559B26EF9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8473-3F4D-4518-9D7C-C393B72C4A0B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1065-1FEC-436B-8AEC-F60BDA860ED9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3E8A-EC3A-42E6-86D0-F32DB514A296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1BF1030-87E5-4CBB-AA13-ADE87B3A9252}" type="datetime1">
              <a:rPr lang="en-US" smtClean="0"/>
              <a:pPr/>
              <a:t>10/27/2017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D968E99-A3AD-4835-9419-655239C43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8686800" cy="12192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/>
                <a:latin typeface="Times New Roman" pitchFamily="18" charset="0"/>
                <a:cs typeface="Times New Roman" pitchFamily="18" charset="0"/>
              </a:rPr>
              <a:t>Online Malware Detection</a:t>
            </a:r>
            <a:endParaRPr lang="en-US" sz="36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0" y="57912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b="1" dirty="0">
              <a:latin typeface="Book Antiqua" pitchFamily="18" charset="0"/>
            </a:endParaRPr>
          </a:p>
          <a:p>
            <a:pPr algn="ctr"/>
            <a:r>
              <a:rPr lang="en-US" sz="1200" b="1" dirty="0">
                <a:latin typeface="Book Antiqua" pitchFamily="18" charset="0"/>
              </a:rPr>
              <a:t>October 27, 2017</a:t>
            </a:r>
          </a:p>
          <a:p>
            <a:pPr algn="ctr"/>
            <a:endParaRPr lang="en-US" sz="1200" b="1" dirty="0">
              <a:latin typeface="Book Antiqua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Present state of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285876"/>
            <a:ext cx="7696200" cy="519112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Run the entire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on ARM setup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Obtained 45 ARM malware and 29 benign which can run on ARM platform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Achieved ‘NO’ false negatives on ARM platform even with a lower-order t-test.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Performed the combined analysis of malware and benign for runtime variations in performance counters.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146048" y="4114802"/>
            <a:ext cx="7696200" cy="533399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9136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Benign and Malware Profiles (ls, who) 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146048" y="4114802"/>
            <a:ext cx="7696200" cy="533399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895916"/>
            <a:ext cx="7559299" cy="39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69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Benign and Malware Profiles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netstat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146048" y="4114802"/>
            <a:ext cx="7696200" cy="533399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47800"/>
            <a:ext cx="7467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760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Evaluating 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hpc-indicator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Tuples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6" name="Picture 4" descr="https://www.overleaf.com/docs/9377848phmzqdntmcvw/atts/60055936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3143250" cy="19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www.overleaf.com/docs/9377848phmzqdntmcvw/atts/60055937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76399"/>
            <a:ext cx="3164681" cy="19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www.overleaf.com/docs/9377848phmzqdntmcvw/atts/60055938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038600"/>
            <a:ext cx="3221831" cy="19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ttps://www.overleaf.com/docs/9377848phmzqdntmcvw/atts/60055939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038600"/>
            <a:ext cx="3243263" cy="19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0312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False Positive and False Negative Percentages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18630"/>
              </p:ext>
            </p:extLst>
          </p:nvPr>
        </p:nvGraphicFramePr>
        <p:xfrm>
          <a:off x="2057400" y="2624008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995277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4880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72832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Confidence</a:t>
                      </a:r>
                      <a:endParaRPr lang="en-US" baseline="0" dirty="0"/>
                    </a:p>
                    <a:p>
                      <a:pPr algn="ctr"/>
                      <a:r>
                        <a:rPr lang="en-US" baseline="0" dirty="0"/>
                        <a:t>Level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  <a:p>
                      <a:pPr algn="ctr"/>
                      <a:r>
                        <a:rPr lang="en-US" dirty="0"/>
                        <a:t>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  <a:p>
                      <a:pPr algn="ctr"/>
                      <a:r>
                        <a:rPr lang="en-US" dirty="0"/>
                        <a:t>Negatives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59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08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2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3742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Univariate vs Multivariate (Removing False Positives)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8" name="Picture 4" descr="https://www.overleaf.com/docs/9377848phmzqdntmcvw/atts/60058963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465" y="2209800"/>
            <a:ext cx="696087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4182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Univariate vs Multivariate (Removing False Negatives)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 descr="https://www.overleaf.com/docs/9377848phmzqdntmcvw/atts/59393938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965" y="2065804"/>
            <a:ext cx="696087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831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Comparison with State-of-the-art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60561"/>
              </p:ext>
            </p:extLst>
          </p:nvPr>
        </p:nvGraphicFramePr>
        <p:xfrm>
          <a:off x="1676400" y="2297840"/>
          <a:ext cx="622369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621">
                  <a:extLst>
                    <a:ext uri="{9D8B030D-6E8A-4147-A177-3AD203B41FA5}">
                      <a16:colId xmlns:a16="http://schemas.microsoft.com/office/drawing/2014/main" val="2599527749"/>
                    </a:ext>
                  </a:extLst>
                </a:gridCol>
                <a:gridCol w="1763077">
                  <a:extLst>
                    <a:ext uri="{9D8B030D-6E8A-4147-A177-3AD203B41FA5}">
                      <a16:colId xmlns:a16="http://schemas.microsoft.com/office/drawing/2014/main" val="2594880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72832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59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GuardOL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08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NumChecker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LAMBDA (univariate)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96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LAMBDA (multivariate)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522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LAMBDA (on ARM)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98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6096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81001"/>
            <a:ext cx="7467600" cy="5333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T-score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066801"/>
            <a:ext cx="7696200" cy="53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 Overhead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79205"/>
              </p:ext>
            </p:extLst>
          </p:nvPr>
        </p:nvGraphicFramePr>
        <p:xfrm>
          <a:off x="2438400" y="2535555"/>
          <a:ext cx="523585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043">
                  <a:extLst>
                    <a:ext uri="{9D8B030D-6E8A-4147-A177-3AD203B41FA5}">
                      <a16:colId xmlns:a16="http://schemas.microsoft.com/office/drawing/2014/main" val="2599527749"/>
                    </a:ext>
                  </a:extLst>
                </a:gridCol>
                <a:gridCol w="1876933">
                  <a:extLst>
                    <a:ext uri="{9D8B030D-6E8A-4147-A177-3AD203B41FA5}">
                      <a16:colId xmlns:a16="http://schemas.microsoft.com/office/drawing/2014/main" val="2594880211"/>
                    </a:ext>
                  </a:extLst>
                </a:gridCol>
                <a:gridCol w="2216882">
                  <a:extLst>
                    <a:ext uri="{9D8B030D-6E8A-4147-A177-3AD203B41FA5}">
                      <a16:colId xmlns:a16="http://schemas.microsoft.com/office/drawing/2014/main" val="2372832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CPU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  <a:r>
                        <a:rPr lang="en-US" baseline="0" dirty="0"/>
                        <a:t> Overhead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9.405%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0.1836%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59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16.788%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0.7981%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08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56072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2340" y="152401"/>
            <a:ext cx="7822917" cy="6857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2800" dirty="0">
                <a:effectLst/>
                <a:latin typeface="Times New Roman" pitchFamily="18" charset="0"/>
                <a:cs typeface="Times New Roman" pitchFamily="18" charset="0"/>
              </a:rPr>
              <a:t>Secure Malware Analysis in Real Time (SMART)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7317" y="1600200"/>
            <a:ext cx="7696200" cy="4705350"/>
          </a:xfrm>
        </p:spPr>
        <p:txBody>
          <a:bodyPr>
            <a:normAutofit/>
          </a:bodyPr>
          <a:lstStyle/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Detection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are very vulnerable under the attacks of adversarial examples</a:t>
            </a:r>
            <a:r>
              <a:rPr lang="en-SG" sz="2400" dirty="0"/>
              <a:t>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some small perturbations to original samples will make a classifier unable to classify them correctly.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the security of a malware detection model when it is attacked by adversarial examples is necessary.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102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9000"/>
                <a:satMod val="300000"/>
              </a:schemeClr>
              <a:schemeClr val="bg2">
                <a:tint val="90000"/>
                <a:satMod val="225000"/>
              </a:schemeClr>
            </a:duotone>
            <a:lum/>
          </a:blip>
          <a:srcRect/>
          <a:tile tx="0" ty="0" sx="90000" sy="90000" flip="x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2340" y="152401"/>
            <a:ext cx="7822917" cy="685799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2800" dirty="0">
                <a:effectLst/>
                <a:latin typeface="Times New Roman" pitchFamily="18" charset="0"/>
                <a:cs typeface="Times New Roman" pitchFamily="18" charset="0"/>
              </a:rPr>
              <a:t>Secure Malware Analysis in Real Time (SMART)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7317" y="1600200"/>
            <a:ext cx="7696200" cy="4705350"/>
          </a:xfrm>
        </p:spPr>
        <p:txBody>
          <a:bodyPr>
            <a:normAutofit/>
          </a:bodyPr>
          <a:lstStyle/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Building an intelligent malware</a:t>
            </a: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0332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47800" y="2438400"/>
            <a:ext cx="15240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266700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59648" y="2835533"/>
            <a:ext cx="1764752" cy="161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24400" y="2658933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3169" y="4419600"/>
            <a:ext cx="15240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505200" y="4800600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83046" y="4648200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4179332"/>
            <a:ext cx="2330631" cy="167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62467" y="456033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53619" y="5322331"/>
            <a:ext cx="1861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Function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531031" y="2843599"/>
            <a:ext cx="488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683431" y="4800600"/>
            <a:ext cx="488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Decision 22"/>
          <p:cNvSpPr/>
          <p:nvPr/>
        </p:nvSpPr>
        <p:spPr>
          <a:xfrm>
            <a:off x="6096000" y="2157799"/>
            <a:ext cx="1677649" cy="134740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Rectangle 23"/>
          <p:cNvSpPr/>
          <p:nvPr/>
        </p:nvSpPr>
        <p:spPr>
          <a:xfrm>
            <a:off x="6442023" y="2502426"/>
            <a:ext cx="1005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773649" y="2831499"/>
            <a:ext cx="488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Decision 25"/>
          <p:cNvSpPr/>
          <p:nvPr/>
        </p:nvSpPr>
        <p:spPr>
          <a:xfrm>
            <a:off x="6172200" y="4138999"/>
            <a:ext cx="1677649" cy="134740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Rectangle 26"/>
          <p:cNvSpPr/>
          <p:nvPr/>
        </p:nvSpPr>
        <p:spPr>
          <a:xfrm>
            <a:off x="6518223" y="4483626"/>
            <a:ext cx="1005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7011024" y="5494751"/>
            <a:ext cx="9900" cy="525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247049" y="2634734"/>
            <a:ext cx="520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9636" y="247426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0596" y="60198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11024" y="548640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898290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61191"/>
            <a:ext cx="7498080" cy="715962"/>
          </a:xfrm>
        </p:spPr>
        <p:txBody>
          <a:bodyPr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sz="3600" dirty="0">
                <a:effectLst/>
                <a:latin typeface="Times New Roman" pitchFamily="18" charset="0"/>
                <a:cs typeface="Times New Roman" pitchFamily="18" charset="0"/>
              </a:rPr>
              <a:t>Robust Technique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097639" y="1143000"/>
            <a:ext cx="7498080" cy="4800600"/>
          </a:xfrm>
        </p:spPr>
        <p:txBody>
          <a:bodyPr>
            <a:normAutofit/>
          </a:bodyPr>
          <a:lstStyle/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000" dirty="0"/>
              <a:t>Construct a Sequence based Classifier based on HPC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Classifier based on Recurrent Neural Network (RNN)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RNN can correctly model the sequence of activity of a malware or benign instead of overall execution.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Will be able to capture the step-by-step behavior of a malware.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000" dirty="0"/>
              <a:t>Develop an Adversarial Learning Technique which will learn the model.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Recent literatures have demonstrated that RNN is prone to adversarial attacks.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Malwares can be developed to bypass this detection.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484632" indent="-457200">
              <a:buFont typeface="Wingdings" panose="05000000000000000000" pitchFamily="2" charset="2"/>
              <a:buChar char="Ø"/>
            </a:pPr>
            <a:r>
              <a:rPr lang="en-US" sz="2000" dirty="0"/>
              <a:t>Propose a robust model which will try to prevent these attackers.</a:t>
            </a:r>
          </a:p>
          <a:p>
            <a:pPr marL="758952" lvl="1" indent="-457200">
              <a:buFont typeface="Wingdings" panose="05000000000000000000" pitchFamily="2" charset="2"/>
              <a:buChar char="Ø"/>
            </a:pPr>
            <a:r>
              <a:rPr lang="en-US" sz="1600" dirty="0"/>
              <a:t>Propose a robust RNN based model, which can detect a malware’s sequential behavior and also can not be bypassed.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endParaRPr lang="en-US" dirty="0">
              <a:solidFill>
                <a:srgbClr val="00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9148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87A1-6828-4ABF-980E-BCC923C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Review of Previous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3D50-857C-466D-BB37-6F93AA42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800" dirty="0"/>
              <a:t>We implemented LAMBDA on ARM processor with 2.89% false positives and 0% false negatives after multivariate analysis.</a:t>
            </a:r>
          </a:p>
          <a:p>
            <a:pPr algn="just"/>
            <a:r>
              <a:rPr lang="en-IN" sz="2800" dirty="0"/>
              <a:t>We also presented the overhead of implementation for such detection technique.</a:t>
            </a:r>
          </a:p>
          <a:p>
            <a:pPr algn="just"/>
            <a:r>
              <a:rPr lang="en-IN" sz="2800" dirty="0"/>
              <a:t>Possible Extension of the work as discussed –</a:t>
            </a:r>
          </a:p>
          <a:p>
            <a:pPr lvl="1" algn="just"/>
            <a:r>
              <a:rPr lang="en-IN" sz="2400" dirty="0"/>
              <a:t>Can we categorize the malwares based on their lambda values for respective preventive measures?</a:t>
            </a:r>
          </a:p>
          <a:p>
            <a:pPr lvl="1" algn="just"/>
            <a:r>
              <a:rPr lang="en-IN" sz="2400" dirty="0"/>
              <a:t>Detection of malware using sequence of performance counters values, sampled at specific time interval, since it contains more information.</a:t>
            </a:r>
          </a:p>
          <a:p>
            <a:pPr lvl="1" algn="just"/>
            <a:r>
              <a:rPr lang="en-IN" sz="2400" dirty="0"/>
              <a:t>Can we bypass the detection technique with new malwares and thereby improve the mechanism?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F2F79-FC9B-405C-B024-99FA645F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1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82A7-1DB7-485F-9365-D44496FA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Categorization of the Malwares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5941-AE67-4046-8F19-910F342E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800" dirty="0"/>
              <a:t>LAMBDA values for different types of malwares in different runs</a:t>
            </a:r>
          </a:p>
          <a:p>
            <a:pPr lvl="1" algn="just"/>
            <a:r>
              <a:rPr lang="en-IN" sz="2400" dirty="0"/>
              <a:t>Each run we tested with 3 Backdoor, 3 Exploits, 1 Flooder, 1 Trojan, and 2 Virus programs.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3F7F-5F7F-4EEE-B9DB-E9C8EFFA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87A2AA-3443-4026-9707-10F48FB30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577703"/>
              </p:ext>
            </p:extLst>
          </p:nvPr>
        </p:nvGraphicFramePr>
        <p:xfrm>
          <a:off x="1066799" y="3352800"/>
          <a:ext cx="8004049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39103">
                  <a:extLst>
                    <a:ext uri="{9D8B030D-6E8A-4147-A177-3AD203B41FA5}">
                      <a16:colId xmlns:a16="http://schemas.microsoft.com/office/drawing/2014/main" val="810728737"/>
                    </a:ext>
                  </a:extLst>
                </a:gridCol>
                <a:gridCol w="939103">
                  <a:extLst>
                    <a:ext uri="{9D8B030D-6E8A-4147-A177-3AD203B41FA5}">
                      <a16:colId xmlns:a16="http://schemas.microsoft.com/office/drawing/2014/main" val="823478437"/>
                    </a:ext>
                  </a:extLst>
                </a:gridCol>
                <a:gridCol w="939103">
                  <a:extLst>
                    <a:ext uri="{9D8B030D-6E8A-4147-A177-3AD203B41FA5}">
                      <a16:colId xmlns:a16="http://schemas.microsoft.com/office/drawing/2014/main" val="1513133596"/>
                    </a:ext>
                  </a:extLst>
                </a:gridCol>
                <a:gridCol w="837570">
                  <a:extLst>
                    <a:ext uri="{9D8B030D-6E8A-4147-A177-3AD203B41FA5}">
                      <a16:colId xmlns:a16="http://schemas.microsoft.com/office/drawing/2014/main" val="334273255"/>
                    </a:ext>
                  </a:extLst>
                </a:gridCol>
                <a:gridCol w="837570">
                  <a:extLst>
                    <a:ext uri="{9D8B030D-6E8A-4147-A177-3AD203B41FA5}">
                      <a16:colId xmlns:a16="http://schemas.microsoft.com/office/drawing/2014/main" val="3757148664"/>
                    </a:ext>
                  </a:extLst>
                </a:gridCol>
                <a:gridCol w="837570">
                  <a:extLst>
                    <a:ext uri="{9D8B030D-6E8A-4147-A177-3AD203B41FA5}">
                      <a16:colId xmlns:a16="http://schemas.microsoft.com/office/drawing/2014/main" val="3052487272"/>
                    </a:ext>
                  </a:extLst>
                </a:gridCol>
                <a:gridCol w="716061">
                  <a:extLst>
                    <a:ext uri="{9D8B030D-6E8A-4147-A177-3AD203B41FA5}">
                      <a16:colId xmlns:a16="http://schemas.microsoft.com/office/drawing/2014/main" val="3408711144"/>
                    </a:ext>
                  </a:extLst>
                </a:gridCol>
                <a:gridCol w="649481">
                  <a:extLst>
                    <a:ext uri="{9D8B030D-6E8A-4147-A177-3AD203B41FA5}">
                      <a16:colId xmlns:a16="http://schemas.microsoft.com/office/drawing/2014/main" val="179074060"/>
                    </a:ext>
                  </a:extLst>
                </a:gridCol>
                <a:gridCol w="666128">
                  <a:extLst>
                    <a:ext uri="{9D8B030D-6E8A-4147-A177-3AD203B41FA5}">
                      <a16:colId xmlns:a16="http://schemas.microsoft.com/office/drawing/2014/main" val="1130666514"/>
                    </a:ext>
                  </a:extLst>
                </a:gridCol>
                <a:gridCol w="642360">
                  <a:extLst>
                    <a:ext uri="{9D8B030D-6E8A-4147-A177-3AD203B41FA5}">
                      <a16:colId xmlns:a16="http://schemas.microsoft.com/office/drawing/2014/main" val="303674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Backdoor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Backdoor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Backdoor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Exploits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Exploits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Exploits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Flooder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Trojan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Virus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Virus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58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0.9066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0.9533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0.8331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0.7803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86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0.9891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0.8585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0.8316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00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0.8122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0.9550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0.8494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0.7576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0.7598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79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0.9669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0.8414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0.7902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12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99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82A7-1DB7-485F-9365-D44496FA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Categorization of the Malwares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5941-AE67-4046-8F19-910F342EA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600200"/>
            <a:ext cx="7498080" cy="4800600"/>
          </a:xfrm>
        </p:spPr>
        <p:txBody>
          <a:bodyPr>
            <a:normAutofit fontScale="92500" lnSpcReduction="10000"/>
          </a:bodyPr>
          <a:lstStyle/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A Random Forest Model is able to detect the category of malwares with 86.98% accuracy.</a:t>
            </a:r>
          </a:p>
          <a:p>
            <a:pPr lvl="1" algn="just"/>
            <a:r>
              <a:rPr lang="en-IN" sz="2000" dirty="0"/>
              <a:t>We can try to adapt LAMBDA by considering different features instead of only lambda value while categorizing.</a:t>
            </a:r>
          </a:p>
          <a:p>
            <a:pPr algn="just"/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3F7F-5F7F-4EEE-B9DB-E9C8EFFA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C95E7-47C1-4431-8B25-CA948BEA531C}"/>
              </a:ext>
            </a:extLst>
          </p:cNvPr>
          <p:cNvSpPr txBox="1"/>
          <p:nvPr/>
        </p:nvSpPr>
        <p:spPr>
          <a:xfrm>
            <a:off x="3772242" y="4267200"/>
            <a:ext cx="282481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No visible pattern in lambda</a:t>
            </a:r>
          </a:p>
          <a:p>
            <a:pPr algn="ctr"/>
            <a:r>
              <a:rPr lang="en-IN" dirty="0"/>
              <a:t>values to detect category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73122F4-60FE-4E50-AF15-84C909F4C5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238777"/>
              </p:ext>
            </p:extLst>
          </p:nvPr>
        </p:nvGraphicFramePr>
        <p:xfrm>
          <a:off x="2898648" y="14199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198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2341-576A-4B27-A206-C28BEF5D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Detection Scheme using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2CFA-ACCE-40E7-B28E-6D069EEF7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800" dirty="0"/>
              <a:t>We are currently trying to detect a malware not only by observing total hardware performance events, but the sequence of those events after a certain interval.</a:t>
            </a:r>
          </a:p>
          <a:p>
            <a:pPr lvl="1" algn="just"/>
            <a:r>
              <a:rPr lang="en-IN" sz="2400" dirty="0"/>
              <a:t>Advantage</a:t>
            </a:r>
          </a:p>
          <a:p>
            <a:pPr lvl="2" algn="just"/>
            <a:r>
              <a:rPr lang="en-IN" sz="2000" dirty="0"/>
              <a:t>A malware have a specific pattern in execution which a benign program may not contain.</a:t>
            </a:r>
          </a:p>
          <a:p>
            <a:pPr lvl="2" algn="just"/>
            <a:r>
              <a:rPr lang="en-IN" sz="2000" dirty="0"/>
              <a:t>These patterns can be captured by collecting the HPC values after some specific interval, e.g., after 50 instructions.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743E-13C9-4568-A4E2-80B6A36B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56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2341-576A-4B27-A206-C28BEF5D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Detection Scheme using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2CFA-ACCE-40E7-B28E-6D069EEF7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sz="2800" dirty="0"/>
              <a:t>We have developed a deep learning model Recurrent Neural Network (RNN), to classify a sequence of values.</a:t>
            </a:r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We are trying to analyse the sequence of HPCs with RNN to find a specific pattern in the malware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743E-13C9-4568-A4E2-80B6A36B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2" descr="http://d3kbpzbmcynnmx.cloudfront.net/wp-content/uploads/2015/09/rnn.jpg">
            <a:extLst>
              <a:ext uri="{FF2B5EF4-FFF2-40B4-BE49-F238E27FC236}">
                <a16:creationId xmlns:a16="http://schemas.microsoft.com/office/drawing/2014/main" id="{17B19E10-5292-4277-8EC1-69D28020D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994" y="2667000"/>
            <a:ext cx="4771308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938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5D4A-9A6B-45B2-A063-FC0AB29E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BDDCE-42B1-4278-9408-C26050DBC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800" dirty="0"/>
              <a:t>Relooking at LAMBDA to </a:t>
            </a:r>
            <a:r>
              <a:rPr lang="en-IN" sz="2800" dirty="0" smtClean="0"/>
              <a:t>distinguish </a:t>
            </a:r>
            <a:r>
              <a:rPr lang="en-IN" sz="2800" dirty="0"/>
              <a:t>between different types of malwares, like Random Forest classifier.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Implementation of RNN based malware classifier using HPCs. 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Use the concept of adversarial learning to fool the RNN based implementation and thereby make our detection more robust.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94A6C-418F-4AD0-BD6A-F70A8D72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55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sz="6000" dirty="0"/>
          </a:p>
        </p:txBody>
      </p:sp>
      <p:sp>
        <p:nvSpPr>
          <p:cNvPr id="4" name="Rectangle 3"/>
          <p:cNvSpPr/>
          <p:nvPr/>
        </p:nvSpPr>
        <p:spPr>
          <a:xfrm>
            <a:off x="3352800" y="2438400"/>
            <a:ext cx="3048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</a:t>
            </a:r>
            <a:r>
              <a:rPr lang="en-US" sz="4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8E99-A3AD-4835-9419-655239C434C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89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14410</TotalTime>
  <Words>839</Words>
  <Application>Microsoft Office PowerPoint</Application>
  <PresentationFormat>On-screen Show (4:3)</PresentationFormat>
  <Paragraphs>232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Book Antiqua</vt:lpstr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Online Malware Detection</vt:lpstr>
      <vt:lpstr>Present state of work</vt:lpstr>
      <vt:lpstr>T-score analysis</vt:lpstr>
      <vt:lpstr>T-score analysis</vt:lpstr>
      <vt:lpstr>T-score analysis</vt:lpstr>
      <vt:lpstr>T-score analysis</vt:lpstr>
      <vt:lpstr>T-score analysis</vt:lpstr>
      <vt:lpstr>T-score analysis</vt:lpstr>
      <vt:lpstr>T-score analysis</vt:lpstr>
      <vt:lpstr>T-score analysis</vt:lpstr>
      <vt:lpstr>Secure Malware Analysis in Real Time (SMART)</vt:lpstr>
      <vt:lpstr>Secure Malware Analysis in Real Time (SMART)</vt:lpstr>
      <vt:lpstr>Robust Technique</vt:lpstr>
      <vt:lpstr>Review of Previous Discussion</vt:lpstr>
      <vt:lpstr>Categorization of the Malwares</vt:lpstr>
      <vt:lpstr>Categorization of the Malwares</vt:lpstr>
      <vt:lpstr>Detection Scheme using Sequence</vt:lpstr>
      <vt:lpstr>Detection Scheme using Sequence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Synthesis of Low Power High Performance Mixed CMOS VLSI Circuits based on a Maxset Algorithm</dc:title>
  <dc:creator>user</dc:creator>
  <cp:lastModifiedBy>#ALAM MANAAR#</cp:lastModifiedBy>
  <cp:revision>869</cp:revision>
  <dcterms:created xsi:type="dcterms:W3CDTF">2012-02-03T11:44:05Z</dcterms:created>
  <dcterms:modified xsi:type="dcterms:W3CDTF">2017-10-27T06:17:21Z</dcterms:modified>
</cp:coreProperties>
</file>