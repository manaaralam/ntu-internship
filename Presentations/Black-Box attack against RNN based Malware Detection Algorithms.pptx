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notesMasterIdLst>
    <p:notesMasterId r:id="rId13"/>
  </p:notesMasterIdLst>
  <p:sldIdLst>
    <p:sldId id="256" r:id="rId2"/>
    <p:sldId id="257" r:id="rId3"/>
    <p:sldId id="260" r:id="rId4"/>
    <p:sldId id="262" r:id="rId5"/>
    <p:sldId id="264" r:id="rId6"/>
    <p:sldId id="265" r:id="rId7"/>
    <p:sldId id="263" r:id="rId8"/>
    <p:sldId id="266" r:id="rId9"/>
    <p:sldId id="267" r:id="rId10"/>
    <p:sldId id="258" r:id="rId11"/>
    <p:sldId id="259"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100" d="100"/>
          <a:sy n="100" d="100"/>
        </p:scale>
        <p:origin x="138" y="3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5047A1-6F18-4264-A1CA-1FA2231C24EC}" type="datetimeFigureOut">
              <a:rPr lang="en-IN" smtClean="0"/>
              <a:t>11-10-2017</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218E4-8D3B-4557-B804-6A6DA171D388}" type="slidenum">
              <a:rPr lang="en-IN" smtClean="0"/>
              <a:t>‹#›</a:t>
            </a:fld>
            <a:endParaRPr lang="en-IN"/>
          </a:p>
        </p:txBody>
      </p:sp>
    </p:spTree>
    <p:extLst>
      <p:ext uri="{BB962C8B-B14F-4D97-AF65-F5344CB8AC3E}">
        <p14:creationId xmlns:p14="http://schemas.microsoft.com/office/powerpoint/2010/main" val="3246585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3D445C7-D265-4CA5-943E-081B333FD81B}" type="datetime1">
              <a:rPr lang="en-IN" smtClean="0"/>
              <a:t>11-10-2017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82BC92B1-C9EA-4D86-A246-22CEB90EE2A6}" type="slidenum">
              <a:rPr lang="en-IN" smtClean="0"/>
              <a:t>‹#›</a:t>
            </a:fld>
            <a:endParaRPr lang="en-IN"/>
          </a:p>
        </p:txBody>
      </p:sp>
    </p:spTree>
    <p:extLst>
      <p:ext uri="{BB962C8B-B14F-4D97-AF65-F5344CB8AC3E}">
        <p14:creationId xmlns:p14="http://schemas.microsoft.com/office/powerpoint/2010/main" val="572860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1CDA71-4CC6-4B16-B6BA-3EB8F2EDB1D5}" type="datetime1">
              <a:rPr lang="en-IN" smtClean="0"/>
              <a:t>11-10-2017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BC92B1-C9EA-4D86-A246-22CEB90EE2A6}" type="slidenum">
              <a:rPr lang="en-IN" smtClean="0"/>
              <a:t>‹#›</a:t>
            </a:fld>
            <a:endParaRPr lang="en-IN"/>
          </a:p>
        </p:txBody>
      </p:sp>
    </p:spTree>
    <p:extLst>
      <p:ext uri="{BB962C8B-B14F-4D97-AF65-F5344CB8AC3E}">
        <p14:creationId xmlns:p14="http://schemas.microsoft.com/office/powerpoint/2010/main" val="2139804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7" y="6272784"/>
            <a:ext cx="2644309" cy="365125"/>
          </a:xfrm>
        </p:spPr>
        <p:txBody>
          <a:bodyPr/>
          <a:lstStyle/>
          <a:p>
            <a:fld id="{FAFEF15A-1B34-418A-83A5-2A2F502EEA00}" type="datetime1">
              <a:rPr lang="en-IN" smtClean="0"/>
              <a:t>11-10-2017</a:t>
            </a:fld>
            <a:endParaRPr lang="en-IN"/>
          </a:p>
        </p:txBody>
      </p:sp>
      <p:sp>
        <p:nvSpPr>
          <p:cNvPr id="5" name="Footer Placeholder 4"/>
          <p:cNvSpPr>
            <a:spLocks noGrp="1"/>
          </p:cNvSpPr>
          <p:nvPr>
            <p:ph type="ftr" sz="quarter" idx="11"/>
          </p:nvPr>
        </p:nvSpPr>
        <p:spPr>
          <a:xfrm>
            <a:off x="2182708" y="6272784"/>
            <a:ext cx="6327648" cy="365125"/>
          </a:xfrm>
        </p:spPr>
        <p:txBody>
          <a:bodyPr/>
          <a:lstStyle/>
          <a:p>
            <a:endParaRPr lang="en-IN"/>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82BC92B1-C9EA-4D86-A246-22CEB90EE2A6}" type="slidenum">
              <a:rPr lang="en-IN" smtClean="0"/>
              <a:t>‹#›</a:t>
            </a:fld>
            <a:endParaRPr lang="en-IN"/>
          </a:p>
        </p:txBody>
      </p:sp>
    </p:spTree>
    <p:extLst>
      <p:ext uri="{BB962C8B-B14F-4D97-AF65-F5344CB8AC3E}">
        <p14:creationId xmlns:p14="http://schemas.microsoft.com/office/powerpoint/2010/main" val="135327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F99D1C-2DDD-4FB9-AC51-B71EA104ECAC}" type="datetime1">
              <a:rPr lang="en-IN" smtClean="0"/>
              <a:t>11-10-2017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2BC92B1-C9EA-4D86-A246-22CEB90EE2A6}" type="slidenum">
              <a:rPr lang="en-IN" smtClean="0"/>
              <a:t>‹#›</a:t>
            </a:fld>
            <a:endParaRPr lang="en-IN"/>
          </a:p>
        </p:txBody>
      </p:sp>
    </p:spTree>
    <p:extLst>
      <p:ext uri="{BB962C8B-B14F-4D97-AF65-F5344CB8AC3E}">
        <p14:creationId xmlns:p14="http://schemas.microsoft.com/office/powerpoint/2010/main" val="1545246574"/>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D82B28F-BDBA-4A7C-B382-49C2C1726578}" type="datetime1">
              <a:rPr lang="en-IN" smtClean="0"/>
              <a:t>11-10-2017</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2BC92B1-C9EA-4D86-A246-22CEB90EE2A6}" type="slidenum">
              <a:rPr lang="en-IN" smtClean="0"/>
              <a:t>‹#›</a:t>
            </a:fld>
            <a:endParaRPr lang="en-IN"/>
          </a:p>
        </p:txBody>
      </p:sp>
    </p:spTree>
    <p:extLst>
      <p:ext uri="{BB962C8B-B14F-4D97-AF65-F5344CB8AC3E}">
        <p14:creationId xmlns:p14="http://schemas.microsoft.com/office/powerpoint/2010/main" val="15454626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23186EA-DBA2-4026-9323-00D308A67B12}" type="datetime1">
              <a:rPr lang="en-IN" smtClean="0"/>
              <a:t>11-10-2017</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2BC92B1-C9EA-4D86-A246-22CEB90EE2A6}" type="slidenum">
              <a:rPr lang="en-IN" smtClean="0"/>
              <a:t>‹#›</a:t>
            </a:fld>
            <a:endParaRPr lang="en-IN"/>
          </a:p>
        </p:txBody>
      </p:sp>
    </p:spTree>
    <p:extLst>
      <p:ext uri="{BB962C8B-B14F-4D97-AF65-F5344CB8AC3E}">
        <p14:creationId xmlns:p14="http://schemas.microsoft.com/office/powerpoint/2010/main" val="448559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1B4886-0385-4E06-AEF2-B94B2255A321}" type="datetime1">
              <a:rPr lang="en-IN" smtClean="0"/>
              <a:t>11-10-2017</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2BC92B1-C9EA-4D86-A246-22CEB90EE2A6}" type="slidenum">
              <a:rPr lang="en-IN" smtClean="0"/>
              <a:t>‹#›</a:t>
            </a:fld>
            <a:endParaRPr lang="en-IN"/>
          </a:p>
        </p:txBody>
      </p:sp>
    </p:spTree>
    <p:extLst>
      <p:ext uri="{BB962C8B-B14F-4D97-AF65-F5344CB8AC3E}">
        <p14:creationId xmlns:p14="http://schemas.microsoft.com/office/powerpoint/2010/main" val="697086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B8660AC-1121-4D48-971A-666D08F1266E}" type="datetime1">
              <a:rPr lang="en-IN" smtClean="0"/>
              <a:t>11-10-2017</a:t>
            </a:fld>
            <a:endParaRPr lang="en-IN"/>
          </a:p>
        </p:txBody>
      </p:sp>
      <p:sp>
        <p:nvSpPr>
          <p:cNvPr id="6" name="Footer Placeholder 5"/>
          <p:cNvSpPr>
            <a:spLocks noGrp="1"/>
          </p:cNvSpPr>
          <p:nvPr>
            <p:ph type="ftr" sz="quarter" idx="11"/>
          </p:nvPr>
        </p:nvSpPr>
        <p:spPr/>
        <p:txBody>
          <a:bodyPr/>
          <a:lstStyle/>
          <a:p>
            <a:endParaRPr lang="en-IN"/>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82BC92B1-C9EA-4D86-A246-22CEB90EE2A6}" type="slidenum">
              <a:rPr lang="en-IN" smtClean="0"/>
              <a:t>‹#›</a:t>
            </a:fld>
            <a:endParaRPr lang="en-IN"/>
          </a:p>
        </p:txBody>
      </p:sp>
    </p:spTree>
    <p:extLst>
      <p:ext uri="{BB962C8B-B14F-4D97-AF65-F5344CB8AC3E}">
        <p14:creationId xmlns:p14="http://schemas.microsoft.com/office/powerpoint/2010/main" val="227389084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3651F97-78F7-4F17-B3CC-57CD37E41251}" type="datetime1">
              <a:rPr lang="en-IN" smtClean="0"/>
              <a:t>11-10-2017</a:t>
            </a:fld>
            <a:endParaRPr lang="en-IN"/>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82BC92B1-C9EA-4D86-A246-22CEB90EE2A6}" type="slidenum">
              <a:rPr lang="en-IN" smtClean="0"/>
              <a:t>‹#›</a:t>
            </a:fld>
            <a:endParaRPr lang="en-IN"/>
          </a:p>
        </p:txBody>
      </p:sp>
    </p:spTree>
    <p:extLst>
      <p:ext uri="{BB962C8B-B14F-4D97-AF65-F5344CB8AC3E}">
        <p14:creationId xmlns:p14="http://schemas.microsoft.com/office/powerpoint/2010/main" val="19141637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71B7B9-1747-4A34-85D5-BBF2BE0032DD}" type="datetime1">
              <a:rPr lang="en-IN" smtClean="0"/>
              <a:t>11-10-2017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BC92B1-C9EA-4D86-A246-22CEB90EE2A6}" type="slidenum">
              <a:rPr lang="en-IN" smtClean="0"/>
              <a:t>‹#›</a:t>
            </a:fld>
            <a:endParaRPr lang="en-IN"/>
          </a:p>
        </p:txBody>
      </p:sp>
    </p:spTree>
    <p:extLst>
      <p:ext uri="{BB962C8B-B14F-4D97-AF65-F5344CB8AC3E}">
        <p14:creationId xmlns:p14="http://schemas.microsoft.com/office/powerpoint/2010/main" val="274299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1373C2-FD15-46F1-A7CD-A915EDC7F2FB}" type="datetime1">
              <a:rPr lang="en-IN" smtClean="0"/>
              <a:t>11-10-2017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BC92B1-C9EA-4D86-A246-22CEB90EE2A6}" type="slidenum">
              <a:rPr lang="en-IN" smtClean="0"/>
              <a:t>‹#›</a:t>
            </a:fld>
            <a:endParaRPr lang="en-IN"/>
          </a:p>
        </p:txBody>
      </p:sp>
    </p:spTree>
    <p:extLst>
      <p:ext uri="{BB962C8B-B14F-4D97-AF65-F5344CB8AC3E}">
        <p14:creationId xmlns:p14="http://schemas.microsoft.com/office/powerpoint/2010/main" val="34730842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B97B61F8-3245-4020-921D-7A4D5AC5F3C5}" type="datetime1">
              <a:rPr lang="en-IN" smtClean="0"/>
              <a:t>11-10-2017</a:t>
            </a:fld>
            <a:endParaRPr lang="en-IN"/>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IN"/>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82BC92B1-C9EA-4D86-A246-22CEB90EE2A6}" type="slidenum">
              <a:rPr lang="en-IN" smtClean="0"/>
              <a:t>‹#›</a:t>
            </a:fld>
            <a:endParaRPr lang="en-IN"/>
          </a:p>
        </p:txBody>
      </p:sp>
    </p:spTree>
    <p:extLst>
      <p:ext uri="{BB962C8B-B14F-4D97-AF65-F5344CB8AC3E}">
        <p14:creationId xmlns:p14="http://schemas.microsoft.com/office/powerpoint/2010/main" val="1475079249"/>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hf hdr="0" ftr="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744DA-14AC-4964-B576-C239AFDE83BB}"/>
              </a:ext>
            </a:extLst>
          </p:cNvPr>
          <p:cNvSpPr>
            <a:spLocks noGrp="1"/>
          </p:cNvSpPr>
          <p:nvPr>
            <p:ph type="ctrTitle"/>
          </p:nvPr>
        </p:nvSpPr>
        <p:spPr>
          <a:xfrm>
            <a:off x="1370693" y="1887974"/>
            <a:ext cx="9440034" cy="1828801"/>
          </a:xfrm>
        </p:spPr>
        <p:txBody>
          <a:bodyPr>
            <a:noAutofit/>
          </a:bodyPr>
          <a:lstStyle/>
          <a:p>
            <a:pPr algn="ctr"/>
            <a:r>
              <a:rPr lang="en-IN" sz="4800" dirty="0"/>
              <a:t>Black-Box attack against RNN based Malware Detection Algorithms</a:t>
            </a:r>
          </a:p>
        </p:txBody>
      </p:sp>
      <p:sp>
        <p:nvSpPr>
          <p:cNvPr id="3" name="Subtitle 2">
            <a:extLst>
              <a:ext uri="{FF2B5EF4-FFF2-40B4-BE49-F238E27FC236}">
                <a16:creationId xmlns:a16="http://schemas.microsoft.com/office/drawing/2014/main" id="{141C80F3-E287-4D1D-A79E-FA5930A28732}"/>
              </a:ext>
            </a:extLst>
          </p:cNvPr>
          <p:cNvSpPr>
            <a:spLocks noGrp="1"/>
          </p:cNvSpPr>
          <p:nvPr>
            <p:ph type="subTitle" idx="1"/>
          </p:nvPr>
        </p:nvSpPr>
        <p:spPr>
          <a:xfrm>
            <a:off x="1370693" y="4676642"/>
            <a:ext cx="8106682" cy="447450"/>
          </a:xfrm>
        </p:spPr>
        <p:txBody>
          <a:bodyPr/>
          <a:lstStyle/>
          <a:p>
            <a:pPr algn="r"/>
            <a:r>
              <a:rPr lang="en-GB" dirty="0"/>
              <a:t> - Weiwei Hu and Ying Tan</a:t>
            </a:r>
          </a:p>
        </p:txBody>
      </p:sp>
      <p:sp>
        <p:nvSpPr>
          <p:cNvPr id="4" name="Slide Number Placeholder 3">
            <a:extLst>
              <a:ext uri="{FF2B5EF4-FFF2-40B4-BE49-F238E27FC236}">
                <a16:creationId xmlns:a16="http://schemas.microsoft.com/office/drawing/2014/main" id="{5A5F7B76-79D2-4660-8867-C2308B2FF86C}"/>
              </a:ext>
            </a:extLst>
          </p:cNvPr>
          <p:cNvSpPr>
            <a:spLocks noGrp="1"/>
          </p:cNvSpPr>
          <p:nvPr>
            <p:ph type="sldNum" sz="quarter" idx="12"/>
          </p:nvPr>
        </p:nvSpPr>
        <p:spPr/>
        <p:txBody>
          <a:bodyPr/>
          <a:lstStyle/>
          <a:p>
            <a:fld id="{82BC92B1-C9EA-4D86-A246-22CEB90EE2A6}" type="slidenum">
              <a:rPr lang="en-IN" smtClean="0"/>
              <a:t>1</a:t>
            </a:fld>
            <a:endParaRPr lang="en-IN"/>
          </a:p>
        </p:txBody>
      </p:sp>
      <p:sp>
        <p:nvSpPr>
          <p:cNvPr id="5" name="Date Placeholder 4">
            <a:extLst>
              <a:ext uri="{FF2B5EF4-FFF2-40B4-BE49-F238E27FC236}">
                <a16:creationId xmlns:a16="http://schemas.microsoft.com/office/drawing/2014/main" id="{9C902DFC-6F01-437D-8AF1-FEFF2665C197}"/>
              </a:ext>
            </a:extLst>
          </p:cNvPr>
          <p:cNvSpPr>
            <a:spLocks noGrp="1"/>
          </p:cNvSpPr>
          <p:nvPr>
            <p:ph type="dt" sz="half" idx="10"/>
          </p:nvPr>
        </p:nvSpPr>
        <p:spPr/>
        <p:txBody>
          <a:bodyPr/>
          <a:lstStyle/>
          <a:p>
            <a:fld id="{ADE81B32-02D6-4BC1-8CB7-F97071F5BAAC}" type="datetime1">
              <a:rPr lang="en-IN" smtClean="0"/>
              <a:t>11-10-2017</a:t>
            </a:fld>
            <a:endParaRPr lang="en-IN"/>
          </a:p>
        </p:txBody>
      </p:sp>
    </p:spTree>
    <p:extLst>
      <p:ext uri="{BB962C8B-B14F-4D97-AF65-F5344CB8AC3E}">
        <p14:creationId xmlns:p14="http://schemas.microsoft.com/office/powerpoint/2010/main" val="2889406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BF00C-C31A-43DF-B547-A22F3600563F}"/>
              </a:ext>
            </a:extLst>
          </p:cNvPr>
          <p:cNvSpPr>
            <a:spLocks noGrp="1"/>
          </p:cNvSpPr>
          <p:nvPr>
            <p:ph type="title"/>
          </p:nvPr>
        </p:nvSpPr>
        <p:spPr/>
        <p:txBody>
          <a:bodyPr/>
          <a:lstStyle/>
          <a:p>
            <a:r>
              <a:rPr lang="en-IN" dirty="0"/>
              <a:t>Key Points</a:t>
            </a:r>
          </a:p>
        </p:txBody>
      </p:sp>
      <p:sp>
        <p:nvSpPr>
          <p:cNvPr id="3" name="Content Placeholder 2">
            <a:extLst>
              <a:ext uri="{FF2B5EF4-FFF2-40B4-BE49-F238E27FC236}">
                <a16:creationId xmlns:a16="http://schemas.microsoft.com/office/drawing/2014/main" id="{76C85041-350D-4525-B55C-DFB150BC69BD}"/>
              </a:ext>
            </a:extLst>
          </p:cNvPr>
          <p:cNvSpPr>
            <a:spLocks noGrp="1"/>
          </p:cNvSpPr>
          <p:nvPr>
            <p:ph idx="1"/>
          </p:nvPr>
        </p:nvSpPr>
        <p:spPr>
          <a:xfrm>
            <a:off x="1101766" y="2380891"/>
            <a:ext cx="9720071" cy="4023360"/>
          </a:xfrm>
        </p:spPr>
        <p:txBody>
          <a:bodyPr>
            <a:normAutofit lnSpcReduction="10000"/>
          </a:bodyPr>
          <a:lstStyle/>
          <a:p>
            <a:pPr algn="just"/>
            <a:r>
              <a:rPr lang="en-GB" dirty="0"/>
              <a:t>Existing machine learning based malware detection algorithms mainly represent programs as feature vectors with fixed dimension and classify them between benign programs and malware [1].</a:t>
            </a:r>
          </a:p>
          <a:p>
            <a:pPr lvl="1" algn="just"/>
            <a:r>
              <a:rPr lang="en-GB" dirty="0"/>
              <a:t>A binary feature vector can be constructed according to the presence or absence of system APIs in a program [2].</a:t>
            </a:r>
            <a:endParaRPr lang="en-IN" dirty="0"/>
          </a:p>
          <a:p>
            <a:pPr algn="just"/>
            <a:r>
              <a:rPr lang="en-GB" dirty="0"/>
              <a:t>Grosse et al. [3] and Hu et al. [4] have shown that fixed dimensional feature based malware detection algorithms are very vulnerable under the attack of adversarial examples.</a:t>
            </a:r>
          </a:p>
          <a:p>
            <a:pPr algn="just"/>
            <a:r>
              <a:rPr lang="en-GB" dirty="0"/>
              <a:t>Researchers have tried to use RNN for malware detection and classification [5, 6, 7]. The API sequence invoked by a program is used as the input of RNN. RNN will predict whether the program is benign or malware.</a:t>
            </a:r>
          </a:p>
          <a:p>
            <a:pPr algn="just"/>
            <a:r>
              <a:rPr lang="en-GB" dirty="0"/>
              <a:t>The paper tries to validate the security of a RNN based malware detection model when it is attacked by adversarial examples.</a:t>
            </a:r>
            <a:endParaRPr lang="en-IN" dirty="0"/>
          </a:p>
        </p:txBody>
      </p:sp>
      <p:graphicFrame>
        <p:nvGraphicFramePr>
          <p:cNvPr id="4" name="Table 3">
            <a:extLst>
              <a:ext uri="{FF2B5EF4-FFF2-40B4-BE49-F238E27FC236}">
                <a16:creationId xmlns:a16="http://schemas.microsoft.com/office/drawing/2014/main" id="{E826C6E3-C410-4298-ABC1-4527E8DEA7AF}"/>
              </a:ext>
            </a:extLst>
          </p:cNvPr>
          <p:cNvGraphicFramePr>
            <a:graphicFrameLocks noGrp="1"/>
          </p:cNvGraphicFramePr>
          <p:nvPr>
            <p:extLst>
              <p:ext uri="{D42A27DB-BD31-4B8C-83A1-F6EECF244321}">
                <p14:modId xmlns:p14="http://schemas.microsoft.com/office/powerpoint/2010/main" val="2988752040"/>
              </p:ext>
            </p:extLst>
          </p:nvPr>
        </p:nvGraphicFramePr>
        <p:xfrm>
          <a:off x="5142693" y="733044"/>
          <a:ext cx="5679144" cy="1112520"/>
        </p:xfrm>
        <a:graphic>
          <a:graphicData uri="http://schemas.openxmlformats.org/drawingml/2006/table">
            <a:tbl>
              <a:tblPr firstRow="1" bandRow="1">
                <a:tableStyleId>{5C22544A-7EE6-4342-B048-85BDC9FD1C3A}</a:tableStyleId>
              </a:tblPr>
              <a:tblGrid>
                <a:gridCol w="862454">
                  <a:extLst>
                    <a:ext uri="{9D8B030D-6E8A-4147-A177-3AD203B41FA5}">
                      <a16:colId xmlns:a16="http://schemas.microsoft.com/office/drawing/2014/main" val="1051644742"/>
                    </a:ext>
                  </a:extLst>
                </a:gridCol>
                <a:gridCol w="598721">
                  <a:extLst>
                    <a:ext uri="{9D8B030D-6E8A-4147-A177-3AD203B41FA5}">
                      <a16:colId xmlns:a16="http://schemas.microsoft.com/office/drawing/2014/main" val="65506084"/>
                    </a:ext>
                  </a:extLst>
                </a:gridCol>
                <a:gridCol w="598721">
                  <a:extLst>
                    <a:ext uri="{9D8B030D-6E8A-4147-A177-3AD203B41FA5}">
                      <a16:colId xmlns:a16="http://schemas.microsoft.com/office/drawing/2014/main" val="3270236523"/>
                    </a:ext>
                  </a:extLst>
                </a:gridCol>
                <a:gridCol w="598721">
                  <a:extLst>
                    <a:ext uri="{9D8B030D-6E8A-4147-A177-3AD203B41FA5}">
                      <a16:colId xmlns:a16="http://schemas.microsoft.com/office/drawing/2014/main" val="103056326"/>
                    </a:ext>
                  </a:extLst>
                </a:gridCol>
                <a:gridCol w="598721">
                  <a:extLst>
                    <a:ext uri="{9D8B030D-6E8A-4147-A177-3AD203B41FA5}">
                      <a16:colId xmlns:a16="http://schemas.microsoft.com/office/drawing/2014/main" val="2679399441"/>
                    </a:ext>
                  </a:extLst>
                </a:gridCol>
                <a:gridCol w="598721">
                  <a:extLst>
                    <a:ext uri="{9D8B030D-6E8A-4147-A177-3AD203B41FA5}">
                      <a16:colId xmlns:a16="http://schemas.microsoft.com/office/drawing/2014/main" val="3695812249"/>
                    </a:ext>
                  </a:extLst>
                </a:gridCol>
                <a:gridCol w="616268">
                  <a:extLst>
                    <a:ext uri="{9D8B030D-6E8A-4147-A177-3AD203B41FA5}">
                      <a16:colId xmlns:a16="http://schemas.microsoft.com/office/drawing/2014/main" val="3288481384"/>
                    </a:ext>
                  </a:extLst>
                </a:gridCol>
                <a:gridCol w="616268">
                  <a:extLst>
                    <a:ext uri="{9D8B030D-6E8A-4147-A177-3AD203B41FA5}">
                      <a16:colId xmlns:a16="http://schemas.microsoft.com/office/drawing/2014/main" val="4165011871"/>
                    </a:ext>
                  </a:extLst>
                </a:gridCol>
                <a:gridCol w="590549">
                  <a:extLst>
                    <a:ext uri="{9D8B030D-6E8A-4147-A177-3AD203B41FA5}">
                      <a16:colId xmlns:a16="http://schemas.microsoft.com/office/drawing/2014/main" val="1432455112"/>
                    </a:ext>
                  </a:extLst>
                </a:gridCol>
              </a:tblGrid>
              <a:tr h="370840">
                <a:tc>
                  <a:txBody>
                    <a:bodyPr/>
                    <a:lstStyle/>
                    <a:p>
                      <a:pPr algn="ctr"/>
                      <a:endParaRPr lang="en-IN" sz="1100" dirty="0"/>
                    </a:p>
                  </a:txBody>
                  <a:tcPr anchor="ctr"/>
                </a:tc>
                <a:tc>
                  <a:txBody>
                    <a:bodyPr/>
                    <a:lstStyle/>
                    <a:p>
                      <a:pPr algn="ctr"/>
                      <a:r>
                        <a:rPr lang="en-IN" sz="1100" dirty="0"/>
                        <a:t>API_1</a:t>
                      </a:r>
                    </a:p>
                  </a:txBody>
                  <a:tcPr anchor="ctr"/>
                </a:tc>
                <a:tc>
                  <a:txBody>
                    <a:bodyPr/>
                    <a:lstStyle/>
                    <a:p>
                      <a:pPr algn="ctr"/>
                      <a:r>
                        <a:rPr lang="en-IN" sz="1100" dirty="0"/>
                        <a:t>API_2</a:t>
                      </a:r>
                    </a:p>
                  </a:txBody>
                  <a:tcPr anchor="ctr"/>
                </a:tc>
                <a:tc>
                  <a:txBody>
                    <a:bodyPr/>
                    <a:lstStyle/>
                    <a:p>
                      <a:pPr algn="ctr"/>
                      <a:r>
                        <a:rPr lang="en-IN" sz="1100" dirty="0"/>
                        <a:t>API_3</a:t>
                      </a:r>
                    </a:p>
                  </a:txBody>
                  <a:tcPr anchor="ctr"/>
                </a:tc>
                <a:tc>
                  <a:txBody>
                    <a:bodyPr/>
                    <a:lstStyle/>
                    <a:p>
                      <a:pPr algn="ctr"/>
                      <a:r>
                        <a:rPr lang="en-IN" sz="1100" dirty="0"/>
                        <a:t>API_4</a:t>
                      </a:r>
                    </a:p>
                  </a:txBody>
                  <a:tcPr anchor="ctr"/>
                </a:tc>
                <a:tc>
                  <a:txBody>
                    <a:bodyPr/>
                    <a:lstStyle/>
                    <a:p>
                      <a:pPr algn="ctr"/>
                      <a:r>
                        <a:rPr lang="en-IN" sz="1100" dirty="0"/>
                        <a:t>API_5</a:t>
                      </a:r>
                    </a:p>
                  </a:txBody>
                  <a:tcPr anchor="ctr"/>
                </a:tc>
                <a:tc>
                  <a:txBody>
                    <a:bodyPr/>
                    <a:lstStyle/>
                    <a:p>
                      <a:pPr algn="ctr"/>
                      <a:r>
                        <a:rPr lang="en-IN" sz="1100" dirty="0"/>
                        <a:t>API_6</a:t>
                      </a:r>
                    </a:p>
                  </a:txBody>
                  <a:tcPr anchor="ctr"/>
                </a:tc>
                <a:tc>
                  <a:txBody>
                    <a:bodyPr/>
                    <a:lstStyle/>
                    <a:p>
                      <a:pPr algn="ctr"/>
                      <a:r>
                        <a:rPr lang="en-IN" sz="1100" dirty="0"/>
                        <a:t>API_7</a:t>
                      </a:r>
                    </a:p>
                  </a:txBody>
                  <a:tcPr anchor="ctr"/>
                </a:tc>
                <a:tc>
                  <a:txBody>
                    <a:bodyPr/>
                    <a:lstStyle/>
                    <a:p>
                      <a:pPr algn="ctr"/>
                      <a:r>
                        <a:rPr lang="en-IN" sz="1100" dirty="0"/>
                        <a:t>API_8</a:t>
                      </a:r>
                    </a:p>
                  </a:txBody>
                  <a:tcPr anchor="ctr"/>
                </a:tc>
                <a:extLst>
                  <a:ext uri="{0D108BD9-81ED-4DB2-BD59-A6C34878D82A}">
                    <a16:rowId xmlns:a16="http://schemas.microsoft.com/office/drawing/2014/main" val="549689728"/>
                  </a:ext>
                </a:extLst>
              </a:tr>
              <a:tr h="370840">
                <a:tc>
                  <a:txBody>
                    <a:bodyPr/>
                    <a:lstStyle/>
                    <a:p>
                      <a:pPr algn="ctr"/>
                      <a:r>
                        <a:rPr lang="en-IN" sz="1100" dirty="0"/>
                        <a:t>Program 1</a:t>
                      </a:r>
                    </a:p>
                  </a:txBody>
                  <a:tcPr anchor="ctr"/>
                </a:tc>
                <a:tc>
                  <a:txBody>
                    <a:bodyPr/>
                    <a:lstStyle/>
                    <a:p>
                      <a:pPr algn="ctr"/>
                      <a:r>
                        <a:rPr lang="en-IN" sz="1100" dirty="0"/>
                        <a:t>1</a:t>
                      </a:r>
                    </a:p>
                  </a:txBody>
                  <a:tcPr anchor="ctr"/>
                </a:tc>
                <a:tc>
                  <a:txBody>
                    <a:bodyPr/>
                    <a:lstStyle/>
                    <a:p>
                      <a:pPr algn="ctr"/>
                      <a:r>
                        <a:rPr lang="en-IN" sz="1100" dirty="0"/>
                        <a:t>0</a:t>
                      </a:r>
                    </a:p>
                  </a:txBody>
                  <a:tcPr anchor="ctr"/>
                </a:tc>
                <a:tc>
                  <a:txBody>
                    <a:bodyPr/>
                    <a:lstStyle/>
                    <a:p>
                      <a:pPr algn="ctr"/>
                      <a:r>
                        <a:rPr lang="en-IN" sz="1100" dirty="0"/>
                        <a:t>0</a:t>
                      </a:r>
                    </a:p>
                  </a:txBody>
                  <a:tcPr anchor="ctr"/>
                </a:tc>
                <a:tc>
                  <a:txBody>
                    <a:bodyPr/>
                    <a:lstStyle/>
                    <a:p>
                      <a:pPr algn="ctr"/>
                      <a:r>
                        <a:rPr lang="en-IN" sz="1100" dirty="0"/>
                        <a:t>1</a:t>
                      </a:r>
                    </a:p>
                  </a:txBody>
                  <a:tcPr anchor="ctr"/>
                </a:tc>
                <a:tc>
                  <a:txBody>
                    <a:bodyPr/>
                    <a:lstStyle/>
                    <a:p>
                      <a:pPr algn="ctr"/>
                      <a:r>
                        <a:rPr lang="en-IN" sz="1100" dirty="0"/>
                        <a:t>1</a:t>
                      </a:r>
                    </a:p>
                  </a:txBody>
                  <a:tcPr anchor="ctr"/>
                </a:tc>
                <a:tc>
                  <a:txBody>
                    <a:bodyPr/>
                    <a:lstStyle/>
                    <a:p>
                      <a:pPr algn="ctr"/>
                      <a:r>
                        <a:rPr lang="en-IN" sz="1100" dirty="0"/>
                        <a:t>0</a:t>
                      </a:r>
                    </a:p>
                  </a:txBody>
                  <a:tcPr anchor="ctr"/>
                </a:tc>
                <a:tc>
                  <a:txBody>
                    <a:bodyPr/>
                    <a:lstStyle/>
                    <a:p>
                      <a:pPr algn="ctr"/>
                      <a:r>
                        <a:rPr lang="en-IN" sz="1100" dirty="0"/>
                        <a:t>0</a:t>
                      </a:r>
                    </a:p>
                  </a:txBody>
                  <a:tcPr anchor="ctr"/>
                </a:tc>
                <a:tc>
                  <a:txBody>
                    <a:bodyPr/>
                    <a:lstStyle/>
                    <a:p>
                      <a:pPr algn="ctr"/>
                      <a:r>
                        <a:rPr lang="en-IN" sz="1100" dirty="0"/>
                        <a:t>1</a:t>
                      </a:r>
                    </a:p>
                  </a:txBody>
                  <a:tcPr anchor="ctr"/>
                </a:tc>
                <a:extLst>
                  <a:ext uri="{0D108BD9-81ED-4DB2-BD59-A6C34878D82A}">
                    <a16:rowId xmlns:a16="http://schemas.microsoft.com/office/drawing/2014/main" val="4281998716"/>
                  </a:ext>
                </a:extLst>
              </a:tr>
              <a:tr h="370840">
                <a:tc>
                  <a:txBody>
                    <a:bodyPr/>
                    <a:lstStyle/>
                    <a:p>
                      <a:pPr algn="ctr"/>
                      <a:r>
                        <a:rPr lang="en-IN" sz="1100" dirty="0"/>
                        <a:t>Program 2</a:t>
                      </a:r>
                    </a:p>
                  </a:txBody>
                  <a:tcPr anchor="ctr"/>
                </a:tc>
                <a:tc>
                  <a:txBody>
                    <a:bodyPr/>
                    <a:lstStyle/>
                    <a:p>
                      <a:pPr algn="ctr"/>
                      <a:r>
                        <a:rPr lang="en-IN" sz="1100" dirty="0"/>
                        <a:t>1</a:t>
                      </a:r>
                    </a:p>
                  </a:txBody>
                  <a:tcPr anchor="ctr"/>
                </a:tc>
                <a:tc>
                  <a:txBody>
                    <a:bodyPr/>
                    <a:lstStyle/>
                    <a:p>
                      <a:pPr algn="ctr"/>
                      <a:r>
                        <a:rPr lang="en-IN" sz="1100" dirty="0"/>
                        <a:t>1</a:t>
                      </a:r>
                    </a:p>
                  </a:txBody>
                  <a:tcPr anchor="ctr"/>
                </a:tc>
                <a:tc>
                  <a:txBody>
                    <a:bodyPr/>
                    <a:lstStyle/>
                    <a:p>
                      <a:pPr algn="ctr"/>
                      <a:r>
                        <a:rPr lang="en-IN" sz="1100" dirty="0"/>
                        <a:t>0</a:t>
                      </a:r>
                    </a:p>
                  </a:txBody>
                  <a:tcPr anchor="ctr"/>
                </a:tc>
                <a:tc>
                  <a:txBody>
                    <a:bodyPr/>
                    <a:lstStyle/>
                    <a:p>
                      <a:pPr algn="ctr"/>
                      <a:r>
                        <a:rPr lang="en-IN" sz="1100" dirty="0"/>
                        <a:t>0</a:t>
                      </a:r>
                    </a:p>
                  </a:txBody>
                  <a:tcPr anchor="ctr"/>
                </a:tc>
                <a:tc>
                  <a:txBody>
                    <a:bodyPr/>
                    <a:lstStyle/>
                    <a:p>
                      <a:pPr algn="ctr"/>
                      <a:r>
                        <a:rPr lang="en-IN" sz="1100" dirty="0"/>
                        <a:t>1</a:t>
                      </a:r>
                    </a:p>
                  </a:txBody>
                  <a:tcPr anchor="ctr"/>
                </a:tc>
                <a:tc>
                  <a:txBody>
                    <a:bodyPr/>
                    <a:lstStyle/>
                    <a:p>
                      <a:pPr algn="ctr"/>
                      <a:r>
                        <a:rPr lang="en-IN" sz="1100" dirty="0"/>
                        <a:t>1</a:t>
                      </a:r>
                    </a:p>
                  </a:txBody>
                  <a:tcPr anchor="ctr"/>
                </a:tc>
                <a:tc>
                  <a:txBody>
                    <a:bodyPr/>
                    <a:lstStyle/>
                    <a:p>
                      <a:pPr algn="ctr"/>
                      <a:r>
                        <a:rPr lang="en-IN" sz="1100" dirty="0"/>
                        <a:t>1</a:t>
                      </a:r>
                    </a:p>
                  </a:txBody>
                  <a:tcPr anchor="ctr"/>
                </a:tc>
                <a:tc>
                  <a:txBody>
                    <a:bodyPr/>
                    <a:lstStyle/>
                    <a:p>
                      <a:pPr algn="ctr"/>
                      <a:r>
                        <a:rPr lang="en-IN" sz="1100" dirty="0"/>
                        <a:t>0</a:t>
                      </a:r>
                    </a:p>
                  </a:txBody>
                  <a:tcPr anchor="ctr"/>
                </a:tc>
                <a:extLst>
                  <a:ext uri="{0D108BD9-81ED-4DB2-BD59-A6C34878D82A}">
                    <a16:rowId xmlns:a16="http://schemas.microsoft.com/office/drawing/2014/main" val="1426211252"/>
                  </a:ext>
                </a:extLst>
              </a:tr>
            </a:tbl>
          </a:graphicData>
        </a:graphic>
      </p:graphicFrame>
      <p:cxnSp>
        <p:nvCxnSpPr>
          <p:cNvPr id="6" name="Straight Arrow Connector 5">
            <a:extLst>
              <a:ext uri="{FF2B5EF4-FFF2-40B4-BE49-F238E27FC236}">
                <a16:creationId xmlns:a16="http://schemas.microsoft.com/office/drawing/2014/main" id="{A9223272-A878-42E3-A6C8-54C982F7C8B9}"/>
              </a:ext>
            </a:extLst>
          </p:cNvPr>
          <p:cNvCxnSpPr>
            <a:cxnSpLocks/>
          </p:cNvCxnSpPr>
          <p:nvPr/>
        </p:nvCxnSpPr>
        <p:spPr>
          <a:xfrm flipV="1">
            <a:off x="4762500" y="1866901"/>
            <a:ext cx="2800350" cy="167639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9" name="Table 8">
            <a:extLst>
              <a:ext uri="{FF2B5EF4-FFF2-40B4-BE49-F238E27FC236}">
                <a16:creationId xmlns:a16="http://schemas.microsoft.com/office/drawing/2014/main" id="{B092247E-0DAC-4427-B9DB-1466813F26D8}"/>
              </a:ext>
            </a:extLst>
          </p:cNvPr>
          <p:cNvGraphicFramePr>
            <a:graphicFrameLocks noGrp="1"/>
          </p:cNvGraphicFramePr>
          <p:nvPr>
            <p:extLst>
              <p:ext uri="{D42A27DB-BD31-4B8C-83A1-F6EECF244321}">
                <p14:modId xmlns:p14="http://schemas.microsoft.com/office/powerpoint/2010/main" val="1331050440"/>
              </p:ext>
            </p:extLst>
          </p:nvPr>
        </p:nvGraphicFramePr>
        <p:xfrm>
          <a:off x="6099048" y="733044"/>
          <a:ext cx="3790778" cy="1112520"/>
        </p:xfrm>
        <a:graphic>
          <a:graphicData uri="http://schemas.openxmlformats.org/drawingml/2006/table">
            <a:tbl>
              <a:tblPr firstRow="1" bandRow="1">
                <a:tableStyleId>{5C22544A-7EE6-4342-B048-85BDC9FD1C3A}</a:tableStyleId>
              </a:tblPr>
              <a:tblGrid>
                <a:gridCol w="887730">
                  <a:extLst>
                    <a:ext uri="{9D8B030D-6E8A-4147-A177-3AD203B41FA5}">
                      <a16:colId xmlns:a16="http://schemas.microsoft.com/office/drawing/2014/main" val="4191620136"/>
                    </a:ext>
                  </a:extLst>
                </a:gridCol>
                <a:gridCol w="2903048">
                  <a:extLst>
                    <a:ext uri="{9D8B030D-6E8A-4147-A177-3AD203B41FA5}">
                      <a16:colId xmlns:a16="http://schemas.microsoft.com/office/drawing/2014/main" val="619418440"/>
                    </a:ext>
                  </a:extLst>
                </a:gridCol>
              </a:tblGrid>
              <a:tr h="370840">
                <a:tc>
                  <a:txBody>
                    <a:bodyPr/>
                    <a:lstStyle/>
                    <a:p>
                      <a:pPr algn="ctr"/>
                      <a:endParaRPr lang="en-IN" sz="1100" dirty="0"/>
                    </a:p>
                  </a:txBody>
                  <a:tcPr anchor="ctr"/>
                </a:tc>
                <a:tc>
                  <a:txBody>
                    <a:bodyPr/>
                    <a:lstStyle/>
                    <a:p>
                      <a:pPr algn="ctr"/>
                      <a:r>
                        <a:rPr lang="en-IN" sz="1100" dirty="0"/>
                        <a:t>Sequence of APIs</a:t>
                      </a:r>
                    </a:p>
                  </a:txBody>
                  <a:tcPr anchor="ctr"/>
                </a:tc>
                <a:extLst>
                  <a:ext uri="{0D108BD9-81ED-4DB2-BD59-A6C34878D82A}">
                    <a16:rowId xmlns:a16="http://schemas.microsoft.com/office/drawing/2014/main" val="2958628287"/>
                  </a:ext>
                </a:extLst>
              </a:tr>
              <a:tr h="370840">
                <a:tc>
                  <a:txBody>
                    <a:bodyPr/>
                    <a:lstStyle/>
                    <a:p>
                      <a:pPr algn="ctr"/>
                      <a:r>
                        <a:rPr lang="en-IN" sz="1100" dirty="0"/>
                        <a:t>Program 1</a:t>
                      </a:r>
                    </a:p>
                  </a:txBody>
                  <a:tcPr anchor="ctr"/>
                </a:tc>
                <a:tc>
                  <a:txBody>
                    <a:bodyPr/>
                    <a:lstStyle/>
                    <a:p>
                      <a:pPr algn="ctr"/>
                      <a:r>
                        <a:rPr lang="en-IN" sz="1100" dirty="0"/>
                        <a:t>(API_1, API_3, API_7, API_2)</a:t>
                      </a:r>
                    </a:p>
                  </a:txBody>
                  <a:tcPr anchor="ctr"/>
                </a:tc>
                <a:extLst>
                  <a:ext uri="{0D108BD9-81ED-4DB2-BD59-A6C34878D82A}">
                    <a16:rowId xmlns:a16="http://schemas.microsoft.com/office/drawing/2014/main" val="3925131710"/>
                  </a:ext>
                </a:extLst>
              </a:tr>
              <a:tr h="370840">
                <a:tc>
                  <a:txBody>
                    <a:bodyPr/>
                    <a:lstStyle/>
                    <a:p>
                      <a:pPr algn="ctr"/>
                      <a:r>
                        <a:rPr lang="en-IN" sz="1100" dirty="0"/>
                        <a:t>Program 2</a:t>
                      </a:r>
                    </a:p>
                  </a:txBody>
                  <a:tcPr anchor="ctr"/>
                </a:tc>
                <a:tc>
                  <a:txBody>
                    <a:bodyPr/>
                    <a:lstStyle/>
                    <a:p>
                      <a:pPr algn="ctr"/>
                      <a:r>
                        <a:rPr lang="en-IN" sz="1100" dirty="0"/>
                        <a:t>(API_4, API_1, API_3, API_8, API_1, API_2)</a:t>
                      </a:r>
                    </a:p>
                  </a:txBody>
                  <a:tcPr anchor="ctr"/>
                </a:tc>
                <a:extLst>
                  <a:ext uri="{0D108BD9-81ED-4DB2-BD59-A6C34878D82A}">
                    <a16:rowId xmlns:a16="http://schemas.microsoft.com/office/drawing/2014/main" val="2623468376"/>
                  </a:ext>
                </a:extLst>
              </a:tr>
            </a:tbl>
          </a:graphicData>
        </a:graphic>
      </p:graphicFrame>
      <p:cxnSp>
        <p:nvCxnSpPr>
          <p:cNvPr id="11" name="Straight Arrow Connector 10">
            <a:extLst>
              <a:ext uri="{FF2B5EF4-FFF2-40B4-BE49-F238E27FC236}">
                <a16:creationId xmlns:a16="http://schemas.microsoft.com/office/drawing/2014/main" id="{C0251B5D-0855-4AB0-9CD1-3B2C4C2D9685}"/>
              </a:ext>
            </a:extLst>
          </p:cNvPr>
          <p:cNvCxnSpPr>
            <a:cxnSpLocks/>
          </p:cNvCxnSpPr>
          <p:nvPr/>
        </p:nvCxnSpPr>
        <p:spPr>
          <a:xfrm flipV="1">
            <a:off x="7391400" y="1845564"/>
            <a:ext cx="781050" cy="346938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4" name="Slide Number Placeholder 13">
            <a:extLst>
              <a:ext uri="{FF2B5EF4-FFF2-40B4-BE49-F238E27FC236}">
                <a16:creationId xmlns:a16="http://schemas.microsoft.com/office/drawing/2014/main" id="{1BD1C434-8958-45F2-8120-B6C60D6DF694}"/>
              </a:ext>
            </a:extLst>
          </p:cNvPr>
          <p:cNvSpPr>
            <a:spLocks noGrp="1"/>
          </p:cNvSpPr>
          <p:nvPr>
            <p:ph type="sldNum" sz="quarter" idx="12"/>
          </p:nvPr>
        </p:nvSpPr>
        <p:spPr/>
        <p:txBody>
          <a:bodyPr/>
          <a:lstStyle/>
          <a:p>
            <a:fld id="{82BC92B1-C9EA-4D86-A246-22CEB90EE2A6}" type="slidenum">
              <a:rPr lang="en-IN" smtClean="0"/>
              <a:t>2</a:t>
            </a:fld>
            <a:endParaRPr lang="en-IN"/>
          </a:p>
        </p:txBody>
      </p:sp>
      <p:sp>
        <p:nvSpPr>
          <p:cNvPr id="15" name="Date Placeholder 14">
            <a:extLst>
              <a:ext uri="{FF2B5EF4-FFF2-40B4-BE49-F238E27FC236}">
                <a16:creationId xmlns:a16="http://schemas.microsoft.com/office/drawing/2014/main" id="{BF4B22E2-5838-44D6-8BF1-950C5A2BFA5A}"/>
              </a:ext>
            </a:extLst>
          </p:cNvPr>
          <p:cNvSpPr>
            <a:spLocks noGrp="1"/>
          </p:cNvSpPr>
          <p:nvPr>
            <p:ph type="dt" sz="half" idx="10"/>
          </p:nvPr>
        </p:nvSpPr>
        <p:spPr/>
        <p:txBody>
          <a:bodyPr/>
          <a:lstStyle/>
          <a:p>
            <a:fld id="{11A106EF-CAB8-4A1F-B526-F93C8B5D3B7F}" type="datetime1">
              <a:rPr lang="en-IN" smtClean="0"/>
              <a:t>11-10-2017</a:t>
            </a:fld>
            <a:endParaRPr lang="en-IN"/>
          </a:p>
        </p:txBody>
      </p:sp>
    </p:spTree>
    <p:extLst>
      <p:ext uri="{BB962C8B-B14F-4D97-AF65-F5344CB8AC3E}">
        <p14:creationId xmlns:p14="http://schemas.microsoft.com/office/powerpoint/2010/main" val="388191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12"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250" fill="hold"/>
                                        <p:tgtEl>
                                          <p:spTgt spid="4"/>
                                        </p:tgtEl>
                                        <p:attrNameLst>
                                          <p:attrName>ppt_x</p:attrName>
                                        </p:attrNameLst>
                                      </p:cBhvr>
                                      <p:tavLst>
                                        <p:tav tm="0">
                                          <p:val>
                                            <p:strVal val="0-#ppt_w/2"/>
                                          </p:val>
                                        </p:tav>
                                        <p:tav tm="100000">
                                          <p:val>
                                            <p:strVal val="#ppt_x"/>
                                          </p:val>
                                        </p:tav>
                                      </p:tavLst>
                                    </p:anim>
                                    <p:anim calcmode="lin" valueType="num">
                                      <p:cBhvr additive="base">
                                        <p:cTn id="16" dur="25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12"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250" fill="hold"/>
                                        <p:tgtEl>
                                          <p:spTgt spid="6"/>
                                        </p:tgtEl>
                                        <p:attrNameLst>
                                          <p:attrName>ppt_x</p:attrName>
                                        </p:attrNameLst>
                                      </p:cBhvr>
                                      <p:tavLst>
                                        <p:tav tm="0">
                                          <p:val>
                                            <p:strVal val="0-#ppt_w/2"/>
                                          </p:val>
                                        </p:tav>
                                        <p:tav tm="100000">
                                          <p:val>
                                            <p:strVal val="#ppt_x"/>
                                          </p:val>
                                        </p:tav>
                                      </p:tavLst>
                                    </p:anim>
                                    <p:anim calcmode="lin" valueType="num">
                                      <p:cBhvr additive="base">
                                        <p:cTn id="20" dur="25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4"/>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6"/>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250" fill="hold"/>
                                        <p:tgtEl>
                                          <p:spTgt spid="9"/>
                                        </p:tgtEl>
                                        <p:attrNameLst>
                                          <p:attrName>ppt_x</p:attrName>
                                        </p:attrNameLst>
                                      </p:cBhvr>
                                      <p:tavLst>
                                        <p:tav tm="0">
                                          <p:val>
                                            <p:strVal val="#ppt_x"/>
                                          </p:val>
                                        </p:tav>
                                        <p:tav tm="100000">
                                          <p:val>
                                            <p:strVal val="#ppt_x"/>
                                          </p:val>
                                        </p:tav>
                                      </p:tavLst>
                                    </p:anim>
                                    <p:anim calcmode="lin" valueType="num">
                                      <p:cBhvr additive="base">
                                        <p:cTn id="38" dur="250" fill="hold"/>
                                        <p:tgtEl>
                                          <p:spTgt spid="9"/>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250" fill="hold"/>
                                        <p:tgtEl>
                                          <p:spTgt spid="11"/>
                                        </p:tgtEl>
                                        <p:attrNameLst>
                                          <p:attrName>ppt_x</p:attrName>
                                        </p:attrNameLst>
                                      </p:cBhvr>
                                      <p:tavLst>
                                        <p:tav tm="0">
                                          <p:val>
                                            <p:strVal val="#ppt_x"/>
                                          </p:val>
                                        </p:tav>
                                        <p:tav tm="100000">
                                          <p:val>
                                            <p:strVal val="#ppt_x"/>
                                          </p:val>
                                        </p:tav>
                                      </p:tavLst>
                                    </p:anim>
                                    <p:anim calcmode="lin" valueType="num">
                                      <p:cBhvr additive="base">
                                        <p:cTn id="42" dur="25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childTnLst>
                                    <p:set>
                                      <p:cBhvr>
                                        <p:cTn id="46" dur="1" fill="hold">
                                          <p:stCondLst>
                                            <p:cond delay="0"/>
                                          </p:stCondLst>
                                        </p:cTn>
                                        <p:tgtEl>
                                          <p:spTgt spid="9"/>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11"/>
                                        </p:tgtEl>
                                        <p:attrNameLst>
                                          <p:attrName>style.visibility</p:attrName>
                                        </p:attrNameLst>
                                      </p:cBhvr>
                                      <p:to>
                                        <p:strVal val="hidden"/>
                                      </p:to>
                                    </p:set>
                                  </p:childTnLst>
                                </p:cTn>
                              </p:par>
                              <p:par>
                                <p:cTn id="49" presetID="1" presetClass="entr" presetSubtype="0" fill="hold" grpId="0" nodeType="withEffect">
                                  <p:stCondLst>
                                    <p:cond delay="0"/>
                                  </p:stCondLst>
                                  <p:childTnLst>
                                    <p:set>
                                      <p:cBhvr>
                                        <p:cTn id="5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BC8E0-548A-414F-AAB9-51C713C34F27}"/>
              </a:ext>
            </a:extLst>
          </p:cNvPr>
          <p:cNvSpPr>
            <a:spLocks noGrp="1"/>
          </p:cNvSpPr>
          <p:nvPr>
            <p:ph type="title"/>
          </p:nvPr>
        </p:nvSpPr>
        <p:spPr/>
        <p:txBody>
          <a:bodyPr/>
          <a:lstStyle/>
          <a:p>
            <a:r>
              <a:rPr lang="en-IN" dirty="0"/>
              <a:t>Main Attack Idea</a:t>
            </a:r>
          </a:p>
        </p:txBody>
      </p:sp>
      <p:sp>
        <p:nvSpPr>
          <p:cNvPr id="3" name="Content Placeholder 2">
            <a:extLst>
              <a:ext uri="{FF2B5EF4-FFF2-40B4-BE49-F238E27FC236}">
                <a16:creationId xmlns:a16="http://schemas.microsoft.com/office/drawing/2014/main" id="{BF05E424-3502-419D-A664-F3A24FDB87BC}"/>
              </a:ext>
            </a:extLst>
          </p:cNvPr>
          <p:cNvSpPr>
            <a:spLocks noGrp="1"/>
          </p:cNvSpPr>
          <p:nvPr>
            <p:ph idx="1"/>
          </p:nvPr>
        </p:nvSpPr>
        <p:spPr/>
        <p:txBody>
          <a:bodyPr>
            <a:normAutofit/>
          </a:bodyPr>
          <a:lstStyle/>
          <a:p>
            <a:pPr algn="just"/>
            <a:r>
              <a:rPr lang="en-IN" dirty="0"/>
              <a:t>Challenge</a:t>
            </a:r>
          </a:p>
          <a:p>
            <a:pPr lvl="1" algn="just"/>
            <a:r>
              <a:rPr lang="en-GB" dirty="0"/>
              <a:t>Existing researches on adversarial samples mainly focus on images, which are represented as matrices with fixed dimensions, and the values of the matrices are continuous.</a:t>
            </a:r>
          </a:p>
          <a:p>
            <a:pPr lvl="1" algn="just"/>
            <a:r>
              <a:rPr lang="en-GB" dirty="0"/>
              <a:t>API sequences consist of discrete symbols with variable lengths. Hence, generating adversarial examples for API sequences will become quite different from images.</a:t>
            </a:r>
          </a:p>
          <a:p>
            <a:pPr lvl="1" algn="just"/>
            <a:r>
              <a:rPr lang="en-GB" dirty="0"/>
              <a:t>Adversarial examples are generated from API sequences by inserting some irreverent APIs into the original sequences. Removing an API from the API sequence may make the program unable to work. How to insert irreverent APIs into the sequence is the key to generate adversarial examples.</a:t>
            </a:r>
            <a:endParaRPr lang="en-IN" dirty="0"/>
          </a:p>
        </p:txBody>
      </p:sp>
      <p:pic>
        <p:nvPicPr>
          <p:cNvPr id="1026" name="Picture 2" descr="Image result for image and corresponding matrix">
            <a:extLst>
              <a:ext uri="{FF2B5EF4-FFF2-40B4-BE49-F238E27FC236}">
                <a16:creationId xmlns:a16="http://schemas.microsoft.com/office/drawing/2014/main" id="{0A073AF4-441A-4F2C-9857-CB15D49D87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9848" y="4991100"/>
            <a:ext cx="3949827" cy="162705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6">
            <a:extLst>
              <a:ext uri="{FF2B5EF4-FFF2-40B4-BE49-F238E27FC236}">
                <a16:creationId xmlns:a16="http://schemas.microsoft.com/office/drawing/2014/main" id="{763FB12E-4CFE-476D-BC09-D5ABD594291B}"/>
              </a:ext>
            </a:extLst>
          </p:cNvPr>
          <p:cNvGraphicFramePr>
            <a:graphicFrameLocks noGrp="1"/>
          </p:cNvGraphicFramePr>
          <p:nvPr>
            <p:extLst>
              <p:ext uri="{D42A27DB-BD31-4B8C-83A1-F6EECF244321}">
                <p14:modId xmlns:p14="http://schemas.microsoft.com/office/powerpoint/2010/main" val="3200830709"/>
              </p:ext>
            </p:extLst>
          </p:nvPr>
        </p:nvGraphicFramePr>
        <p:xfrm>
          <a:off x="6584823" y="5248369"/>
          <a:ext cx="3790778" cy="1112520"/>
        </p:xfrm>
        <a:graphic>
          <a:graphicData uri="http://schemas.openxmlformats.org/drawingml/2006/table">
            <a:tbl>
              <a:tblPr firstRow="1" bandRow="1">
                <a:tableStyleId>{5C22544A-7EE6-4342-B048-85BDC9FD1C3A}</a:tableStyleId>
              </a:tblPr>
              <a:tblGrid>
                <a:gridCol w="887730">
                  <a:extLst>
                    <a:ext uri="{9D8B030D-6E8A-4147-A177-3AD203B41FA5}">
                      <a16:colId xmlns:a16="http://schemas.microsoft.com/office/drawing/2014/main" val="4191620136"/>
                    </a:ext>
                  </a:extLst>
                </a:gridCol>
                <a:gridCol w="2903048">
                  <a:extLst>
                    <a:ext uri="{9D8B030D-6E8A-4147-A177-3AD203B41FA5}">
                      <a16:colId xmlns:a16="http://schemas.microsoft.com/office/drawing/2014/main" val="619418440"/>
                    </a:ext>
                  </a:extLst>
                </a:gridCol>
              </a:tblGrid>
              <a:tr h="370840">
                <a:tc>
                  <a:txBody>
                    <a:bodyPr/>
                    <a:lstStyle/>
                    <a:p>
                      <a:pPr algn="ctr"/>
                      <a:endParaRPr lang="en-IN" sz="1100" dirty="0"/>
                    </a:p>
                  </a:txBody>
                  <a:tcPr anchor="ctr"/>
                </a:tc>
                <a:tc>
                  <a:txBody>
                    <a:bodyPr/>
                    <a:lstStyle/>
                    <a:p>
                      <a:pPr algn="ctr"/>
                      <a:r>
                        <a:rPr lang="en-IN" sz="1100" dirty="0"/>
                        <a:t>Sequence of APIs</a:t>
                      </a:r>
                    </a:p>
                  </a:txBody>
                  <a:tcPr anchor="ctr"/>
                </a:tc>
                <a:extLst>
                  <a:ext uri="{0D108BD9-81ED-4DB2-BD59-A6C34878D82A}">
                    <a16:rowId xmlns:a16="http://schemas.microsoft.com/office/drawing/2014/main" val="2958628287"/>
                  </a:ext>
                </a:extLst>
              </a:tr>
              <a:tr h="370840">
                <a:tc>
                  <a:txBody>
                    <a:bodyPr/>
                    <a:lstStyle/>
                    <a:p>
                      <a:pPr algn="ctr"/>
                      <a:r>
                        <a:rPr lang="en-IN" sz="1100" dirty="0"/>
                        <a:t>Program 1</a:t>
                      </a:r>
                    </a:p>
                  </a:txBody>
                  <a:tcPr anchor="ctr"/>
                </a:tc>
                <a:tc>
                  <a:txBody>
                    <a:bodyPr/>
                    <a:lstStyle/>
                    <a:p>
                      <a:pPr algn="ctr"/>
                      <a:r>
                        <a:rPr lang="en-IN" sz="1100" dirty="0"/>
                        <a:t>(API_1, API_3, API_7, API_2)</a:t>
                      </a:r>
                    </a:p>
                  </a:txBody>
                  <a:tcPr anchor="ctr"/>
                </a:tc>
                <a:extLst>
                  <a:ext uri="{0D108BD9-81ED-4DB2-BD59-A6C34878D82A}">
                    <a16:rowId xmlns:a16="http://schemas.microsoft.com/office/drawing/2014/main" val="3925131710"/>
                  </a:ext>
                </a:extLst>
              </a:tr>
              <a:tr h="370840">
                <a:tc>
                  <a:txBody>
                    <a:bodyPr/>
                    <a:lstStyle/>
                    <a:p>
                      <a:pPr algn="ctr"/>
                      <a:r>
                        <a:rPr lang="en-IN" sz="1100" dirty="0"/>
                        <a:t>Program 2</a:t>
                      </a:r>
                    </a:p>
                  </a:txBody>
                  <a:tcPr anchor="ctr"/>
                </a:tc>
                <a:tc>
                  <a:txBody>
                    <a:bodyPr/>
                    <a:lstStyle/>
                    <a:p>
                      <a:pPr algn="ctr"/>
                      <a:r>
                        <a:rPr lang="en-IN" sz="1100" dirty="0"/>
                        <a:t>(API_4, API_1, API_3, API_8, API_1, API_2)</a:t>
                      </a:r>
                    </a:p>
                  </a:txBody>
                  <a:tcPr anchor="ctr"/>
                </a:tc>
                <a:extLst>
                  <a:ext uri="{0D108BD9-81ED-4DB2-BD59-A6C34878D82A}">
                    <a16:rowId xmlns:a16="http://schemas.microsoft.com/office/drawing/2014/main" val="2623468376"/>
                  </a:ext>
                </a:extLst>
              </a:tr>
            </a:tbl>
          </a:graphicData>
        </a:graphic>
      </p:graphicFrame>
      <p:graphicFrame>
        <p:nvGraphicFramePr>
          <p:cNvPr id="9" name="Table 8">
            <a:extLst>
              <a:ext uri="{FF2B5EF4-FFF2-40B4-BE49-F238E27FC236}">
                <a16:creationId xmlns:a16="http://schemas.microsoft.com/office/drawing/2014/main" id="{EEB89FBD-99B6-45CB-831E-790E182AC115}"/>
              </a:ext>
            </a:extLst>
          </p:cNvPr>
          <p:cNvGraphicFramePr>
            <a:graphicFrameLocks noGrp="1"/>
          </p:cNvGraphicFramePr>
          <p:nvPr>
            <p:extLst>
              <p:ext uri="{D42A27DB-BD31-4B8C-83A1-F6EECF244321}">
                <p14:modId xmlns:p14="http://schemas.microsoft.com/office/powerpoint/2010/main" val="3982964840"/>
              </p:ext>
            </p:extLst>
          </p:nvPr>
        </p:nvGraphicFramePr>
        <p:xfrm>
          <a:off x="4334615" y="5062949"/>
          <a:ext cx="4145597" cy="1483360"/>
        </p:xfrm>
        <a:graphic>
          <a:graphicData uri="http://schemas.openxmlformats.org/drawingml/2006/table">
            <a:tbl>
              <a:tblPr firstRow="1" bandRow="1">
                <a:tableStyleId>{5C22544A-7EE6-4342-B048-85BDC9FD1C3A}</a:tableStyleId>
              </a:tblPr>
              <a:tblGrid>
                <a:gridCol w="1679892">
                  <a:extLst>
                    <a:ext uri="{9D8B030D-6E8A-4147-A177-3AD203B41FA5}">
                      <a16:colId xmlns:a16="http://schemas.microsoft.com/office/drawing/2014/main" val="3459903278"/>
                    </a:ext>
                  </a:extLst>
                </a:gridCol>
                <a:gridCol w="2465705">
                  <a:extLst>
                    <a:ext uri="{9D8B030D-6E8A-4147-A177-3AD203B41FA5}">
                      <a16:colId xmlns:a16="http://schemas.microsoft.com/office/drawing/2014/main" val="155859054"/>
                    </a:ext>
                  </a:extLst>
                </a:gridCol>
              </a:tblGrid>
              <a:tr h="370840">
                <a:tc>
                  <a:txBody>
                    <a:bodyPr/>
                    <a:lstStyle/>
                    <a:p>
                      <a:pPr algn="ctr"/>
                      <a:endParaRPr lang="en-IN" sz="1100" dirty="0"/>
                    </a:p>
                  </a:txBody>
                  <a:tcPr anchor="ctr"/>
                </a:tc>
                <a:tc>
                  <a:txBody>
                    <a:bodyPr/>
                    <a:lstStyle/>
                    <a:p>
                      <a:pPr algn="ctr"/>
                      <a:r>
                        <a:rPr lang="en-IN" sz="1100" dirty="0"/>
                        <a:t>API Sequence</a:t>
                      </a:r>
                    </a:p>
                  </a:txBody>
                  <a:tcPr anchor="ctr"/>
                </a:tc>
                <a:extLst>
                  <a:ext uri="{0D108BD9-81ED-4DB2-BD59-A6C34878D82A}">
                    <a16:rowId xmlns:a16="http://schemas.microsoft.com/office/drawing/2014/main" val="757139603"/>
                  </a:ext>
                </a:extLst>
              </a:tr>
              <a:tr h="370840">
                <a:tc>
                  <a:txBody>
                    <a:bodyPr/>
                    <a:lstStyle/>
                    <a:p>
                      <a:pPr algn="ctr"/>
                      <a:r>
                        <a:rPr lang="en-IN" sz="1100" dirty="0"/>
                        <a:t>Original API Sequence</a:t>
                      </a:r>
                    </a:p>
                  </a:txBody>
                  <a:tcPr anchor="ctr"/>
                </a:tc>
                <a:tc>
                  <a:txBody>
                    <a:bodyPr/>
                    <a:lstStyle/>
                    <a:p>
                      <a:pPr algn="ctr"/>
                      <a:r>
                        <a:rPr lang="en-IN" sz="1100" dirty="0"/>
                        <a:t>(API_1, API_3, API_7, API_2)</a:t>
                      </a:r>
                    </a:p>
                  </a:txBody>
                  <a:tcPr anchor="ctr"/>
                </a:tc>
                <a:extLst>
                  <a:ext uri="{0D108BD9-81ED-4DB2-BD59-A6C34878D82A}">
                    <a16:rowId xmlns:a16="http://schemas.microsoft.com/office/drawing/2014/main" val="2279994703"/>
                  </a:ext>
                </a:extLst>
              </a:tr>
              <a:tr h="370840">
                <a:tc>
                  <a:txBody>
                    <a:bodyPr/>
                    <a:lstStyle/>
                    <a:p>
                      <a:pPr algn="ctr"/>
                      <a:r>
                        <a:rPr lang="en-IN" sz="1100" dirty="0"/>
                        <a:t>Correctly Perturbated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100" dirty="0"/>
                        <a:t>(API_1, API_3, API_7, API_2,</a:t>
                      </a:r>
                      <a:r>
                        <a:rPr lang="en-IN" sz="1100" b="1" dirty="0">
                          <a:solidFill>
                            <a:srgbClr val="FF0000"/>
                          </a:solidFill>
                        </a:rPr>
                        <a:t> API_8</a:t>
                      </a:r>
                      <a:r>
                        <a:rPr lang="en-IN" sz="1100" dirty="0"/>
                        <a:t>)</a:t>
                      </a:r>
                    </a:p>
                  </a:txBody>
                  <a:tcPr anchor="ctr"/>
                </a:tc>
                <a:extLst>
                  <a:ext uri="{0D108BD9-81ED-4DB2-BD59-A6C34878D82A}">
                    <a16:rowId xmlns:a16="http://schemas.microsoft.com/office/drawing/2014/main" val="362804822"/>
                  </a:ext>
                </a:extLst>
              </a:tr>
              <a:tr h="370840">
                <a:tc>
                  <a:txBody>
                    <a:bodyPr/>
                    <a:lstStyle/>
                    <a:p>
                      <a:pPr algn="ctr"/>
                      <a:r>
                        <a:rPr lang="en-IN" sz="1100" dirty="0"/>
                        <a:t>Wrongly Perturbated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100" dirty="0"/>
                        <a:t>(API_1, API_3, API_7)</a:t>
                      </a:r>
                    </a:p>
                  </a:txBody>
                  <a:tcPr anchor="ctr"/>
                </a:tc>
                <a:extLst>
                  <a:ext uri="{0D108BD9-81ED-4DB2-BD59-A6C34878D82A}">
                    <a16:rowId xmlns:a16="http://schemas.microsoft.com/office/drawing/2014/main" val="644314247"/>
                  </a:ext>
                </a:extLst>
              </a:tr>
            </a:tbl>
          </a:graphicData>
        </a:graphic>
      </p:graphicFrame>
      <p:sp>
        <p:nvSpPr>
          <p:cNvPr id="10" name="Slide Number Placeholder 9">
            <a:extLst>
              <a:ext uri="{FF2B5EF4-FFF2-40B4-BE49-F238E27FC236}">
                <a16:creationId xmlns:a16="http://schemas.microsoft.com/office/drawing/2014/main" id="{4460E370-4461-4AC4-9F1D-12287D09CFA4}"/>
              </a:ext>
            </a:extLst>
          </p:cNvPr>
          <p:cNvSpPr>
            <a:spLocks noGrp="1"/>
          </p:cNvSpPr>
          <p:nvPr>
            <p:ph type="sldNum" sz="quarter" idx="12"/>
          </p:nvPr>
        </p:nvSpPr>
        <p:spPr/>
        <p:txBody>
          <a:bodyPr/>
          <a:lstStyle/>
          <a:p>
            <a:fld id="{82BC92B1-C9EA-4D86-A246-22CEB90EE2A6}" type="slidenum">
              <a:rPr lang="en-IN" smtClean="0"/>
              <a:t>3</a:t>
            </a:fld>
            <a:endParaRPr lang="en-IN"/>
          </a:p>
        </p:txBody>
      </p:sp>
      <p:sp>
        <p:nvSpPr>
          <p:cNvPr id="11" name="Date Placeholder 10">
            <a:extLst>
              <a:ext uri="{FF2B5EF4-FFF2-40B4-BE49-F238E27FC236}">
                <a16:creationId xmlns:a16="http://schemas.microsoft.com/office/drawing/2014/main" id="{0D281BFE-389E-4C55-8451-A03C315D1217}"/>
              </a:ext>
            </a:extLst>
          </p:cNvPr>
          <p:cNvSpPr>
            <a:spLocks noGrp="1"/>
          </p:cNvSpPr>
          <p:nvPr>
            <p:ph type="dt" sz="half" idx="10"/>
          </p:nvPr>
        </p:nvSpPr>
        <p:spPr/>
        <p:txBody>
          <a:bodyPr/>
          <a:lstStyle/>
          <a:p>
            <a:fld id="{7D04CE3A-7216-43D3-905D-8555A835A83C}" type="datetime1">
              <a:rPr lang="en-IN" smtClean="0"/>
              <a:t>11-10-2017</a:t>
            </a:fld>
            <a:endParaRPr lang="en-IN"/>
          </a:p>
        </p:txBody>
      </p:sp>
    </p:spTree>
    <p:extLst>
      <p:ext uri="{BB962C8B-B14F-4D97-AF65-F5344CB8AC3E}">
        <p14:creationId xmlns:p14="http://schemas.microsoft.com/office/powerpoint/2010/main" val="2394152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26"/>
                                        </p:tgtEl>
                                        <p:attrNameLst>
                                          <p:attrName>style.visibility</p:attrName>
                                        </p:attrNameLst>
                                      </p:cBhvr>
                                      <p:to>
                                        <p:strVal val="visible"/>
                                      </p:to>
                                    </p:set>
                                    <p:anim calcmode="lin" valueType="num">
                                      <p:cBhvr additive="base">
                                        <p:cTn id="13" dur="250" fill="hold"/>
                                        <p:tgtEl>
                                          <p:spTgt spid="1026"/>
                                        </p:tgtEl>
                                        <p:attrNameLst>
                                          <p:attrName>ppt_x</p:attrName>
                                        </p:attrNameLst>
                                      </p:cBhvr>
                                      <p:tavLst>
                                        <p:tav tm="0">
                                          <p:val>
                                            <p:strVal val="#ppt_x"/>
                                          </p:val>
                                        </p:tav>
                                        <p:tav tm="100000">
                                          <p:val>
                                            <p:strVal val="#ppt_x"/>
                                          </p:val>
                                        </p:tav>
                                      </p:tavLst>
                                    </p:anim>
                                    <p:anim calcmode="lin" valueType="num">
                                      <p:cBhvr additive="base">
                                        <p:cTn id="14" dur="250" fill="hold"/>
                                        <p:tgtEl>
                                          <p:spTgt spid="102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250" fill="hold"/>
                                        <p:tgtEl>
                                          <p:spTgt spid="7"/>
                                        </p:tgtEl>
                                        <p:attrNameLst>
                                          <p:attrName>ppt_x</p:attrName>
                                        </p:attrNameLst>
                                      </p:cBhvr>
                                      <p:tavLst>
                                        <p:tav tm="0">
                                          <p:val>
                                            <p:strVal val="#ppt_x"/>
                                          </p:val>
                                        </p:tav>
                                        <p:tav tm="100000">
                                          <p:val>
                                            <p:strVal val="#ppt_x"/>
                                          </p:val>
                                        </p:tav>
                                      </p:tavLst>
                                    </p:anim>
                                    <p:anim calcmode="lin" valueType="num">
                                      <p:cBhvr additive="base">
                                        <p:cTn id="24" dur="25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1026"/>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7"/>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250" fill="hold"/>
                                        <p:tgtEl>
                                          <p:spTgt spid="9"/>
                                        </p:tgtEl>
                                        <p:attrNameLst>
                                          <p:attrName>ppt_x</p:attrName>
                                        </p:attrNameLst>
                                      </p:cBhvr>
                                      <p:tavLst>
                                        <p:tav tm="0">
                                          <p:val>
                                            <p:strVal val="#ppt_x"/>
                                          </p:val>
                                        </p:tav>
                                        <p:tav tm="100000">
                                          <p:val>
                                            <p:strVal val="#ppt_x"/>
                                          </p:val>
                                        </p:tav>
                                      </p:tavLst>
                                    </p:anim>
                                    <p:anim calcmode="lin" valueType="num">
                                      <p:cBhvr additive="base">
                                        <p:cTn id="38" dur="25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BC8E0-548A-414F-AAB9-51C713C34F27}"/>
              </a:ext>
            </a:extLst>
          </p:cNvPr>
          <p:cNvSpPr>
            <a:spLocks noGrp="1"/>
          </p:cNvSpPr>
          <p:nvPr>
            <p:ph type="title"/>
          </p:nvPr>
        </p:nvSpPr>
        <p:spPr/>
        <p:txBody>
          <a:bodyPr/>
          <a:lstStyle/>
          <a:p>
            <a:r>
              <a:rPr lang="en-IN" dirty="0"/>
              <a:t>Main Attack Idea</a:t>
            </a:r>
          </a:p>
        </p:txBody>
      </p:sp>
      <p:sp>
        <p:nvSpPr>
          <p:cNvPr id="3" name="Content Placeholder 2">
            <a:extLst>
              <a:ext uri="{FF2B5EF4-FFF2-40B4-BE49-F238E27FC236}">
                <a16:creationId xmlns:a16="http://schemas.microsoft.com/office/drawing/2014/main" id="{BF05E424-3502-419D-A664-F3A24FDB87BC}"/>
              </a:ext>
            </a:extLst>
          </p:cNvPr>
          <p:cNvSpPr>
            <a:spLocks noGrp="1"/>
          </p:cNvSpPr>
          <p:nvPr>
            <p:ph idx="1"/>
          </p:nvPr>
        </p:nvSpPr>
        <p:spPr/>
        <p:txBody>
          <a:bodyPr>
            <a:normAutofit/>
          </a:bodyPr>
          <a:lstStyle/>
          <a:p>
            <a:pPr algn="just"/>
            <a:r>
              <a:rPr lang="en-IN" dirty="0"/>
              <a:t>Threat Model</a:t>
            </a:r>
            <a:endParaRPr lang="en-GB" dirty="0"/>
          </a:p>
          <a:p>
            <a:pPr lvl="1" algn="just"/>
            <a:r>
              <a:rPr lang="en-GB" dirty="0"/>
              <a:t>Uses a generative RNN based approach to generate irreverent APIs and insert them into the original API sequences.</a:t>
            </a:r>
          </a:p>
          <a:p>
            <a:pPr lvl="1" algn="just"/>
            <a:r>
              <a:rPr lang="en-GB" dirty="0"/>
              <a:t>A substitute RNN is trained to fit the victim RNN.</a:t>
            </a:r>
          </a:p>
          <a:p>
            <a:pPr lvl="1" algn="just"/>
            <a:r>
              <a:rPr lang="en-GB" dirty="0"/>
              <a:t>Gumbel-</a:t>
            </a:r>
            <a:r>
              <a:rPr lang="en-GB" dirty="0" err="1"/>
              <a:t>Softmax</a:t>
            </a:r>
            <a:r>
              <a:rPr lang="en-GB" dirty="0"/>
              <a:t> is used to smooth the API symbols and deliver gradient information between the generative RNN and the substitute RNN.</a:t>
            </a:r>
            <a:endParaRPr lang="en-IN" dirty="0"/>
          </a:p>
        </p:txBody>
      </p:sp>
      <p:sp>
        <p:nvSpPr>
          <p:cNvPr id="4" name="Slide Number Placeholder 3">
            <a:extLst>
              <a:ext uri="{FF2B5EF4-FFF2-40B4-BE49-F238E27FC236}">
                <a16:creationId xmlns:a16="http://schemas.microsoft.com/office/drawing/2014/main" id="{38A7CD3C-BE9C-4CB1-83C7-0A7F6DB18029}"/>
              </a:ext>
            </a:extLst>
          </p:cNvPr>
          <p:cNvSpPr>
            <a:spLocks noGrp="1"/>
          </p:cNvSpPr>
          <p:nvPr>
            <p:ph type="sldNum" sz="quarter" idx="12"/>
          </p:nvPr>
        </p:nvSpPr>
        <p:spPr/>
        <p:txBody>
          <a:bodyPr/>
          <a:lstStyle/>
          <a:p>
            <a:fld id="{82BC92B1-C9EA-4D86-A246-22CEB90EE2A6}" type="slidenum">
              <a:rPr lang="en-IN" smtClean="0"/>
              <a:t>4</a:t>
            </a:fld>
            <a:endParaRPr lang="en-IN"/>
          </a:p>
        </p:txBody>
      </p:sp>
      <p:sp>
        <p:nvSpPr>
          <p:cNvPr id="5" name="Date Placeholder 4">
            <a:extLst>
              <a:ext uri="{FF2B5EF4-FFF2-40B4-BE49-F238E27FC236}">
                <a16:creationId xmlns:a16="http://schemas.microsoft.com/office/drawing/2014/main" id="{0FBDB21C-5A04-4DD3-8B72-73CC37E33CA9}"/>
              </a:ext>
            </a:extLst>
          </p:cNvPr>
          <p:cNvSpPr>
            <a:spLocks noGrp="1"/>
          </p:cNvSpPr>
          <p:nvPr>
            <p:ph type="dt" sz="half" idx="10"/>
          </p:nvPr>
        </p:nvSpPr>
        <p:spPr/>
        <p:txBody>
          <a:bodyPr/>
          <a:lstStyle/>
          <a:p>
            <a:fld id="{E7374EA0-DAF7-4C60-8CEF-4C3B065629DE}" type="datetime1">
              <a:rPr lang="en-IN" smtClean="0"/>
              <a:t>11-10-2017</a:t>
            </a:fld>
            <a:endParaRPr lang="en-IN"/>
          </a:p>
        </p:txBody>
      </p:sp>
    </p:spTree>
    <p:extLst>
      <p:ext uri="{BB962C8B-B14F-4D97-AF65-F5344CB8AC3E}">
        <p14:creationId xmlns:p14="http://schemas.microsoft.com/office/powerpoint/2010/main" val="2439230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B4029-B167-490B-B5FE-118E8567EAE9}"/>
              </a:ext>
            </a:extLst>
          </p:cNvPr>
          <p:cNvSpPr>
            <a:spLocks noGrp="1"/>
          </p:cNvSpPr>
          <p:nvPr>
            <p:ph type="title"/>
          </p:nvPr>
        </p:nvSpPr>
        <p:spPr/>
        <p:txBody>
          <a:bodyPr/>
          <a:lstStyle/>
          <a:p>
            <a:r>
              <a:rPr lang="en-IN" dirty="0"/>
              <a:t>Basic of RNN</a:t>
            </a:r>
          </a:p>
        </p:txBody>
      </p:sp>
      <p:sp>
        <p:nvSpPr>
          <p:cNvPr id="3" name="Content Placeholder 2">
            <a:extLst>
              <a:ext uri="{FF2B5EF4-FFF2-40B4-BE49-F238E27FC236}">
                <a16:creationId xmlns:a16="http://schemas.microsoft.com/office/drawing/2014/main" id="{BE2C7D61-D3DF-42A0-9C30-E6B5A72AE6D6}"/>
              </a:ext>
            </a:extLst>
          </p:cNvPr>
          <p:cNvSpPr>
            <a:spLocks noGrp="1"/>
          </p:cNvSpPr>
          <p:nvPr>
            <p:ph idx="1"/>
          </p:nvPr>
        </p:nvSpPr>
        <p:spPr/>
        <p:txBody>
          <a:bodyPr/>
          <a:lstStyle/>
          <a:p>
            <a:pPr algn="just"/>
            <a:r>
              <a:rPr lang="en-GB" dirty="0"/>
              <a:t>The idea behind RNNs is to make use of sequential information.</a:t>
            </a:r>
          </a:p>
          <a:p>
            <a:pPr algn="just"/>
            <a:r>
              <a:rPr lang="en-GB" dirty="0"/>
              <a:t>In a traditional neural network we assume that all inputs (and outputs) are independent of each other. But for many tasks that’s a very bad idea. If we want to predict the next word in a sentence you better know which words came before it. </a:t>
            </a:r>
          </a:p>
          <a:p>
            <a:pPr algn="just"/>
            <a:r>
              <a:rPr lang="en-GB" dirty="0"/>
              <a:t>RNNs are called recurrent because they perform the same task for every element of a sequence, with the output being depended on the previous computations. </a:t>
            </a:r>
          </a:p>
          <a:p>
            <a:pPr algn="just"/>
            <a:r>
              <a:rPr lang="en-GB" dirty="0"/>
              <a:t>The above diagram shows a RNN being unrolled (or unfolded) into a full network. By unrolling we simply mean that we write out the network for the complete sequence. For example, if the sequence we care about a sequence having 5 APIs, the network would be unrolled into a 5-layer neural network, one layer for each APIs.</a:t>
            </a:r>
            <a:endParaRPr lang="en-IN" dirty="0"/>
          </a:p>
        </p:txBody>
      </p:sp>
      <p:sp>
        <p:nvSpPr>
          <p:cNvPr id="4" name="Slide Number Placeholder 3">
            <a:extLst>
              <a:ext uri="{FF2B5EF4-FFF2-40B4-BE49-F238E27FC236}">
                <a16:creationId xmlns:a16="http://schemas.microsoft.com/office/drawing/2014/main" id="{5C75D428-AE40-470C-A6A0-15987845C1B2}"/>
              </a:ext>
            </a:extLst>
          </p:cNvPr>
          <p:cNvSpPr>
            <a:spLocks noGrp="1"/>
          </p:cNvSpPr>
          <p:nvPr>
            <p:ph type="sldNum" sz="quarter" idx="12"/>
          </p:nvPr>
        </p:nvSpPr>
        <p:spPr/>
        <p:txBody>
          <a:bodyPr/>
          <a:lstStyle/>
          <a:p>
            <a:fld id="{82BC92B1-C9EA-4D86-A246-22CEB90EE2A6}" type="slidenum">
              <a:rPr lang="en-IN" smtClean="0"/>
              <a:t>5</a:t>
            </a:fld>
            <a:endParaRPr lang="en-IN"/>
          </a:p>
        </p:txBody>
      </p:sp>
      <p:pic>
        <p:nvPicPr>
          <p:cNvPr id="2050" name="Picture 2" descr="http://d3kbpzbmcynnmx.cloudfront.net/wp-content/uploads/2015/09/rnn.jpg">
            <a:extLst>
              <a:ext uri="{FF2B5EF4-FFF2-40B4-BE49-F238E27FC236}">
                <a16:creationId xmlns:a16="http://schemas.microsoft.com/office/drawing/2014/main" id="{9BC21884-8C2C-4104-8382-82B105F39D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0692" y="0"/>
            <a:ext cx="4771308" cy="1914525"/>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1C3F9022-A258-49EF-829F-9D6C3F206194}"/>
              </a:ext>
            </a:extLst>
          </p:cNvPr>
          <p:cNvSpPr>
            <a:spLocks noGrp="1"/>
          </p:cNvSpPr>
          <p:nvPr>
            <p:ph type="dt" sz="half" idx="10"/>
          </p:nvPr>
        </p:nvSpPr>
        <p:spPr/>
        <p:txBody>
          <a:bodyPr/>
          <a:lstStyle/>
          <a:p>
            <a:fld id="{8F7CB490-A63C-4752-83A8-715E1342D454}" type="datetime1">
              <a:rPr lang="en-IN" smtClean="0"/>
              <a:t>11-10-2017</a:t>
            </a:fld>
            <a:endParaRPr lang="en-IN"/>
          </a:p>
        </p:txBody>
      </p:sp>
    </p:spTree>
    <p:extLst>
      <p:ext uri="{BB962C8B-B14F-4D97-AF65-F5344CB8AC3E}">
        <p14:creationId xmlns:p14="http://schemas.microsoft.com/office/powerpoint/2010/main" val="1061915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B4029-B167-490B-B5FE-118E8567EAE9}"/>
              </a:ext>
            </a:extLst>
          </p:cNvPr>
          <p:cNvSpPr>
            <a:spLocks noGrp="1"/>
          </p:cNvSpPr>
          <p:nvPr>
            <p:ph type="title"/>
          </p:nvPr>
        </p:nvSpPr>
        <p:spPr/>
        <p:txBody>
          <a:bodyPr/>
          <a:lstStyle/>
          <a:p>
            <a:r>
              <a:rPr lang="en-IN" dirty="0"/>
              <a:t>Basic of RNN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E2C7D61-D3DF-42A0-9C30-E6B5A72AE6D6}"/>
                  </a:ext>
                </a:extLst>
              </p:cNvPr>
              <p:cNvSpPr>
                <a:spLocks noGrp="1"/>
              </p:cNvSpPr>
              <p:nvPr>
                <p:ph idx="1"/>
              </p:nvPr>
            </p:nvSpPr>
            <p:spPr/>
            <p:txBody>
              <a:bodyPr/>
              <a:lstStyle/>
              <a:p>
                <a:pPr algn="just"/>
                <a14:m>
                  <m:oMath xmlns:m="http://schemas.openxmlformats.org/officeDocument/2006/math">
                    <m:sSub>
                      <m:sSubPr>
                        <m:ctrlPr>
                          <a:rPr lang="en-GB"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𝑡</m:t>
                        </m:r>
                      </m:sub>
                    </m:sSub>
                  </m:oMath>
                </a14:m>
                <a:r>
                  <a:rPr lang="en-GB" dirty="0"/>
                  <a:t>: input at time step </a:t>
                </a:r>
                <a14:m>
                  <m:oMath xmlns:m="http://schemas.openxmlformats.org/officeDocument/2006/math">
                    <m:r>
                      <a:rPr lang="en-GB" i="1" dirty="0" smtClean="0">
                        <a:latin typeface="Cambria Math" panose="02040503050406030204" pitchFamily="18" charset="0"/>
                      </a:rPr>
                      <m:t>𝑡</m:t>
                    </m:r>
                  </m:oMath>
                </a14:m>
                <a:r>
                  <a:rPr lang="en-GB" dirty="0"/>
                  <a:t>. </a:t>
                </a:r>
              </a:p>
              <a:p>
                <a:pPr algn="just"/>
                <a14:m>
                  <m:oMath xmlns:m="http://schemas.openxmlformats.org/officeDocument/2006/math">
                    <m:sSub>
                      <m:sSubPr>
                        <m:ctrlPr>
                          <a:rPr lang="en-GB" i="1" smtClean="0">
                            <a:latin typeface="Cambria Math" panose="02040503050406030204" pitchFamily="18" charset="0"/>
                          </a:rPr>
                        </m:ctrlPr>
                      </m:sSubPr>
                      <m:e>
                        <m:r>
                          <a:rPr lang="en-IN" b="0" i="1" smtClean="0">
                            <a:latin typeface="Cambria Math" panose="02040503050406030204" pitchFamily="18" charset="0"/>
                          </a:rPr>
                          <m:t>𝑠</m:t>
                        </m:r>
                      </m:e>
                      <m:sub>
                        <m:r>
                          <a:rPr lang="en-IN" b="0" i="1" smtClean="0">
                            <a:latin typeface="Cambria Math" panose="02040503050406030204" pitchFamily="18" charset="0"/>
                          </a:rPr>
                          <m:t>𝑡</m:t>
                        </m:r>
                      </m:sub>
                    </m:sSub>
                  </m:oMath>
                </a14:m>
                <a:r>
                  <a:rPr lang="en-GB" dirty="0"/>
                  <a:t>: hidden state at time step </a:t>
                </a:r>
                <a14:m>
                  <m:oMath xmlns:m="http://schemas.openxmlformats.org/officeDocument/2006/math">
                    <m:r>
                      <a:rPr lang="en-GB" i="1" dirty="0" smtClean="0">
                        <a:latin typeface="Cambria Math" panose="02040503050406030204" pitchFamily="18" charset="0"/>
                      </a:rPr>
                      <m:t>𝑡</m:t>
                    </m:r>
                  </m:oMath>
                </a14:m>
                <a:r>
                  <a:rPr lang="en-GB" dirty="0"/>
                  <a:t>. </a:t>
                </a:r>
                <a14:m>
                  <m:oMath xmlns:m="http://schemas.openxmlformats.org/officeDocument/2006/math">
                    <m:sSub>
                      <m:sSubPr>
                        <m:ctrlPr>
                          <a:rPr lang="en-GB" i="1">
                            <a:latin typeface="Cambria Math" panose="02040503050406030204" pitchFamily="18" charset="0"/>
                          </a:rPr>
                        </m:ctrlPr>
                      </m:sSubPr>
                      <m:e>
                        <m:r>
                          <a:rPr lang="en-IN" i="1">
                            <a:latin typeface="Cambria Math" panose="02040503050406030204" pitchFamily="18" charset="0"/>
                          </a:rPr>
                          <m:t>𝑠</m:t>
                        </m:r>
                      </m:e>
                      <m:sub>
                        <m:r>
                          <a:rPr lang="en-IN" i="1">
                            <a:latin typeface="Cambria Math" panose="02040503050406030204" pitchFamily="18" charset="0"/>
                          </a:rPr>
                          <m:t>𝑡</m:t>
                        </m:r>
                      </m:sub>
                    </m:sSub>
                  </m:oMath>
                </a14:m>
                <a:r>
                  <a:rPr lang="en-GB" dirty="0"/>
                  <a:t> is calculated based on the previous hidden state and the input at the current step.</a:t>
                </a:r>
              </a:p>
              <a:p>
                <a:pPr algn="just"/>
                <a:endParaRPr lang="en-GB" sz="500" dirty="0"/>
              </a:p>
              <a:p>
                <a:pPr marL="0" indent="0" algn="just">
                  <a:buNone/>
                </a:pPr>
                <a14:m>
                  <m:oMathPara xmlns:m="http://schemas.openxmlformats.org/officeDocument/2006/math">
                    <m:oMathParaPr>
                      <m:jc m:val="center"/>
                    </m:oMathParaPr>
                    <m:oMath xmlns:m="http://schemas.openxmlformats.org/officeDocument/2006/math">
                      <m:sSub>
                        <m:sSubPr>
                          <m:ctrlPr>
                            <a:rPr lang="en-GB" i="1" smtClean="0">
                              <a:latin typeface="Cambria Math" panose="02040503050406030204" pitchFamily="18" charset="0"/>
                            </a:rPr>
                          </m:ctrlPr>
                        </m:sSubPr>
                        <m:e>
                          <m:r>
                            <a:rPr lang="en-IN" b="0" i="1" smtClean="0">
                              <a:latin typeface="Cambria Math" panose="02040503050406030204" pitchFamily="18" charset="0"/>
                            </a:rPr>
                            <m:t>𝑠</m:t>
                          </m:r>
                        </m:e>
                        <m:sub>
                          <m:r>
                            <a:rPr lang="en-IN" b="0" i="1" smtClean="0">
                              <a:latin typeface="Cambria Math" panose="02040503050406030204" pitchFamily="18" charset="0"/>
                            </a:rPr>
                            <m:t>𝑡</m:t>
                          </m:r>
                        </m:sub>
                      </m:sSub>
                      <m:r>
                        <a:rPr lang="en-IN" b="0" i="1" smtClean="0">
                          <a:latin typeface="Cambria Math" panose="02040503050406030204" pitchFamily="18" charset="0"/>
                        </a:rPr>
                        <m:t>=</m:t>
                      </m:r>
                      <m:r>
                        <a:rPr lang="en-IN" b="0" i="1" smtClean="0">
                          <a:latin typeface="Cambria Math" panose="02040503050406030204" pitchFamily="18" charset="0"/>
                        </a:rPr>
                        <m:t>𝑓</m:t>
                      </m:r>
                      <m:r>
                        <a:rPr lang="en-IN" b="0" i="1" smtClean="0">
                          <a:latin typeface="Cambria Math" panose="02040503050406030204" pitchFamily="18" charset="0"/>
                        </a:rPr>
                        <m:t>(</m:t>
                      </m:r>
                      <m:r>
                        <a:rPr lang="en-IN" b="0" i="1" smtClean="0">
                          <a:latin typeface="Cambria Math" panose="02040503050406030204" pitchFamily="18" charset="0"/>
                        </a:rPr>
                        <m:t>𝑈</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𝑡</m:t>
                          </m:r>
                        </m:sub>
                      </m:sSub>
                      <m:r>
                        <a:rPr lang="en-IN" b="0" i="1" smtClean="0">
                          <a:latin typeface="Cambria Math" panose="02040503050406030204" pitchFamily="18" charset="0"/>
                        </a:rPr>
                        <m:t>+</m:t>
                      </m:r>
                      <m:r>
                        <a:rPr lang="en-IN" b="0" i="1" smtClean="0">
                          <a:latin typeface="Cambria Math" panose="02040503050406030204" pitchFamily="18" charset="0"/>
                        </a:rPr>
                        <m:t>𝑊</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𝑠</m:t>
                          </m:r>
                        </m:e>
                        <m:sub>
                          <m:r>
                            <a:rPr lang="en-IN" b="0" i="1" smtClean="0">
                              <a:latin typeface="Cambria Math" panose="02040503050406030204" pitchFamily="18" charset="0"/>
                            </a:rPr>
                            <m:t>𝑡</m:t>
                          </m:r>
                          <m:r>
                            <a:rPr lang="en-IN" b="0" i="1" smtClean="0">
                              <a:latin typeface="Cambria Math" panose="02040503050406030204" pitchFamily="18" charset="0"/>
                            </a:rPr>
                            <m:t>−1</m:t>
                          </m:r>
                        </m:sub>
                      </m:sSub>
                      <m:r>
                        <a:rPr lang="en-IN" b="0" i="1" smtClean="0">
                          <a:latin typeface="Cambria Math" panose="02040503050406030204" pitchFamily="18" charset="0"/>
                        </a:rPr>
                        <m:t>)</m:t>
                      </m:r>
                    </m:oMath>
                  </m:oMathPara>
                </a14:m>
                <a:endParaRPr lang="en-GB" dirty="0"/>
              </a:p>
              <a:p>
                <a:pPr marL="0" indent="0" algn="just">
                  <a:buNone/>
                </a:pPr>
                <a:endParaRPr lang="en-GB" sz="500" dirty="0"/>
              </a:p>
              <a:p>
                <a:pPr marL="274320" lvl="1" indent="0" algn="just">
                  <a:buNone/>
                </a:pPr>
                <a:r>
                  <a:rPr lang="en-GB" dirty="0"/>
                  <a:t>The function </a:t>
                </a:r>
                <a14:m>
                  <m:oMath xmlns:m="http://schemas.openxmlformats.org/officeDocument/2006/math">
                    <m:r>
                      <a:rPr lang="en-GB" i="1" dirty="0" smtClean="0">
                        <a:latin typeface="Cambria Math" panose="02040503050406030204" pitchFamily="18" charset="0"/>
                      </a:rPr>
                      <m:t>𝑓</m:t>
                    </m:r>
                  </m:oMath>
                </a14:m>
                <a:r>
                  <a:rPr lang="en-GB" dirty="0"/>
                  <a:t> usually is a nonlinearity such as </a:t>
                </a:r>
                <a14:m>
                  <m:oMath xmlns:m="http://schemas.openxmlformats.org/officeDocument/2006/math">
                    <m:r>
                      <m:rPr>
                        <m:sty m:val="p"/>
                      </m:rPr>
                      <a:rPr lang="en-GB" i="1" dirty="0" smtClean="0">
                        <a:latin typeface="Cambria Math" panose="02040503050406030204" pitchFamily="18" charset="0"/>
                      </a:rPr>
                      <m:t>tanh</m:t>
                    </m:r>
                    <m:r>
                      <a:rPr lang="en-IN" i="1" dirty="0">
                        <a:latin typeface="Cambria Math" panose="02040503050406030204" pitchFamily="18" charset="0"/>
                      </a:rPr>
                      <m:t>⁡</m:t>
                    </m:r>
                  </m:oMath>
                </a14:m>
                <a:r>
                  <a:rPr lang="en-GB" dirty="0"/>
                  <a:t> or </a:t>
                </a:r>
                <a14:m>
                  <m:oMath xmlns:m="http://schemas.openxmlformats.org/officeDocument/2006/math">
                    <m:r>
                      <a:rPr lang="en-GB" i="1" dirty="0" smtClean="0">
                        <a:latin typeface="Cambria Math" panose="02040503050406030204" pitchFamily="18" charset="0"/>
                      </a:rPr>
                      <m:t>𝑅𝑒𝐿𝑈</m:t>
                    </m:r>
                  </m:oMath>
                </a14:m>
                <a:r>
                  <a:rPr lang="en-GB" dirty="0"/>
                  <a:t>.</a:t>
                </a:r>
              </a:p>
              <a:p>
                <a:pPr algn="just"/>
                <a14:m>
                  <m:oMath xmlns:m="http://schemas.openxmlformats.org/officeDocument/2006/math">
                    <m:sSub>
                      <m:sSubPr>
                        <m:ctrlPr>
                          <a:rPr lang="en-GB" i="1" smtClean="0">
                            <a:latin typeface="Cambria Math" panose="02040503050406030204" pitchFamily="18" charset="0"/>
                          </a:rPr>
                        </m:ctrlPr>
                      </m:sSubPr>
                      <m:e>
                        <m:r>
                          <a:rPr lang="en-IN" b="0" i="1" smtClean="0">
                            <a:latin typeface="Cambria Math" panose="02040503050406030204" pitchFamily="18" charset="0"/>
                          </a:rPr>
                          <m:t>𝑜</m:t>
                        </m:r>
                      </m:e>
                      <m:sub>
                        <m:r>
                          <a:rPr lang="en-IN" b="0" i="1" smtClean="0">
                            <a:latin typeface="Cambria Math" panose="02040503050406030204" pitchFamily="18" charset="0"/>
                          </a:rPr>
                          <m:t>𝑡</m:t>
                        </m:r>
                      </m:sub>
                    </m:sSub>
                  </m:oMath>
                </a14:m>
                <a:r>
                  <a:rPr lang="en-GB" dirty="0"/>
                  <a:t>: output at step </a:t>
                </a:r>
                <a14:m>
                  <m:oMath xmlns:m="http://schemas.openxmlformats.org/officeDocument/2006/math">
                    <m:r>
                      <a:rPr lang="en-GB" i="1" dirty="0" smtClean="0">
                        <a:latin typeface="Cambria Math" panose="02040503050406030204" pitchFamily="18" charset="0"/>
                      </a:rPr>
                      <m:t>𝑡</m:t>
                    </m:r>
                  </m:oMath>
                </a14:m>
                <a:r>
                  <a:rPr lang="en-GB" dirty="0"/>
                  <a:t>. Gives the probability of belonging to a particular class.</a:t>
                </a:r>
              </a:p>
              <a:p>
                <a:pPr algn="just"/>
                <a:endParaRPr lang="en-GB" sz="500" dirty="0"/>
              </a:p>
              <a:p>
                <a:pPr marL="0" indent="0" algn="just">
                  <a:buNone/>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IN" b="0" i="1" smtClean="0">
                              <a:latin typeface="Cambria Math" panose="02040503050406030204" pitchFamily="18" charset="0"/>
                            </a:rPr>
                            <m:t>𝑜</m:t>
                          </m:r>
                        </m:e>
                        <m:sub>
                          <m:r>
                            <a:rPr lang="en-IN" b="0" i="1" smtClean="0">
                              <a:latin typeface="Cambria Math" panose="02040503050406030204" pitchFamily="18" charset="0"/>
                            </a:rPr>
                            <m:t>𝑡</m:t>
                          </m:r>
                        </m:sub>
                      </m:sSub>
                      <m:r>
                        <a:rPr lang="en-IN" b="0" i="1" smtClean="0">
                          <a:latin typeface="Cambria Math" panose="02040503050406030204" pitchFamily="18" charset="0"/>
                        </a:rPr>
                        <m:t>=</m:t>
                      </m:r>
                      <m:r>
                        <a:rPr lang="en-IN" b="0" i="1" smtClean="0">
                          <a:latin typeface="Cambria Math" panose="02040503050406030204" pitchFamily="18" charset="0"/>
                        </a:rPr>
                        <m:t>𝑠𝑜𝑓𝑡𝑚𝑎𝑥</m:t>
                      </m:r>
                      <m:r>
                        <a:rPr lang="en-IN" b="0" i="1" smtClean="0">
                          <a:latin typeface="Cambria Math" panose="02040503050406030204" pitchFamily="18" charset="0"/>
                        </a:rPr>
                        <m:t>(</m:t>
                      </m:r>
                      <m:r>
                        <a:rPr lang="en-IN" b="0" i="1" smtClean="0">
                          <a:latin typeface="Cambria Math" panose="02040503050406030204" pitchFamily="18" charset="0"/>
                        </a:rPr>
                        <m:t>𝑉</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𝑠</m:t>
                          </m:r>
                        </m:e>
                        <m:sub>
                          <m:r>
                            <a:rPr lang="en-IN" b="0" i="1" smtClean="0">
                              <a:latin typeface="Cambria Math" panose="02040503050406030204" pitchFamily="18" charset="0"/>
                            </a:rPr>
                            <m:t>𝑡</m:t>
                          </m:r>
                        </m:sub>
                      </m:sSub>
                      <m:r>
                        <a:rPr lang="en-IN" b="0" i="1" smtClean="0">
                          <a:latin typeface="Cambria Math" panose="02040503050406030204" pitchFamily="18" charset="0"/>
                        </a:rPr>
                        <m:t>)</m:t>
                      </m:r>
                    </m:oMath>
                  </m:oMathPara>
                </a14:m>
                <a:endParaRPr lang="en-IN" dirty="0"/>
              </a:p>
            </p:txBody>
          </p:sp>
        </mc:Choice>
        <mc:Fallback>
          <p:sp>
            <p:nvSpPr>
              <p:cNvPr id="3" name="Content Placeholder 2">
                <a:extLst>
                  <a:ext uri="{FF2B5EF4-FFF2-40B4-BE49-F238E27FC236}">
                    <a16:creationId xmlns:a16="http://schemas.microsoft.com/office/drawing/2014/main" id="{BE2C7D61-D3DF-42A0-9C30-E6B5A72AE6D6}"/>
                  </a:ext>
                </a:extLst>
              </p:cNvPr>
              <p:cNvSpPr>
                <a:spLocks noGrp="1" noRot="1" noChangeAspect="1" noMove="1" noResize="1" noEditPoints="1" noAdjustHandles="1" noChangeArrowheads="1" noChangeShapeType="1" noTextEdit="1"/>
              </p:cNvSpPr>
              <p:nvPr>
                <p:ph idx="1"/>
              </p:nvPr>
            </p:nvSpPr>
            <p:spPr>
              <a:blipFill>
                <a:blip r:embed="rId2"/>
                <a:stretch>
                  <a:fillRect l="-303" t="-1504" r="-606"/>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5C75D428-AE40-470C-A6A0-15987845C1B2}"/>
              </a:ext>
            </a:extLst>
          </p:cNvPr>
          <p:cNvSpPr>
            <a:spLocks noGrp="1"/>
          </p:cNvSpPr>
          <p:nvPr>
            <p:ph type="sldNum" sz="quarter" idx="12"/>
          </p:nvPr>
        </p:nvSpPr>
        <p:spPr/>
        <p:txBody>
          <a:bodyPr/>
          <a:lstStyle/>
          <a:p>
            <a:fld id="{82BC92B1-C9EA-4D86-A246-22CEB90EE2A6}" type="slidenum">
              <a:rPr lang="en-IN" smtClean="0"/>
              <a:t>6</a:t>
            </a:fld>
            <a:endParaRPr lang="en-IN"/>
          </a:p>
        </p:txBody>
      </p:sp>
      <p:pic>
        <p:nvPicPr>
          <p:cNvPr id="2050" name="Picture 2" descr="http://d3kbpzbmcynnmx.cloudfront.net/wp-content/uploads/2015/09/rnn.jpg">
            <a:extLst>
              <a:ext uri="{FF2B5EF4-FFF2-40B4-BE49-F238E27FC236}">
                <a16:creationId xmlns:a16="http://schemas.microsoft.com/office/drawing/2014/main" id="{9BC21884-8C2C-4104-8382-82B105F39D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20692" y="0"/>
            <a:ext cx="4771308" cy="1914525"/>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99CD43E6-DA2D-4909-9E21-E8A09E8A367C}"/>
              </a:ext>
            </a:extLst>
          </p:cNvPr>
          <p:cNvSpPr>
            <a:spLocks noGrp="1"/>
          </p:cNvSpPr>
          <p:nvPr>
            <p:ph type="dt" sz="half" idx="10"/>
          </p:nvPr>
        </p:nvSpPr>
        <p:spPr/>
        <p:txBody>
          <a:bodyPr/>
          <a:lstStyle/>
          <a:p>
            <a:fld id="{ACB5E779-471F-4318-A689-0854F8324696}" type="datetime1">
              <a:rPr lang="en-IN" smtClean="0"/>
              <a:t>11-10-2017</a:t>
            </a:fld>
            <a:endParaRPr lang="en-IN"/>
          </a:p>
        </p:txBody>
      </p:sp>
    </p:spTree>
    <p:extLst>
      <p:ext uri="{BB962C8B-B14F-4D97-AF65-F5344CB8AC3E}">
        <p14:creationId xmlns:p14="http://schemas.microsoft.com/office/powerpoint/2010/main" val="2204226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19CA4-3805-4D85-990C-8F23CFAA6DE5}"/>
              </a:ext>
            </a:extLst>
          </p:cNvPr>
          <p:cNvSpPr>
            <a:spLocks noGrp="1"/>
          </p:cNvSpPr>
          <p:nvPr>
            <p:ph type="title"/>
          </p:nvPr>
        </p:nvSpPr>
        <p:spPr/>
        <p:txBody>
          <a:bodyPr/>
          <a:lstStyle/>
          <a:p>
            <a:r>
              <a:rPr lang="en-IN" dirty="0" err="1"/>
              <a:t>Rnn</a:t>
            </a:r>
            <a:r>
              <a:rPr lang="en-IN" dirty="0"/>
              <a:t> for malware detection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8451B63-A300-4C00-833F-A737065CE951}"/>
                  </a:ext>
                </a:extLst>
              </p:cNvPr>
              <p:cNvSpPr>
                <a:spLocks noGrp="1"/>
              </p:cNvSpPr>
              <p:nvPr>
                <p:ph idx="1"/>
              </p:nvPr>
            </p:nvSpPr>
            <p:spPr/>
            <p:txBody>
              <a:bodyPr/>
              <a:lstStyle/>
              <a:p>
                <a:pPr algn="just"/>
                <a:r>
                  <a:rPr lang="en-GB" dirty="0"/>
                  <a:t>Malware detection is regarded as a sequential classification problem [5, 6, 7]. RNN is used to classify whether an API sequence comes from a benign program or malware.</a:t>
                </a:r>
              </a:p>
              <a:p>
                <a:pPr algn="just"/>
                <a:r>
                  <a:rPr lang="en-GB" dirty="0"/>
                  <a:t>Each API is represented as a one-hot vector.</a:t>
                </a:r>
              </a:p>
              <a:p>
                <a:pPr algn="just"/>
                <a:r>
                  <a:rPr lang="en-GB" dirty="0"/>
                  <a:t>An API sequence is represented as </a:t>
                </a:r>
                <a14:m>
                  <m:oMath xmlns:m="http://schemas.openxmlformats.org/officeDocument/2006/math">
                    <m:sSub>
                      <m:sSubPr>
                        <m:ctrlPr>
                          <a:rPr lang="en-GB"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𝑇</m:t>
                        </m:r>
                      </m:sub>
                    </m:sSub>
                  </m:oMath>
                </a14:m>
                <a:r>
                  <a:rPr lang="en-GB" dirty="0"/>
                  <a:t>, where </a:t>
                </a:r>
                <a14:m>
                  <m:oMath xmlns:m="http://schemas.openxmlformats.org/officeDocument/2006/math">
                    <m:r>
                      <a:rPr lang="en-GB" i="1" dirty="0" smtClean="0">
                        <a:latin typeface="Cambria Math" panose="02040503050406030204" pitchFamily="18" charset="0"/>
                      </a:rPr>
                      <m:t>𝑇</m:t>
                    </m:r>
                  </m:oMath>
                </a14:m>
                <a:r>
                  <a:rPr lang="en-GB" dirty="0"/>
                  <a:t> is the length of the sequence. Each </a:t>
                </a:r>
                <a14:m>
                  <m:oMath xmlns:m="http://schemas.openxmlformats.org/officeDocument/2006/math">
                    <m:sSub>
                      <m:sSubPr>
                        <m:ctrlPr>
                          <a:rPr lang="en-GB"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𝑖</m:t>
                        </m:r>
                      </m:sub>
                    </m:sSub>
                  </m:oMath>
                </a14:m>
                <a:r>
                  <a:rPr lang="en-GB" dirty="0"/>
                  <a:t> is an </a:t>
                </a:r>
                <a14:m>
                  <m:oMath xmlns:m="http://schemas.openxmlformats.org/officeDocument/2006/math">
                    <m:r>
                      <a:rPr lang="en-IN" b="0" i="1" smtClean="0">
                        <a:latin typeface="Cambria Math" panose="02040503050406030204" pitchFamily="18" charset="0"/>
                      </a:rPr>
                      <m:t>𝑀</m:t>
                    </m:r>
                  </m:oMath>
                </a14:m>
                <a:r>
                  <a:rPr lang="en-GB" dirty="0"/>
                  <a:t> dimensional vector, where </a:t>
                </a:r>
                <a14:m>
                  <m:oMath xmlns:m="http://schemas.openxmlformats.org/officeDocument/2006/math">
                    <m:r>
                      <a:rPr lang="en-IN" b="0" i="1" smtClean="0">
                        <a:latin typeface="Cambria Math" panose="02040503050406030204" pitchFamily="18" charset="0"/>
                      </a:rPr>
                      <m:t>𝑀</m:t>
                    </m:r>
                  </m:oMath>
                </a14:m>
                <a:r>
                  <a:rPr lang="en-GB" dirty="0"/>
                  <a:t> is the total number of available APIs.</a:t>
                </a:r>
              </a:p>
              <a:p>
                <a:pPr algn="just"/>
                <a:r>
                  <a:rPr lang="en-GB" dirty="0"/>
                  <a:t>After feeding the input to RNN, the hidden states of RNN can be represented as </a:t>
                </a:r>
                <a14:m>
                  <m:oMath xmlns:m="http://schemas.openxmlformats.org/officeDocument/2006/math">
                    <m:sSub>
                      <m:sSubPr>
                        <m:ctrlPr>
                          <a:rPr lang="en-GB" i="1">
                            <a:latin typeface="Cambria Math" panose="02040503050406030204" pitchFamily="18" charset="0"/>
                          </a:rPr>
                        </m:ctrlPr>
                      </m:sSubPr>
                      <m:e>
                        <m:r>
                          <a:rPr lang="en-IN" b="0" i="1" smtClean="0">
                            <a:latin typeface="Cambria Math" panose="02040503050406030204" pitchFamily="18" charset="0"/>
                          </a:rPr>
                          <m:t>h</m:t>
                        </m:r>
                      </m:e>
                      <m:sub>
                        <m:r>
                          <a:rPr lang="en-IN" i="1">
                            <a:latin typeface="Cambria Math" panose="02040503050406030204" pitchFamily="18" charset="0"/>
                          </a:rPr>
                          <m:t>1</m:t>
                        </m:r>
                      </m:sub>
                    </m:sSub>
                    <m:r>
                      <a:rPr lang="en-IN" i="1">
                        <a:latin typeface="Cambria Math" panose="02040503050406030204" pitchFamily="18" charset="0"/>
                      </a:rPr>
                      <m:t>, </m:t>
                    </m:r>
                    <m:sSub>
                      <m:sSubPr>
                        <m:ctrlPr>
                          <a:rPr lang="en-IN" i="1">
                            <a:latin typeface="Cambria Math" panose="02040503050406030204" pitchFamily="18" charset="0"/>
                          </a:rPr>
                        </m:ctrlPr>
                      </m:sSubPr>
                      <m:e>
                        <m:r>
                          <a:rPr lang="en-IN" b="0" i="1" smtClean="0">
                            <a:latin typeface="Cambria Math" panose="02040503050406030204" pitchFamily="18" charset="0"/>
                          </a:rPr>
                          <m:t>h</m:t>
                        </m:r>
                      </m:e>
                      <m:sub>
                        <m:r>
                          <a:rPr lang="en-IN" i="1">
                            <a:latin typeface="Cambria Math" panose="02040503050406030204" pitchFamily="18" charset="0"/>
                          </a:rPr>
                          <m:t>2</m:t>
                        </m:r>
                      </m:sub>
                    </m:sSub>
                    <m:r>
                      <a:rPr lang="en-IN" i="1">
                        <a:latin typeface="Cambria Math" panose="02040503050406030204" pitchFamily="18" charset="0"/>
                      </a:rPr>
                      <m:t>,…, </m:t>
                    </m:r>
                    <m:sSub>
                      <m:sSubPr>
                        <m:ctrlPr>
                          <a:rPr lang="en-IN" i="1">
                            <a:latin typeface="Cambria Math" panose="02040503050406030204" pitchFamily="18" charset="0"/>
                          </a:rPr>
                        </m:ctrlPr>
                      </m:sSubPr>
                      <m:e>
                        <m:r>
                          <a:rPr lang="en-IN" b="0" i="1" smtClean="0">
                            <a:latin typeface="Cambria Math" panose="02040503050406030204" pitchFamily="18" charset="0"/>
                          </a:rPr>
                          <m:t>h</m:t>
                        </m:r>
                      </m:e>
                      <m:sub>
                        <m:r>
                          <a:rPr lang="en-IN" i="1">
                            <a:latin typeface="Cambria Math" panose="02040503050406030204" pitchFamily="18" charset="0"/>
                          </a:rPr>
                          <m:t>𝑇</m:t>
                        </m:r>
                      </m:sub>
                    </m:sSub>
                    <m:r>
                      <a:rPr lang="en-IN" b="0" i="1" smtClean="0">
                        <a:latin typeface="Cambria Math" panose="02040503050406030204" pitchFamily="18" charset="0"/>
                      </a:rPr>
                      <m:t>.</m:t>
                    </m:r>
                  </m:oMath>
                </a14:m>
                <a:endParaRPr lang="en-IN" dirty="0"/>
              </a:p>
              <a:p>
                <a:pPr algn="just"/>
                <a:endParaRPr lang="en-IN" dirty="0"/>
              </a:p>
            </p:txBody>
          </p:sp>
        </mc:Choice>
        <mc:Fallback>
          <p:sp>
            <p:nvSpPr>
              <p:cNvPr id="3" name="Content Placeholder 2">
                <a:extLst>
                  <a:ext uri="{FF2B5EF4-FFF2-40B4-BE49-F238E27FC236}">
                    <a16:creationId xmlns:a16="http://schemas.microsoft.com/office/drawing/2014/main" id="{A8451B63-A300-4C00-833F-A737065CE951}"/>
                  </a:ext>
                </a:extLst>
              </p:cNvPr>
              <p:cNvSpPr>
                <a:spLocks noGrp="1" noRot="1" noChangeAspect="1" noMove="1" noResize="1" noEditPoints="1" noAdjustHandles="1" noChangeArrowheads="1" noChangeShapeType="1" noTextEdit="1"/>
              </p:cNvSpPr>
              <p:nvPr>
                <p:ph idx="1"/>
              </p:nvPr>
            </p:nvSpPr>
            <p:spPr>
              <a:blipFill>
                <a:blip r:embed="rId2"/>
                <a:stretch>
                  <a:fillRect l="-303" t="-1504" r="-606"/>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4809C7B8-E6E7-4A3C-BA44-054BE99DF846}"/>
              </a:ext>
            </a:extLst>
          </p:cNvPr>
          <p:cNvSpPr>
            <a:spLocks noGrp="1"/>
          </p:cNvSpPr>
          <p:nvPr>
            <p:ph type="sldNum" sz="quarter" idx="12"/>
          </p:nvPr>
        </p:nvSpPr>
        <p:spPr/>
        <p:txBody>
          <a:bodyPr/>
          <a:lstStyle/>
          <a:p>
            <a:fld id="{82BC92B1-C9EA-4D86-A246-22CEB90EE2A6}" type="slidenum">
              <a:rPr lang="en-IN" smtClean="0"/>
              <a:t>7</a:t>
            </a:fld>
            <a:endParaRPr lang="en-IN"/>
          </a:p>
        </p:txBody>
      </p:sp>
      <p:graphicFrame>
        <p:nvGraphicFramePr>
          <p:cNvPr id="5" name="Table 4">
            <a:extLst>
              <a:ext uri="{FF2B5EF4-FFF2-40B4-BE49-F238E27FC236}">
                <a16:creationId xmlns:a16="http://schemas.microsoft.com/office/drawing/2014/main" id="{E0E44A81-EEF0-46BE-A0A0-12CB87A387B8}"/>
              </a:ext>
            </a:extLst>
          </p:cNvPr>
          <p:cNvGraphicFramePr>
            <a:graphicFrameLocks noGrp="1"/>
          </p:cNvGraphicFramePr>
          <p:nvPr>
            <p:extLst>
              <p:ext uri="{D42A27DB-BD31-4B8C-83A1-F6EECF244321}">
                <p14:modId xmlns:p14="http://schemas.microsoft.com/office/powerpoint/2010/main" val="3542597711"/>
              </p:ext>
            </p:extLst>
          </p:nvPr>
        </p:nvGraphicFramePr>
        <p:xfrm>
          <a:off x="4948110" y="5003800"/>
          <a:ext cx="2301875" cy="1854200"/>
        </p:xfrm>
        <a:graphic>
          <a:graphicData uri="http://schemas.openxmlformats.org/drawingml/2006/table">
            <a:tbl>
              <a:tblPr firstRow="1" bandRow="1">
                <a:tableStyleId>{5C22544A-7EE6-4342-B048-85BDC9FD1C3A}</a:tableStyleId>
              </a:tblPr>
              <a:tblGrid>
                <a:gridCol w="584518">
                  <a:extLst>
                    <a:ext uri="{9D8B030D-6E8A-4147-A177-3AD203B41FA5}">
                      <a16:colId xmlns:a16="http://schemas.microsoft.com/office/drawing/2014/main" val="2353326828"/>
                    </a:ext>
                  </a:extLst>
                </a:gridCol>
                <a:gridCol w="408305">
                  <a:extLst>
                    <a:ext uri="{9D8B030D-6E8A-4147-A177-3AD203B41FA5}">
                      <a16:colId xmlns:a16="http://schemas.microsoft.com/office/drawing/2014/main" val="597038015"/>
                    </a:ext>
                  </a:extLst>
                </a:gridCol>
                <a:gridCol w="408305">
                  <a:extLst>
                    <a:ext uri="{9D8B030D-6E8A-4147-A177-3AD203B41FA5}">
                      <a16:colId xmlns:a16="http://schemas.microsoft.com/office/drawing/2014/main" val="2899785632"/>
                    </a:ext>
                  </a:extLst>
                </a:gridCol>
                <a:gridCol w="408305">
                  <a:extLst>
                    <a:ext uri="{9D8B030D-6E8A-4147-A177-3AD203B41FA5}">
                      <a16:colId xmlns:a16="http://schemas.microsoft.com/office/drawing/2014/main" val="2164111331"/>
                    </a:ext>
                  </a:extLst>
                </a:gridCol>
                <a:gridCol w="492442">
                  <a:extLst>
                    <a:ext uri="{9D8B030D-6E8A-4147-A177-3AD203B41FA5}">
                      <a16:colId xmlns:a16="http://schemas.microsoft.com/office/drawing/2014/main" val="3614985047"/>
                    </a:ext>
                  </a:extLst>
                </a:gridCol>
              </a:tblGrid>
              <a:tr h="370840">
                <a:tc>
                  <a:txBody>
                    <a:bodyPr/>
                    <a:lstStyle/>
                    <a:p>
                      <a:pPr algn="ctr"/>
                      <a:endParaRPr lang="en-IN" sz="1100" dirty="0"/>
                    </a:p>
                  </a:txBody>
                  <a:tcPr anchor="ctr"/>
                </a:tc>
                <a:tc>
                  <a:txBody>
                    <a:bodyPr/>
                    <a:lstStyle/>
                    <a:p>
                      <a:pPr algn="ctr"/>
                      <a:r>
                        <a:rPr lang="en-IN" sz="1100" dirty="0"/>
                        <a:t>D1</a:t>
                      </a:r>
                    </a:p>
                  </a:txBody>
                  <a:tcPr anchor="ctr"/>
                </a:tc>
                <a:tc>
                  <a:txBody>
                    <a:bodyPr/>
                    <a:lstStyle/>
                    <a:p>
                      <a:pPr algn="ctr"/>
                      <a:r>
                        <a:rPr lang="en-IN" sz="1100" dirty="0"/>
                        <a:t>D2</a:t>
                      </a:r>
                    </a:p>
                  </a:txBody>
                  <a:tcPr anchor="ctr"/>
                </a:tc>
                <a:tc>
                  <a:txBody>
                    <a:bodyPr/>
                    <a:lstStyle/>
                    <a:p>
                      <a:pPr algn="ctr"/>
                      <a:r>
                        <a:rPr lang="en-IN" sz="1100" dirty="0"/>
                        <a:t>D3</a:t>
                      </a:r>
                    </a:p>
                  </a:txBody>
                  <a:tcPr anchor="ctr"/>
                </a:tc>
                <a:tc>
                  <a:txBody>
                    <a:bodyPr/>
                    <a:lstStyle/>
                    <a:p>
                      <a:pPr algn="ctr"/>
                      <a:r>
                        <a:rPr lang="en-IN" sz="1100" dirty="0"/>
                        <a:t>D4</a:t>
                      </a:r>
                    </a:p>
                  </a:txBody>
                  <a:tcPr anchor="ctr"/>
                </a:tc>
                <a:extLst>
                  <a:ext uri="{0D108BD9-81ED-4DB2-BD59-A6C34878D82A}">
                    <a16:rowId xmlns:a16="http://schemas.microsoft.com/office/drawing/2014/main" val="317367046"/>
                  </a:ext>
                </a:extLst>
              </a:tr>
              <a:tr h="370840">
                <a:tc>
                  <a:txBody>
                    <a:bodyPr/>
                    <a:lstStyle/>
                    <a:p>
                      <a:pPr algn="ctr"/>
                      <a:r>
                        <a:rPr lang="en-IN" sz="1100" dirty="0"/>
                        <a:t>API_1</a:t>
                      </a:r>
                    </a:p>
                  </a:txBody>
                  <a:tcPr anchor="ctr"/>
                </a:tc>
                <a:tc>
                  <a:txBody>
                    <a:bodyPr/>
                    <a:lstStyle/>
                    <a:p>
                      <a:pPr algn="ctr"/>
                      <a:r>
                        <a:rPr lang="en-IN" sz="1100" dirty="0"/>
                        <a:t>1</a:t>
                      </a:r>
                    </a:p>
                  </a:txBody>
                  <a:tcPr anchor="ctr"/>
                </a:tc>
                <a:tc>
                  <a:txBody>
                    <a:bodyPr/>
                    <a:lstStyle/>
                    <a:p>
                      <a:pPr algn="ctr"/>
                      <a:r>
                        <a:rPr lang="en-IN" sz="1100" dirty="0"/>
                        <a:t>0</a:t>
                      </a:r>
                    </a:p>
                  </a:txBody>
                  <a:tcPr anchor="ctr"/>
                </a:tc>
                <a:tc>
                  <a:txBody>
                    <a:bodyPr/>
                    <a:lstStyle/>
                    <a:p>
                      <a:pPr algn="ctr"/>
                      <a:r>
                        <a:rPr lang="en-IN" sz="1100" dirty="0"/>
                        <a:t>0</a:t>
                      </a:r>
                    </a:p>
                  </a:txBody>
                  <a:tcPr anchor="ctr"/>
                </a:tc>
                <a:tc>
                  <a:txBody>
                    <a:bodyPr/>
                    <a:lstStyle/>
                    <a:p>
                      <a:pPr algn="ctr"/>
                      <a:r>
                        <a:rPr lang="en-IN" sz="1100" dirty="0"/>
                        <a:t>0</a:t>
                      </a:r>
                    </a:p>
                  </a:txBody>
                  <a:tcPr anchor="ctr"/>
                </a:tc>
                <a:extLst>
                  <a:ext uri="{0D108BD9-81ED-4DB2-BD59-A6C34878D82A}">
                    <a16:rowId xmlns:a16="http://schemas.microsoft.com/office/drawing/2014/main" val="3659447294"/>
                  </a:ext>
                </a:extLst>
              </a:tr>
              <a:tr h="370840">
                <a:tc>
                  <a:txBody>
                    <a:bodyPr/>
                    <a:lstStyle/>
                    <a:p>
                      <a:pPr algn="ctr"/>
                      <a:r>
                        <a:rPr lang="en-IN" sz="1100" dirty="0"/>
                        <a:t>API_2</a:t>
                      </a:r>
                    </a:p>
                  </a:txBody>
                  <a:tcPr anchor="ctr"/>
                </a:tc>
                <a:tc>
                  <a:txBody>
                    <a:bodyPr/>
                    <a:lstStyle/>
                    <a:p>
                      <a:pPr algn="ctr"/>
                      <a:r>
                        <a:rPr lang="en-IN" sz="1100" dirty="0"/>
                        <a:t>0</a:t>
                      </a:r>
                    </a:p>
                  </a:txBody>
                  <a:tcPr anchor="ctr"/>
                </a:tc>
                <a:tc>
                  <a:txBody>
                    <a:bodyPr/>
                    <a:lstStyle/>
                    <a:p>
                      <a:pPr algn="ctr"/>
                      <a:r>
                        <a:rPr lang="en-IN" sz="1100" dirty="0"/>
                        <a:t>1</a:t>
                      </a:r>
                    </a:p>
                  </a:txBody>
                  <a:tcPr anchor="ctr"/>
                </a:tc>
                <a:tc>
                  <a:txBody>
                    <a:bodyPr/>
                    <a:lstStyle/>
                    <a:p>
                      <a:pPr algn="ctr"/>
                      <a:r>
                        <a:rPr lang="en-IN" sz="1100" dirty="0"/>
                        <a:t>0</a:t>
                      </a:r>
                    </a:p>
                  </a:txBody>
                  <a:tcPr anchor="ctr"/>
                </a:tc>
                <a:tc>
                  <a:txBody>
                    <a:bodyPr/>
                    <a:lstStyle/>
                    <a:p>
                      <a:pPr algn="ctr"/>
                      <a:r>
                        <a:rPr lang="en-IN" sz="1100" dirty="0"/>
                        <a:t>0</a:t>
                      </a:r>
                    </a:p>
                  </a:txBody>
                  <a:tcPr anchor="ctr"/>
                </a:tc>
                <a:extLst>
                  <a:ext uri="{0D108BD9-81ED-4DB2-BD59-A6C34878D82A}">
                    <a16:rowId xmlns:a16="http://schemas.microsoft.com/office/drawing/2014/main" val="3277789890"/>
                  </a:ext>
                </a:extLst>
              </a:tr>
              <a:tr h="370840">
                <a:tc>
                  <a:txBody>
                    <a:bodyPr/>
                    <a:lstStyle/>
                    <a:p>
                      <a:pPr algn="ctr"/>
                      <a:r>
                        <a:rPr lang="en-IN" sz="1100" dirty="0"/>
                        <a:t>API_3</a:t>
                      </a:r>
                    </a:p>
                  </a:txBody>
                  <a:tcPr anchor="ctr"/>
                </a:tc>
                <a:tc>
                  <a:txBody>
                    <a:bodyPr/>
                    <a:lstStyle/>
                    <a:p>
                      <a:pPr algn="ctr"/>
                      <a:r>
                        <a:rPr lang="en-IN" sz="1100" dirty="0"/>
                        <a:t>0</a:t>
                      </a:r>
                    </a:p>
                  </a:txBody>
                  <a:tcPr anchor="ctr"/>
                </a:tc>
                <a:tc>
                  <a:txBody>
                    <a:bodyPr/>
                    <a:lstStyle/>
                    <a:p>
                      <a:pPr algn="ctr"/>
                      <a:r>
                        <a:rPr lang="en-IN" sz="1100" dirty="0"/>
                        <a:t>0</a:t>
                      </a:r>
                    </a:p>
                  </a:txBody>
                  <a:tcPr anchor="ctr"/>
                </a:tc>
                <a:tc>
                  <a:txBody>
                    <a:bodyPr/>
                    <a:lstStyle/>
                    <a:p>
                      <a:pPr algn="ctr"/>
                      <a:r>
                        <a:rPr lang="en-IN" sz="1100" dirty="0"/>
                        <a:t>1</a:t>
                      </a:r>
                    </a:p>
                  </a:txBody>
                  <a:tcPr anchor="ctr"/>
                </a:tc>
                <a:tc>
                  <a:txBody>
                    <a:bodyPr/>
                    <a:lstStyle/>
                    <a:p>
                      <a:pPr algn="ctr"/>
                      <a:r>
                        <a:rPr lang="en-IN" sz="1100" dirty="0"/>
                        <a:t>0</a:t>
                      </a:r>
                    </a:p>
                  </a:txBody>
                  <a:tcPr anchor="ctr"/>
                </a:tc>
                <a:extLst>
                  <a:ext uri="{0D108BD9-81ED-4DB2-BD59-A6C34878D82A}">
                    <a16:rowId xmlns:a16="http://schemas.microsoft.com/office/drawing/2014/main" val="4205514115"/>
                  </a:ext>
                </a:extLst>
              </a:tr>
              <a:tr h="370840">
                <a:tc>
                  <a:txBody>
                    <a:bodyPr/>
                    <a:lstStyle/>
                    <a:p>
                      <a:pPr algn="ctr"/>
                      <a:r>
                        <a:rPr lang="en-IN" sz="1100" dirty="0"/>
                        <a:t>API_4</a:t>
                      </a:r>
                    </a:p>
                  </a:txBody>
                  <a:tcPr anchor="ctr"/>
                </a:tc>
                <a:tc>
                  <a:txBody>
                    <a:bodyPr/>
                    <a:lstStyle/>
                    <a:p>
                      <a:pPr algn="ctr"/>
                      <a:r>
                        <a:rPr lang="en-IN" sz="1100" dirty="0"/>
                        <a:t>0</a:t>
                      </a:r>
                    </a:p>
                  </a:txBody>
                  <a:tcPr anchor="ctr"/>
                </a:tc>
                <a:tc>
                  <a:txBody>
                    <a:bodyPr/>
                    <a:lstStyle/>
                    <a:p>
                      <a:pPr algn="ctr"/>
                      <a:r>
                        <a:rPr lang="en-IN" sz="1100" dirty="0"/>
                        <a:t>0</a:t>
                      </a:r>
                    </a:p>
                  </a:txBody>
                  <a:tcPr anchor="ctr"/>
                </a:tc>
                <a:tc>
                  <a:txBody>
                    <a:bodyPr/>
                    <a:lstStyle/>
                    <a:p>
                      <a:pPr algn="ctr"/>
                      <a:r>
                        <a:rPr lang="en-IN" sz="1100" dirty="0"/>
                        <a:t>0</a:t>
                      </a:r>
                    </a:p>
                  </a:txBody>
                  <a:tcPr anchor="ctr"/>
                </a:tc>
                <a:tc>
                  <a:txBody>
                    <a:bodyPr/>
                    <a:lstStyle/>
                    <a:p>
                      <a:pPr algn="ctr"/>
                      <a:r>
                        <a:rPr lang="en-IN" sz="1100" dirty="0"/>
                        <a:t>1</a:t>
                      </a:r>
                    </a:p>
                  </a:txBody>
                  <a:tcPr anchor="ctr"/>
                </a:tc>
                <a:extLst>
                  <a:ext uri="{0D108BD9-81ED-4DB2-BD59-A6C34878D82A}">
                    <a16:rowId xmlns:a16="http://schemas.microsoft.com/office/drawing/2014/main" val="3472214355"/>
                  </a:ext>
                </a:extLst>
              </a:tr>
            </a:tbl>
          </a:graphicData>
        </a:graphic>
      </p:graphicFrame>
      <p:sp>
        <p:nvSpPr>
          <p:cNvPr id="6" name="Date Placeholder 5">
            <a:extLst>
              <a:ext uri="{FF2B5EF4-FFF2-40B4-BE49-F238E27FC236}">
                <a16:creationId xmlns:a16="http://schemas.microsoft.com/office/drawing/2014/main" id="{A12EC930-9ED0-4C14-B523-26F98441FB51}"/>
              </a:ext>
            </a:extLst>
          </p:cNvPr>
          <p:cNvSpPr>
            <a:spLocks noGrp="1"/>
          </p:cNvSpPr>
          <p:nvPr>
            <p:ph type="dt" sz="half" idx="10"/>
          </p:nvPr>
        </p:nvSpPr>
        <p:spPr/>
        <p:txBody>
          <a:bodyPr/>
          <a:lstStyle/>
          <a:p>
            <a:fld id="{1BAE1EF1-2BDF-4BD5-9554-613831D8DC8D}" type="datetime1">
              <a:rPr lang="en-IN" smtClean="0"/>
              <a:t>11-10-2017</a:t>
            </a:fld>
            <a:endParaRPr lang="en-IN"/>
          </a:p>
        </p:txBody>
      </p:sp>
    </p:spTree>
    <p:extLst>
      <p:ext uri="{BB962C8B-B14F-4D97-AF65-F5344CB8AC3E}">
        <p14:creationId xmlns:p14="http://schemas.microsoft.com/office/powerpoint/2010/main" val="1900246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250" fill="hold"/>
                                        <p:tgtEl>
                                          <p:spTgt spid="5"/>
                                        </p:tgtEl>
                                        <p:attrNameLst>
                                          <p:attrName>ppt_x</p:attrName>
                                        </p:attrNameLst>
                                      </p:cBhvr>
                                      <p:tavLst>
                                        <p:tav tm="0">
                                          <p:val>
                                            <p:strVal val="#ppt_x"/>
                                          </p:val>
                                        </p:tav>
                                        <p:tav tm="100000">
                                          <p:val>
                                            <p:strVal val="#ppt_x"/>
                                          </p:val>
                                        </p:tav>
                                      </p:tavLst>
                                    </p:anim>
                                    <p:anim calcmode="lin" valueType="num">
                                      <p:cBhvr additive="base">
                                        <p:cTn id="16" dur="25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19CA4-3805-4D85-990C-8F23CFAA6DE5}"/>
              </a:ext>
            </a:extLst>
          </p:cNvPr>
          <p:cNvSpPr>
            <a:spLocks noGrp="1"/>
          </p:cNvSpPr>
          <p:nvPr>
            <p:ph type="title"/>
          </p:nvPr>
        </p:nvSpPr>
        <p:spPr/>
        <p:txBody>
          <a:bodyPr/>
          <a:lstStyle/>
          <a:p>
            <a:r>
              <a:rPr lang="en-IN" dirty="0" err="1"/>
              <a:t>Rnn</a:t>
            </a:r>
            <a:r>
              <a:rPr lang="en-IN" dirty="0"/>
              <a:t> for malware detection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8451B63-A300-4C00-833F-A737065CE951}"/>
                  </a:ext>
                </a:extLst>
              </p:cNvPr>
              <p:cNvSpPr>
                <a:spLocks noGrp="1"/>
              </p:cNvSpPr>
              <p:nvPr>
                <p:ph idx="1"/>
              </p:nvPr>
            </p:nvSpPr>
            <p:spPr/>
            <p:txBody>
              <a:bodyPr>
                <a:normAutofit fontScale="92500" lnSpcReduction="10000"/>
              </a:bodyPr>
              <a:lstStyle/>
              <a:p>
                <a:pPr algn="just"/>
                <a:r>
                  <a:rPr lang="en-IN" dirty="0"/>
                  <a:t>There are different variations for the classification problem:</a:t>
                </a:r>
              </a:p>
              <a:p>
                <a:pPr lvl="1" algn="just"/>
                <a:r>
                  <a:rPr lang="en-IN" dirty="0"/>
                  <a:t>Basic Version</a:t>
                </a:r>
              </a:p>
              <a:p>
                <a:pPr lvl="2" algn="just"/>
                <a:r>
                  <a:rPr lang="en-GB" dirty="0"/>
                  <a:t>The hidden state of the last time step </a:t>
                </a:r>
                <a14:m>
                  <m:oMath xmlns:m="http://schemas.openxmlformats.org/officeDocument/2006/math">
                    <m:sSub>
                      <m:sSubPr>
                        <m:ctrlPr>
                          <a:rPr lang="en-GB" i="1" smtClean="0">
                            <a:latin typeface="Cambria Math" panose="02040503050406030204" pitchFamily="18" charset="0"/>
                          </a:rPr>
                        </m:ctrlPr>
                      </m:sSubPr>
                      <m:e>
                        <m:r>
                          <a:rPr lang="en-IN" b="0" i="1" smtClean="0">
                            <a:latin typeface="Cambria Math" panose="02040503050406030204" pitchFamily="18" charset="0"/>
                          </a:rPr>
                          <m:t>h</m:t>
                        </m:r>
                      </m:e>
                      <m:sub>
                        <m:r>
                          <a:rPr lang="en-IN" b="0" i="1" smtClean="0">
                            <a:latin typeface="Cambria Math" panose="02040503050406030204" pitchFamily="18" charset="0"/>
                          </a:rPr>
                          <m:t>𝑇</m:t>
                        </m:r>
                      </m:sub>
                    </m:sSub>
                  </m:oMath>
                </a14:m>
                <a:r>
                  <a:rPr lang="en-GB" dirty="0"/>
                  <a:t> is used as the representation of the API sequence. The output layer uses </a:t>
                </a:r>
                <a14:m>
                  <m:oMath xmlns:m="http://schemas.openxmlformats.org/officeDocument/2006/math">
                    <m:sSub>
                      <m:sSubPr>
                        <m:ctrlPr>
                          <a:rPr lang="en-GB" i="1">
                            <a:latin typeface="Cambria Math" panose="02040503050406030204" pitchFamily="18" charset="0"/>
                          </a:rPr>
                        </m:ctrlPr>
                      </m:sSubPr>
                      <m:e>
                        <m:r>
                          <a:rPr lang="en-IN" i="1">
                            <a:latin typeface="Cambria Math" panose="02040503050406030204" pitchFamily="18" charset="0"/>
                          </a:rPr>
                          <m:t>h</m:t>
                        </m:r>
                      </m:e>
                      <m:sub>
                        <m:r>
                          <a:rPr lang="en-IN" i="1">
                            <a:latin typeface="Cambria Math" panose="02040503050406030204" pitchFamily="18" charset="0"/>
                          </a:rPr>
                          <m:t>𝑇</m:t>
                        </m:r>
                      </m:sub>
                    </m:sSub>
                    <m:r>
                      <a:rPr lang="en-IN" i="1">
                        <a:latin typeface="Cambria Math" panose="02040503050406030204" pitchFamily="18" charset="0"/>
                      </a:rPr>
                      <m:t> </m:t>
                    </m:r>
                  </m:oMath>
                </a14:m>
                <a:r>
                  <a:rPr lang="en-GB" dirty="0"/>
                  <a:t>to compute the probability distribution over the two classes.</a:t>
                </a:r>
                <a:endParaRPr lang="en-IN" dirty="0"/>
              </a:p>
              <a:p>
                <a:pPr lvl="1" algn="just"/>
                <a:r>
                  <a:rPr lang="en-IN" dirty="0"/>
                  <a:t>Average Pooling</a:t>
                </a:r>
              </a:p>
              <a:p>
                <a:pPr lvl="2" algn="just"/>
                <a:r>
                  <a:rPr lang="en-GB" dirty="0"/>
                  <a:t>Uses the average states across </a:t>
                </a:r>
                <a14:m>
                  <m:oMath xmlns:m="http://schemas.openxmlformats.org/officeDocument/2006/math">
                    <m:sSub>
                      <m:sSubPr>
                        <m:ctrlPr>
                          <a:rPr lang="en-GB" i="1" smtClean="0">
                            <a:latin typeface="Cambria Math" panose="02040503050406030204" pitchFamily="18" charset="0"/>
                          </a:rPr>
                        </m:ctrlPr>
                      </m:sSubPr>
                      <m:e>
                        <m:r>
                          <a:rPr lang="en-IN" b="0" i="1" smtClean="0">
                            <a:latin typeface="Cambria Math" panose="02040503050406030204" pitchFamily="18" charset="0"/>
                          </a:rPr>
                          <m:t>h</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GB" i="1">
                            <a:latin typeface="Cambria Math" panose="02040503050406030204" pitchFamily="18" charset="0"/>
                          </a:rPr>
                        </m:ctrlPr>
                      </m:sSubPr>
                      <m:e>
                        <m:r>
                          <a:rPr lang="en-IN" i="1">
                            <a:latin typeface="Cambria Math" panose="02040503050406030204" pitchFamily="18" charset="0"/>
                          </a:rPr>
                          <m:t>h</m:t>
                        </m:r>
                      </m:e>
                      <m:sub>
                        <m:r>
                          <a:rPr lang="en-IN" b="0" i="1" smtClean="0">
                            <a:latin typeface="Cambria Math" panose="02040503050406030204" pitchFamily="18" charset="0"/>
                          </a:rPr>
                          <m:t>2</m:t>
                        </m:r>
                      </m:sub>
                    </m:sSub>
                    <m:r>
                      <a:rPr lang="en-IN" b="0" i="1" smtClean="0">
                        <a:latin typeface="Cambria Math" panose="02040503050406030204" pitchFamily="18" charset="0"/>
                      </a:rPr>
                      <m:t>,…,</m:t>
                    </m:r>
                    <m:sSub>
                      <m:sSubPr>
                        <m:ctrlPr>
                          <a:rPr lang="en-GB" i="1">
                            <a:latin typeface="Cambria Math" panose="02040503050406030204" pitchFamily="18" charset="0"/>
                          </a:rPr>
                        </m:ctrlPr>
                      </m:sSubPr>
                      <m:e>
                        <m:r>
                          <a:rPr lang="en-IN" i="1">
                            <a:latin typeface="Cambria Math" panose="02040503050406030204" pitchFamily="18" charset="0"/>
                          </a:rPr>
                          <m:t>h</m:t>
                        </m:r>
                      </m:e>
                      <m:sub>
                        <m:r>
                          <a:rPr lang="en-IN" b="0" i="1" smtClean="0">
                            <a:latin typeface="Cambria Math" panose="02040503050406030204" pitchFamily="18" charset="0"/>
                          </a:rPr>
                          <m:t>𝑇</m:t>
                        </m:r>
                      </m:sub>
                    </m:sSub>
                  </m:oMath>
                </a14:m>
                <a:r>
                  <a:rPr lang="en-GB" dirty="0"/>
                  <a:t> as the representation of the sequence, instead of the last state </a:t>
                </a:r>
                <a14:m>
                  <m:oMath xmlns:m="http://schemas.openxmlformats.org/officeDocument/2006/math">
                    <m:sSub>
                      <m:sSubPr>
                        <m:ctrlPr>
                          <a:rPr lang="en-GB" i="1">
                            <a:latin typeface="Cambria Math" panose="02040503050406030204" pitchFamily="18" charset="0"/>
                          </a:rPr>
                        </m:ctrlPr>
                      </m:sSubPr>
                      <m:e>
                        <m:r>
                          <a:rPr lang="en-IN" i="1">
                            <a:latin typeface="Cambria Math" panose="02040503050406030204" pitchFamily="18" charset="0"/>
                          </a:rPr>
                          <m:t>h</m:t>
                        </m:r>
                      </m:e>
                      <m:sub>
                        <m:r>
                          <a:rPr lang="en-IN" b="0" i="1" smtClean="0">
                            <a:latin typeface="Cambria Math" panose="02040503050406030204" pitchFamily="18" charset="0"/>
                          </a:rPr>
                          <m:t>𝑇</m:t>
                        </m:r>
                      </m:sub>
                    </m:sSub>
                  </m:oMath>
                </a14:m>
                <a:r>
                  <a:rPr lang="en-IN" dirty="0"/>
                  <a:t>.</a:t>
                </a:r>
              </a:p>
              <a:p>
                <a:pPr lvl="1" algn="just"/>
                <a:r>
                  <a:rPr lang="en-IN" dirty="0"/>
                  <a:t>Attention Mechanism</a:t>
                </a:r>
              </a:p>
              <a:p>
                <a:pPr lvl="2" algn="just"/>
                <a:r>
                  <a:rPr lang="en-GB" dirty="0"/>
                  <a:t>Uses weighted average of the hidden states to represent the sequence. It makes the model to focus on meaningful parts of inputs.</a:t>
                </a:r>
                <a:endParaRPr lang="en-IN" dirty="0"/>
              </a:p>
              <a:p>
                <a:pPr lvl="2" algn="just"/>
                <a:r>
                  <a:rPr lang="en-IN" dirty="0"/>
                  <a:t>The weight of time step </a:t>
                </a:r>
                <a14:m>
                  <m:oMath xmlns:m="http://schemas.openxmlformats.org/officeDocument/2006/math">
                    <m:r>
                      <a:rPr lang="en-IN" b="0" i="1" smtClean="0">
                        <a:latin typeface="Cambria Math" panose="02040503050406030204" pitchFamily="18" charset="0"/>
                      </a:rPr>
                      <m:t>𝑡</m:t>
                    </m:r>
                    <m:r>
                      <a:rPr lang="en-IN" b="0" i="0" smtClean="0">
                        <a:latin typeface="Cambria Math" panose="02040503050406030204" pitchFamily="18" charset="0"/>
                      </a:rPr>
                      <m:t>,</m:t>
                    </m:r>
                  </m:oMath>
                </a14:m>
                <a:r>
                  <a:rPr lang="en-IN" dirty="0"/>
                  <a:t> </a:t>
                </a:r>
                <a14:m>
                  <m:oMath xmlns:m="http://schemas.openxmlformats.org/officeDocument/2006/math">
                    <m:sSub>
                      <m:sSubPr>
                        <m:ctrlPr>
                          <a:rPr lang="en-IN" i="1" smtClean="0">
                            <a:latin typeface="Cambria Math" panose="02040503050406030204" pitchFamily="18" charset="0"/>
                          </a:rPr>
                        </m:ctrlPr>
                      </m:sSubPr>
                      <m:e>
                        <m:r>
                          <a:rPr lang="en-IN" i="1" smtClean="0">
                            <a:latin typeface="Cambria Math" panose="02040503050406030204" pitchFamily="18" charset="0"/>
                            <a:ea typeface="Cambria Math" panose="02040503050406030204" pitchFamily="18" charset="0"/>
                          </a:rPr>
                          <m:t>𝛼</m:t>
                        </m:r>
                      </m:e>
                      <m:sub>
                        <m:r>
                          <a:rPr lang="en-IN" b="0" i="1" smtClean="0">
                            <a:latin typeface="Cambria Math" panose="02040503050406030204" pitchFamily="18" charset="0"/>
                          </a:rPr>
                          <m:t>𝑡</m:t>
                        </m:r>
                      </m:sub>
                    </m:sSub>
                  </m:oMath>
                </a14:m>
                <a:r>
                  <a:rPr lang="en-IN" dirty="0"/>
                  <a:t> is calculated as</a:t>
                </a:r>
              </a:p>
              <a:p>
                <a:pPr lvl="2" algn="just"/>
                <a:endParaRPr lang="en-IN" sz="500" dirty="0"/>
              </a:p>
              <a:p>
                <a:pPr marL="548640" lvl="2" indent="0" algn="just">
                  <a:buNone/>
                </a:pPr>
                <a14:m>
                  <m:oMathPara xmlns:m="http://schemas.openxmlformats.org/officeDocument/2006/math">
                    <m:oMathParaPr>
                      <m:jc m:val="centerGroup"/>
                    </m:oMathParaPr>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ea typeface="Cambria Math" panose="02040503050406030204" pitchFamily="18" charset="0"/>
                            </a:rPr>
                            <m:t>𝛼</m:t>
                          </m:r>
                        </m:e>
                        <m:sub>
                          <m:r>
                            <a:rPr lang="en-IN" i="1">
                              <a:latin typeface="Cambria Math" panose="02040503050406030204" pitchFamily="18" charset="0"/>
                            </a:rPr>
                            <m:t>𝑡</m:t>
                          </m:r>
                        </m:sub>
                      </m:sSub>
                      <m:r>
                        <a:rPr lang="en-IN" i="1">
                          <a:latin typeface="Cambria Math" panose="02040503050406030204" pitchFamily="18" charset="0"/>
                        </a:rPr>
                        <m:t>= </m:t>
                      </m:r>
                      <m:f>
                        <m:fPr>
                          <m:ctrlPr>
                            <a:rPr lang="en-IN" i="1">
                              <a:latin typeface="Cambria Math" panose="02040503050406030204" pitchFamily="18" charset="0"/>
                            </a:rPr>
                          </m:ctrlPr>
                        </m:fPr>
                        <m:num>
                          <m:r>
                            <m:rPr>
                              <m:sty m:val="p"/>
                            </m:rPr>
                            <a:rPr lang="en-IN">
                              <a:latin typeface="Cambria Math" panose="02040503050406030204" pitchFamily="18" charset="0"/>
                            </a:rPr>
                            <m:t>exp</m:t>
                          </m:r>
                          <m:r>
                            <a:rPr lang="en-IN" i="1">
                              <a:latin typeface="Cambria Math" panose="02040503050406030204" pitchFamily="18" charset="0"/>
                            </a:rPr>
                            <m:t>⁡(</m:t>
                          </m:r>
                          <m:r>
                            <a:rPr lang="en-IN" i="1">
                              <a:latin typeface="Cambria Math" panose="02040503050406030204" pitchFamily="18" charset="0"/>
                            </a:rPr>
                            <m:t>𝐴</m:t>
                          </m:r>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h</m:t>
                              </m:r>
                            </m:e>
                            <m:sub>
                              <m:r>
                                <a:rPr lang="en-IN" i="1">
                                  <a:latin typeface="Cambria Math" panose="02040503050406030204" pitchFamily="18" charset="0"/>
                                </a:rPr>
                                <m:t>𝑡</m:t>
                              </m:r>
                            </m:sub>
                          </m:sSub>
                          <m:r>
                            <a:rPr lang="en-IN" i="1">
                              <a:latin typeface="Cambria Math" panose="02040503050406030204" pitchFamily="18" charset="0"/>
                            </a:rPr>
                            <m:t>))</m:t>
                          </m:r>
                        </m:num>
                        <m:den>
                          <m:nary>
                            <m:naryPr>
                              <m:chr m:val="∑"/>
                              <m:ctrlPr>
                                <a:rPr lang="en-IN" i="1">
                                  <a:latin typeface="Cambria Math" panose="02040503050406030204" pitchFamily="18" charset="0"/>
                                </a:rPr>
                              </m:ctrlPr>
                            </m:naryPr>
                            <m:sub>
                              <m:r>
                                <m:rPr>
                                  <m:brk m:alnAt="23"/>
                                </m:rPr>
                                <a:rPr lang="en-IN" i="1">
                                  <a:latin typeface="Cambria Math" panose="02040503050406030204" pitchFamily="18" charset="0"/>
                                </a:rPr>
                                <m:t>𝑠</m:t>
                              </m:r>
                              <m:r>
                                <a:rPr lang="en-IN" i="1">
                                  <a:latin typeface="Cambria Math" panose="02040503050406030204" pitchFamily="18" charset="0"/>
                                </a:rPr>
                                <m:t>=1</m:t>
                              </m:r>
                            </m:sub>
                            <m:sup>
                              <m:r>
                                <a:rPr lang="en-IN" i="1">
                                  <a:latin typeface="Cambria Math" panose="02040503050406030204" pitchFamily="18" charset="0"/>
                                </a:rPr>
                                <m:t>𝑇</m:t>
                              </m:r>
                            </m:sup>
                            <m:e>
                              <m:r>
                                <m:rPr>
                                  <m:sty m:val="p"/>
                                </m:rPr>
                                <a:rPr lang="en-IN">
                                  <a:latin typeface="Cambria Math" panose="02040503050406030204" pitchFamily="18" charset="0"/>
                                </a:rPr>
                                <m:t>exp</m:t>
                              </m:r>
                              <m:r>
                                <a:rPr lang="en-IN" i="1">
                                  <a:latin typeface="Cambria Math" panose="02040503050406030204" pitchFamily="18" charset="0"/>
                                </a:rPr>
                                <m:t>⁡(</m:t>
                              </m:r>
                              <m:r>
                                <a:rPr lang="en-IN" i="1">
                                  <a:latin typeface="Cambria Math" panose="02040503050406030204" pitchFamily="18" charset="0"/>
                                </a:rPr>
                                <m:t>𝐴</m:t>
                              </m:r>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h</m:t>
                                  </m:r>
                                </m:e>
                                <m:sub>
                                  <m:r>
                                    <a:rPr lang="en-IN" i="1">
                                      <a:latin typeface="Cambria Math" panose="02040503050406030204" pitchFamily="18" charset="0"/>
                                    </a:rPr>
                                    <m:t>𝑠</m:t>
                                  </m:r>
                                </m:sub>
                              </m:sSub>
                              <m:r>
                                <a:rPr lang="en-IN" i="1">
                                  <a:latin typeface="Cambria Math" panose="02040503050406030204" pitchFamily="18" charset="0"/>
                                </a:rPr>
                                <m:t>))</m:t>
                              </m:r>
                            </m:e>
                          </m:nary>
                        </m:den>
                      </m:f>
                    </m:oMath>
                  </m:oMathPara>
                </a14:m>
                <a:endParaRPr lang="en-IN" dirty="0"/>
              </a:p>
              <a:p>
                <a:pPr marL="548640" lvl="2" indent="0" algn="just">
                  <a:buNone/>
                </a:pPr>
                <a:endParaRPr lang="en-IN" sz="500" dirty="0"/>
              </a:p>
              <a:p>
                <a:pPr marL="548640" lvl="2" indent="0" algn="just">
                  <a:buNone/>
                </a:pPr>
                <a:r>
                  <a:rPr lang="en-IN" dirty="0"/>
                  <a:t>    where </a:t>
                </a:r>
                <a14:m>
                  <m:oMath xmlns:m="http://schemas.openxmlformats.org/officeDocument/2006/math">
                    <m:r>
                      <a:rPr lang="en-IN" b="0" i="1" smtClean="0">
                        <a:latin typeface="Cambria Math" panose="02040503050406030204" pitchFamily="18" charset="0"/>
                      </a:rPr>
                      <m:t>𝐴</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h</m:t>
                        </m:r>
                      </m:e>
                      <m:sub>
                        <m:r>
                          <a:rPr lang="en-IN" b="0" i="1" smtClean="0">
                            <a:latin typeface="Cambria Math" panose="02040503050406030204" pitchFamily="18" charset="0"/>
                          </a:rPr>
                          <m:t>𝑡</m:t>
                        </m:r>
                      </m:sub>
                    </m:sSub>
                    <m:r>
                      <a:rPr lang="en-IN" b="0" i="1" smtClean="0">
                        <a:latin typeface="Cambria Math" panose="02040503050406030204" pitchFamily="18" charset="0"/>
                      </a:rPr>
                      <m:t>)</m:t>
                    </m:r>
                  </m:oMath>
                </a14:m>
                <a:r>
                  <a:rPr lang="en-IN" dirty="0"/>
                  <a:t> maps the hidden state to a scaler value, which indicates the importance of the corresponding timestep.</a:t>
                </a:r>
                <a:endParaRPr lang="en-IN" b="0" dirty="0"/>
              </a:p>
              <a:p>
                <a:pPr marL="274320" lvl="1" indent="0" algn="just">
                  <a:buNone/>
                </a:pPr>
                <a:endParaRPr lang="en-IN" dirty="0"/>
              </a:p>
            </p:txBody>
          </p:sp>
        </mc:Choice>
        <mc:Fallback>
          <p:sp>
            <p:nvSpPr>
              <p:cNvPr id="3" name="Content Placeholder 2">
                <a:extLst>
                  <a:ext uri="{FF2B5EF4-FFF2-40B4-BE49-F238E27FC236}">
                    <a16:creationId xmlns:a16="http://schemas.microsoft.com/office/drawing/2014/main" id="{A8451B63-A300-4C00-833F-A737065CE951}"/>
                  </a:ext>
                </a:extLst>
              </p:cNvPr>
              <p:cNvSpPr>
                <a:spLocks noGrp="1" noRot="1" noChangeAspect="1" noMove="1" noResize="1" noEditPoints="1" noAdjustHandles="1" noChangeArrowheads="1" noChangeShapeType="1" noTextEdit="1"/>
              </p:cNvSpPr>
              <p:nvPr>
                <p:ph idx="1"/>
              </p:nvPr>
            </p:nvSpPr>
            <p:spPr>
              <a:blipFill>
                <a:blip r:embed="rId2"/>
                <a:stretch>
                  <a:fillRect l="-303" t="-2256" r="-182"/>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4809C7B8-E6E7-4A3C-BA44-054BE99DF846}"/>
              </a:ext>
            </a:extLst>
          </p:cNvPr>
          <p:cNvSpPr>
            <a:spLocks noGrp="1"/>
          </p:cNvSpPr>
          <p:nvPr>
            <p:ph type="sldNum" sz="quarter" idx="12"/>
          </p:nvPr>
        </p:nvSpPr>
        <p:spPr/>
        <p:txBody>
          <a:bodyPr/>
          <a:lstStyle/>
          <a:p>
            <a:fld id="{82BC92B1-C9EA-4D86-A246-22CEB90EE2A6}" type="slidenum">
              <a:rPr lang="en-IN" smtClean="0"/>
              <a:t>8</a:t>
            </a:fld>
            <a:endParaRPr lang="en-IN"/>
          </a:p>
        </p:txBody>
      </p:sp>
      <p:pic>
        <p:nvPicPr>
          <p:cNvPr id="6" name="Picture 2" descr="http://d3kbpzbmcynnmx.cloudfront.net/wp-content/uploads/2015/09/rnn.jpg">
            <a:extLst>
              <a:ext uri="{FF2B5EF4-FFF2-40B4-BE49-F238E27FC236}">
                <a16:creationId xmlns:a16="http://schemas.microsoft.com/office/drawing/2014/main" id="{D578B3ED-B075-4C93-A454-E03593DA4E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5374" y="0"/>
            <a:ext cx="3476625" cy="1209675"/>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a:extLst>
              <a:ext uri="{FF2B5EF4-FFF2-40B4-BE49-F238E27FC236}">
                <a16:creationId xmlns:a16="http://schemas.microsoft.com/office/drawing/2014/main" id="{EA7AB74D-9EF3-4FBA-A44C-25F857DCA483}"/>
              </a:ext>
            </a:extLst>
          </p:cNvPr>
          <p:cNvSpPr>
            <a:spLocks noGrp="1"/>
          </p:cNvSpPr>
          <p:nvPr>
            <p:ph type="dt" sz="half" idx="10"/>
          </p:nvPr>
        </p:nvSpPr>
        <p:spPr/>
        <p:txBody>
          <a:bodyPr/>
          <a:lstStyle/>
          <a:p>
            <a:fld id="{3C3F092D-17CA-4587-BC62-B4059C41301B}" type="datetime1">
              <a:rPr lang="en-IN" smtClean="0"/>
              <a:t>11-10-2017</a:t>
            </a:fld>
            <a:endParaRPr lang="en-IN"/>
          </a:p>
        </p:txBody>
      </p:sp>
    </p:spTree>
    <p:extLst>
      <p:ext uri="{BB962C8B-B14F-4D97-AF65-F5344CB8AC3E}">
        <p14:creationId xmlns:p14="http://schemas.microsoft.com/office/powerpoint/2010/main" val="3426005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19CA4-3805-4D85-990C-8F23CFAA6DE5}"/>
              </a:ext>
            </a:extLst>
          </p:cNvPr>
          <p:cNvSpPr>
            <a:spLocks noGrp="1"/>
          </p:cNvSpPr>
          <p:nvPr>
            <p:ph type="title"/>
          </p:nvPr>
        </p:nvSpPr>
        <p:spPr/>
        <p:txBody>
          <a:bodyPr/>
          <a:lstStyle/>
          <a:p>
            <a:r>
              <a:rPr lang="en-IN" dirty="0" err="1"/>
              <a:t>Rnn</a:t>
            </a:r>
            <a:r>
              <a:rPr lang="en-IN" dirty="0"/>
              <a:t> for malware detection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8451B63-A300-4C00-833F-A737065CE951}"/>
                  </a:ext>
                </a:extLst>
              </p:cNvPr>
              <p:cNvSpPr>
                <a:spLocks noGrp="1"/>
              </p:cNvSpPr>
              <p:nvPr>
                <p:ph idx="1"/>
              </p:nvPr>
            </p:nvSpPr>
            <p:spPr/>
            <p:txBody>
              <a:bodyPr>
                <a:normAutofit/>
              </a:bodyPr>
              <a:lstStyle/>
              <a:p>
                <a:pPr algn="just"/>
                <a:r>
                  <a:rPr lang="en-GB" dirty="0"/>
                  <a:t>The mentioned RNN model only process the sequence in the forward direction, while some sequential patterns may lie in the backward direction. </a:t>
                </a:r>
                <a:r>
                  <a:rPr lang="en-GB" u="sng" dirty="0"/>
                  <a:t>Bidirectional RNN</a:t>
                </a:r>
                <a:r>
                  <a:rPr lang="en-GB" dirty="0"/>
                  <a:t> tries to learn patterns from both directions. </a:t>
                </a:r>
              </a:p>
              <a:p>
                <a:pPr algn="just"/>
                <a:r>
                  <a:rPr lang="en-GB" dirty="0"/>
                  <a:t>In bidirectional RNN, an additional backward RNN is used to process the reversed sequence, i.e. from </a:t>
                </a:r>
                <a14:m>
                  <m:oMath xmlns:m="http://schemas.openxmlformats.org/officeDocument/2006/math">
                    <m:sSub>
                      <m:sSubPr>
                        <m:ctrlPr>
                          <a:rPr lang="en-GB"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𝑇</m:t>
                        </m:r>
                      </m:sub>
                    </m:sSub>
                  </m:oMath>
                </a14:m>
                <a:r>
                  <a:rPr lang="en-GB" dirty="0"/>
                  <a:t> to </a:t>
                </a:r>
                <a14:m>
                  <m:oMath xmlns:m="http://schemas.openxmlformats.org/officeDocument/2006/math">
                    <m:sSub>
                      <m:sSubPr>
                        <m:ctrlPr>
                          <a:rPr lang="en-GB"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oMath>
                </a14:m>
                <a:r>
                  <a:rPr lang="en-GB" dirty="0"/>
                  <a:t>. The concatenation of the hidden states from both directions is used to calculate the output probability.</a:t>
                </a:r>
                <a:endParaRPr lang="en-IN" dirty="0"/>
              </a:p>
            </p:txBody>
          </p:sp>
        </mc:Choice>
        <mc:Fallback>
          <p:sp>
            <p:nvSpPr>
              <p:cNvPr id="3" name="Content Placeholder 2">
                <a:extLst>
                  <a:ext uri="{FF2B5EF4-FFF2-40B4-BE49-F238E27FC236}">
                    <a16:creationId xmlns:a16="http://schemas.microsoft.com/office/drawing/2014/main" id="{A8451B63-A300-4C00-833F-A737065CE951}"/>
                  </a:ext>
                </a:extLst>
              </p:cNvPr>
              <p:cNvSpPr>
                <a:spLocks noGrp="1" noRot="1" noChangeAspect="1" noMove="1" noResize="1" noEditPoints="1" noAdjustHandles="1" noChangeArrowheads="1" noChangeShapeType="1" noTextEdit="1"/>
              </p:cNvSpPr>
              <p:nvPr>
                <p:ph idx="1"/>
              </p:nvPr>
            </p:nvSpPr>
            <p:spPr>
              <a:blipFill>
                <a:blip r:embed="rId2"/>
                <a:stretch>
                  <a:fillRect l="-303" t="-1504" r="-606"/>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4809C7B8-E6E7-4A3C-BA44-054BE99DF846}"/>
              </a:ext>
            </a:extLst>
          </p:cNvPr>
          <p:cNvSpPr>
            <a:spLocks noGrp="1"/>
          </p:cNvSpPr>
          <p:nvPr>
            <p:ph type="sldNum" sz="quarter" idx="12"/>
          </p:nvPr>
        </p:nvSpPr>
        <p:spPr/>
        <p:txBody>
          <a:bodyPr/>
          <a:lstStyle/>
          <a:p>
            <a:fld id="{82BC92B1-C9EA-4D86-A246-22CEB90EE2A6}" type="slidenum">
              <a:rPr lang="en-IN" smtClean="0"/>
              <a:t>9</a:t>
            </a:fld>
            <a:endParaRPr lang="en-IN"/>
          </a:p>
        </p:txBody>
      </p:sp>
      <p:pic>
        <p:nvPicPr>
          <p:cNvPr id="3074" name="Picture 2" descr="http://d3kbpzbmcynnmx.cloudfront.net/wp-content/uploads/2015/09/bidirectional-rnn.png">
            <a:extLst>
              <a:ext uri="{FF2B5EF4-FFF2-40B4-BE49-F238E27FC236}">
                <a16:creationId xmlns:a16="http://schemas.microsoft.com/office/drawing/2014/main" id="{FCD933FD-0BA2-46BD-B425-C4B86F216C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8008" y="4113213"/>
            <a:ext cx="3305259" cy="2159571"/>
          </a:xfrm>
          <a:prstGeom prst="rect">
            <a:avLst/>
          </a:prstGeom>
          <a:noFill/>
          <a:extLst>
            <a:ext uri="{909E8E84-426E-40DD-AFC4-6F175D3DCCD1}">
              <a14:hiddenFill xmlns:a14="http://schemas.microsoft.com/office/drawing/2010/main">
                <a:solidFill>
                  <a:srgbClr val="FFFFFF"/>
                </a:solidFill>
              </a14:hiddenFill>
            </a:ext>
          </a:extLst>
        </p:spPr>
      </p:pic>
      <p:sp>
        <p:nvSpPr>
          <p:cNvPr id="6" name="Date Placeholder 5">
            <a:extLst>
              <a:ext uri="{FF2B5EF4-FFF2-40B4-BE49-F238E27FC236}">
                <a16:creationId xmlns:a16="http://schemas.microsoft.com/office/drawing/2014/main" id="{C75FE563-3311-48D6-B8B6-396479D9F594}"/>
              </a:ext>
            </a:extLst>
          </p:cNvPr>
          <p:cNvSpPr>
            <a:spLocks noGrp="1"/>
          </p:cNvSpPr>
          <p:nvPr>
            <p:ph type="dt" sz="half" idx="10"/>
          </p:nvPr>
        </p:nvSpPr>
        <p:spPr/>
        <p:txBody>
          <a:bodyPr/>
          <a:lstStyle/>
          <a:p>
            <a:fld id="{2CA648EF-6908-4518-B6DD-980017DD01A5}" type="datetime1">
              <a:rPr lang="en-IN" smtClean="0"/>
              <a:t>11-10-2017</a:t>
            </a:fld>
            <a:endParaRPr lang="en-IN"/>
          </a:p>
        </p:txBody>
      </p:sp>
    </p:spTree>
    <p:extLst>
      <p:ext uri="{BB962C8B-B14F-4D97-AF65-F5344CB8AC3E}">
        <p14:creationId xmlns:p14="http://schemas.microsoft.com/office/powerpoint/2010/main" val="755414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074"/>
                                        </p:tgtEl>
                                        <p:attrNameLst>
                                          <p:attrName>style.visibility</p:attrName>
                                        </p:attrNameLst>
                                      </p:cBhvr>
                                      <p:to>
                                        <p:strVal val="visible"/>
                                      </p:to>
                                    </p:set>
                                    <p:anim calcmode="lin" valueType="num">
                                      <p:cBhvr additive="base">
                                        <p:cTn id="11" dur="250" fill="hold"/>
                                        <p:tgtEl>
                                          <p:spTgt spid="3074"/>
                                        </p:tgtEl>
                                        <p:attrNameLst>
                                          <p:attrName>ppt_x</p:attrName>
                                        </p:attrNameLst>
                                      </p:cBhvr>
                                      <p:tavLst>
                                        <p:tav tm="0">
                                          <p:val>
                                            <p:strVal val="#ppt_x"/>
                                          </p:val>
                                        </p:tav>
                                        <p:tav tm="100000">
                                          <p:val>
                                            <p:strVal val="#ppt_x"/>
                                          </p:val>
                                        </p:tav>
                                      </p:tavLst>
                                    </p:anim>
                                    <p:anim calcmode="lin" valueType="num">
                                      <p:cBhvr additive="base">
                                        <p:cTn id="12" dur="250" fill="hold"/>
                                        <p:tgtEl>
                                          <p:spTgt spid="307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E2B0A-6418-4D40-B059-DBC334610E5B}"/>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7C60FC76-859E-4018-9C91-E0F7F86950C2}"/>
              </a:ext>
            </a:extLst>
          </p:cNvPr>
          <p:cNvSpPr>
            <a:spLocks noGrp="1"/>
          </p:cNvSpPr>
          <p:nvPr>
            <p:ph idx="1"/>
          </p:nvPr>
        </p:nvSpPr>
        <p:spPr/>
        <p:txBody>
          <a:bodyPr>
            <a:normAutofit/>
          </a:bodyPr>
          <a:lstStyle/>
          <a:p>
            <a:pPr marL="457200" indent="-457200" algn="just">
              <a:buFont typeface="+mj-lt"/>
              <a:buAutoNum type="arabicPeriod"/>
            </a:pPr>
            <a:r>
              <a:rPr lang="en-GB" dirty="0"/>
              <a:t>J Zico Kolter and Marcus A Maloof. Learning to detect and classify malicious executables in the wild. The Journal of Machine Learning Research, 7:2721–2744, 2006.</a:t>
            </a:r>
          </a:p>
          <a:p>
            <a:pPr marL="457200" indent="-457200" algn="just">
              <a:buFont typeface="+mj-lt"/>
              <a:buAutoNum type="arabicPeriod"/>
            </a:pPr>
            <a:r>
              <a:rPr lang="en-IN" dirty="0"/>
              <a:t>Matthew G Schultz, </a:t>
            </a:r>
            <a:r>
              <a:rPr lang="en-IN" dirty="0" err="1"/>
              <a:t>Eleazar</a:t>
            </a:r>
            <a:r>
              <a:rPr lang="en-IN" dirty="0"/>
              <a:t> </a:t>
            </a:r>
            <a:r>
              <a:rPr lang="en-IN" dirty="0" err="1"/>
              <a:t>Eskin</a:t>
            </a:r>
            <a:r>
              <a:rPr lang="en-IN" dirty="0"/>
              <a:t>, </a:t>
            </a:r>
            <a:r>
              <a:rPr lang="en-IN" dirty="0" err="1"/>
              <a:t>Erez</a:t>
            </a:r>
            <a:r>
              <a:rPr lang="en-IN" dirty="0"/>
              <a:t> Zadok, and Salvatore J </a:t>
            </a:r>
            <a:r>
              <a:rPr lang="en-IN" dirty="0" err="1"/>
              <a:t>Stolfo</a:t>
            </a:r>
            <a:r>
              <a:rPr lang="en-IN" dirty="0"/>
              <a:t>. Data mining methods for detection of new malicious executables. In Security and Privacy, 2001. S&amp;P 2001. Proceedings. 2001 IEEE Symposium on, pages 38–49. IEEE, 2001.</a:t>
            </a:r>
          </a:p>
          <a:p>
            <a:pPr marL="457200" indent="-457200" algn="just">
              <a:buFont typeface="+mj-lt"/>
              <a:buAutoNum type="arabicPeriod"/>
            </a:pPr>
            <a:r>
              <a:rPr lang="en-IN" dirty="0"/>
              <a:t>Kathrin Grosse, Nicolas </a:t>
            </a:r>
            <a:r>
              <a:rPr lang="en-IN" dirty="0" err="1"/>
              <a:t>Papernot</a:t>
            </a:r>
            <a:r>
              <a:rPr lang="en-IN" dirty="0"/>
              <a:t>, Praveen </a:t>
            </a:r>
            <a:r>
              <a:rPr lang="en-IN" dirty="0" err="1"/>
              <a:t>Manoharan</a:t>
            </a:r>
            <a:r>
              <a:rPr lang="en-IN" dirty="0"/>
              <a:t>, Michael </a:t>
            </a:r>
            <a:r>
              <a:rPr lang="en-IN" dirty="0" err="1"/>
              <a:t>Backes</a:t>
            </a:r>
            <a:r>
              <a:rPr lang="en-IN" dirty="0"/>
              <a:t>, and Patrick McDaniel. </a:t>
            </a:r>
            <a:r>
              <a:rPr lang="en-GB" dirty="0"/>
              <a:t>Adversarial perturbations against deep neural networks for malware classification. </a:t>
            </a:r>
            <a:r>
              <a:rPr lang="en-GB" dirty="0" err="1"/>
              <a:t>arXiv</a:t>
            </a:r>
            <a:r>
              <a:rPr lang="en-GB" dirty="0"/>
              <a:t> preprint </a:t>
            </a:r>
            <a:r>
              <a:rPr lang="en-IN" dirty="0"/>
              <a:t>arXiv:1606.04435, 2016.</a:t>
            </a:r>
          </a:p>
          <a:p>
            <a:pPr marL="457200" indent="-457200" algn="just">
              <a:buFont typeface="+mj-lt"/>
              <a:buAutoNum type="arabicPeriod"/>
            </a:pPr>
            <a:r>
              <a:rPr lang="en-GB" dirty="0"/>
              <a:t>Weiwei Hu and Ying Tan. Generating adversarial malware examples for black-box attacks based on </a:t>
            </a:r>
            <a:r>
              <a:rPr lang="en-GB" dirty="0" err="1"/>
              <a:t>gan</a:t>
            </a:r>
            <a:r>
              <a:rPr lang="en-GB" dirty="0"/>
              <a:t>. </a:t>
            </a:r>
            <a:r>
              <a:rPr lang="en-GB" dirty="0" err="1"/>
              <a:t>arXiv</a:t>
            </a:r>
            <a:r>
              <a:rPr lang="en-GB" dirty="0"/>
              <a:t> preprint arXiv:1702.05983, 2017.</a:t>
            </a:r>
            <a:endParaRPr lang="en-IN" dirty="0"/>
          </a:p>
        </p:txBody>
      </p:sp>
      <p:sp>
        <p:nvSpPr>
          <p:cNvPr id="4" name="Slide Number Placeholder 3">
            <a:extLst>
              <a:ext uri="{FF2B5EF4-FFF2-40B4-BE49-F238E27FC236}">
                <a16:creationId xmlns:a16="http://schemas.microsoft.com/office/drawing/2014/main" id="{6D3DE00D-4DB1-4E68-801E-C2AFE8FF51A7}"/>
              </a:ext>
            </a:extLst>
          </p:cNvPr>
          <p:cNvSpPr>
            <a:spLocks noGrp="1"/>
          </p:cNvSpPr>
          <p:nvPr>
            <p:ph type="sldNum" sz="quarter" idx="12"/>
          </p:nvPr>
        </p:nvSpPr>
        <p:spPr/>
        <p:txBody>
          <a:bodyPr/>
          <a:lstStyle/>
          <a:p>
            <a:fld id="{82BC92B1-C9EA-4D86-A246-22CEB90EE2A6}" type="slidenum">
              <a:rPr lang="en-IN" smtClean="0"/>
              <a:t>10</a:t>
            </a:fld>
            <a:endParaRPr lang="en-IN"/>
          </a:p>
        </p:txBody>
      </p:sp>
      <p:sp>
        <p:nvSpPr>
          <p:cNvPr id="5" name="Date Placeholder 4">
            <a:extLst>
              <a:ext uri="{FF2B5EF4-FFF2-40B4-BE49-F238E27FC236}">
                <a16:creationId xmlns:a16="http://schemas.microsoft.com/office/drawing/2014/main" id="{CA90208F-629D-4091-A1FE-138609F580E4}"/>
              </a:ext>
            </a:extLst>
          </p:cNvPr>
          <p:cNvSpPr>
            <a:spLocks noGrp="1"/>
          </p:cNvSpPr>
          <p:nvPr>
            <p:ph type="dt" sz="half" idx="10"/>
          </p:nvPr>
        </p:nvSpPr>
        <p:spPr/>
        <p:txBody>
          <a:bodyPr/>
          <a:lstStyle/>
          <a:p>
            <a:fld id="{3BBAB67E-1135-4B25-9359-E3D258CA3ACC}" type="datetime1">
              <a:rPr lang="en-IN" smtClean="0"/>
              <a:t>11-10-2017</a:t>
            </a:fld>
            <a:endParaRPr lang="en-IN"/>
          </a:p>
        </p:txBody>
      </p:sp>
    </p:spTree>
    <p:extLst>
      <p:ext uri="{BB962C8B-B14F-4D97-AF65-F5344CB8AC3E}">
        <p14:creationId xmlns:p14="http://schemas.microsoft.com/office/powerpoint/2010/main" val="3501049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E2B0A-6418-4D40-B059-DBC334610E5B}"/>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7C60FC76-859E-4018-9C91-E0F7F86950C2}"/>
              </a:ext>
            </a:extLst>
          </p:cNvPr>
          <p:cNvSpPr>
            <a:spLocks noGrp="1"/>
          </p:cNvSpPr>
          <p:nvPr>
            <p:ph idx="1"/>
          </p:nvPr>
        </p:nvSpPr>
        <p:spPr/>
        <p:txBody>
          <a:bodyPr>
            <a:normAutofit/>
          </a:bodyPr>
          <a:lstStyle/>
          <a:p>
            <a:pPr marL="457200" indent="-457200" algn="just">
              <a:buFont typeface="+mj-lt"/>
              <a:buAutoNum type="arabicPeriod" startAt="5"/>
            </a:pPr>
            <a:r>
              <a:rPr lang="en-GB" dirty="0"/>
              <a:t>Razvan </a:t>
            </a:r>
            <a:r>
              <a:rPr lang="en-GB" dirty="0" err="1"/>
              <a:t>Pascanu</a:t>
            </a:r>
            <a:r>
              <a:rPr lang="en-GB" dirty="0"/>
              <a:t>, Jack W Stokes, </a:t>
            </a:r>
            <a:r>
              <a:rPr lang="en-GB" dirty="0" err="1"/>
              <a:t>Hermineh</a:t>
            </a:r>
            <a:r>
              <a:rPr lang="en-GB" dirty="0"/>
              <a:t> </a:t>
            </a:r>
            <a:r>
              <a:rPr lang="en-GB" dirty="0" err="1"/>
              <a:t>Sanossian</a:t>
            </a:r>
            <a:r>
              <a:rPr lang="en-GB" dirty="0"/>
              <a:t>, </a:t>
            </a:r>
            <a:r>
              <a:rPr lang="en-GB" dirty="0" err="1"/>
              <a:t>Mady</a:t>
            </a:r>
            <a:r>
              <a:rPr lang="en-GB" dirty="0"/>
              <a:t> </a:t>
            </a:r>
            <a:r>
              <a:rPr lang="en-GB" dirty="0" err="1"/>
              <a:t>Marinescu</a:t>
            </a:r>
            <a:r>
              <a:rPr lang="en-GB" dirty="0"/>
              <a:t>, and Anil Thomas. Malware classification with recurrent networks. In Acoustics, Speech and Signal Processing (ICASSP), 2015 IEEE International Conference on, pages 1916–1920. IEEE, 2015.</a:t>
            </a:r>
          </a:p>
          <a:p>
            <a:pPr marL="457200" indent="-457200" algn="just">
              <a:buFont typeface="+mj-lt"/>
              <a:buAutoNum type="arabicPeriod" startAt="5"/>
            </a:pPr>
            <a:r>
              <a:rPr lang="en-IN" dirty="0"/>
              <a:t>Shun </a:t>
            </a:r>
            <a:r>
              <a:rPr lang="en-IN" dirty="0" err="1"/>
              <a:t>Tobiyama</a:t>
            </a:r>
            <a:r>
              <a:rPr lang="en-IN" dirty="0"/>
              <a:t>, Yukiko Yamaguchi, Hajime Shimada, Tomonori </a:t>
            </a:r>
            <a:r>
              <a:rPr lang="en-IN" dirty="0" err="1"/>
              <a:t>Ikuse</a:t>
            </a:r>
            <a:r>
              <a:rPr lang="en-IN" dirty="0"/>
              <a:t>, and Takeshi Yagi. Malware detection with deep neural network using process behavior. In Computer Software and Applications Conference (COMPSAC), 2016 IEEE 40th Annual, volume 2, pages 577–582. IEEE, 2016.</a:t>
            </a:r>
          </a:p>
          <a:p>
            <a:pPr marL="457200" indent="-457200" algn="just">
              <a:buFont typeface="+mj-lt"/>
              <a:buAutoNum type="arabicPeriod" startAt="5"/>
            </a:pPr>
            <a:r>
              <a:rPr lang="en-IN" dirty="0" err="1"/>
              <a:t>Bojan</a:t>
            </a:r>
            <a:r>
              <a:rPr lang="en-IN" dirty="0"/>
              <a:t> </a:t>
            </a:r>
            <a:r>
              <a:rPr lang="en-IN" dirty="0" err="1"/>
              <a:t>Kolosnjaji</a:t>
            </a:r>
            <a:r>
              <a:rPr lang="en-IN" dirty="0"/>
              <a:t>, </a:t>
            </a:r>
            <a:r>
              <a:rPr lang="en-IN" dirty="0" err="1"/>
              <a:t>Apostolis</a:t>
            </a:r>
            <a:r>
              <a:rPr lang="en-IN" dirty="0"/>
              <a:t> </a:t>
            </a:r>
            <a:r>
              <a:rPr lang="en-IN" dirty="0" err="1"/>
              <a:t>Zarras</a:t>
            </a:r>
            <a:r>
              <a:rPr lang="en-IN" dirty="0"/>
              <a:t>, George Webster, and Claudia Eckert. Deep learning for classification of malware system call sequences. In Australasian Joint Conference on Artificial Intelligence, pages 137–149. Springer, 2016.</a:t>
            </a:r>
          </a:p>
        </p:txBody>
      </p:sp>
      <p:sp>
        <p:nvSpPr>
          <p:cNvPr id="4" name="Slide Number Placeholder 3">
            <a:extLst>
              <a:ext uri="{FF2B5EF4-FFF2-40B4-BE49-F238E27FC236}">
                <a16:creationId xmlns:a16="http://schemas.microsoft.com/office/drawing/2014/main" id="{6E27C14A-0247-4751-AB35-63C79B933CC3}"/>
              </a:ext>
            </a:extLst>
          </p:cNvPr>
          <p:cNvSpPr>
            <a:spLocks noGrp="1"/>
          </p:cNvSpPr>
          <p:nvPr>
            <p:ph type="sldNum" sz="quarter" idx="12"/>
          </p:nvPr>
        </p:nvSpPr>
        <p:spPr/>
        <p:txBody>
          <a:bodyPr/>
          <a:lstStyle/>
          <a:p>
            <a:fld id="{82BC92B1-C9EA-4D86-A246-22CEB90EE2A6}" type="slidenum">
              <a:rPr lang="en-IN" smtClean="0"/>
              <a:t>11</a:t>
            </a:fld>
            <a:endParaRPr lang="en-IN"/>
          </a:p>
        </p:txBody>
      </p:sp>
      <p:sp>
        <p:nvSpPr>
          <p:cNvPr id="5" name="Date Placeholder 4">
            <a:extLst>
              <a:ext uri="{FF2B5EF4-FFF2-40B4-BE49-F238E27FC236}">
                <a16:creationId xmlns:a16="http://schemas.microsoft.com/office/drawing/2014/main" id="{383BCE0C-B6A2-4E53-809F-25E13C118998}"/>
              </a:ext>
            </a:extLst>
          </p:cNvPr>
          <p:cNvSpPr>
            <a:spLocks noGrp="1"/>
          </p:cNvSpPr>
          <p:nvPr>
            <p:ph type="dt" sz="half" idx="10"/>
          </p:nvPr>
        </p:nvSpPr>
        <p:spPr/>
        <p:txBody>
          <a:bodyPr/>
          <a:lstStyle/>
          <a:p>
            <a:fld id="{2E8910C9-A442-46A0-9154-253EEBADA1BC}" type="datetime1">
              <a:rPr lang="en-IN" smtClean="0"/>
              <a:t>11-10-2017</a:t>
            </a:fld>
            <a:endParaRPr lang="en-IN"/>
          </a:p>
        </p:txBody>
      </p:sp>
    </p:spTree>
    <p:extLst>
      <p:ext uri="{BB962C8B-B14F-4D97-AF65-F5344CB8AC3E}">
        <p14:creationId xmlns:p14="http://schemas.microsoft.com/office/powerpoint/2010/main" val="355189715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TM03090434[[fn=Wood Type]]</Template>
  <TotalTime>257</TotalTime>
  <Words>1428</Words>
  <Application>Microsoft Office PowerPoint</Application>
  <PresentationFormat>Widescreen</PresentationFormat>
  <Paragraphs>152</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Cambria Math</vt:lpstr>
      <vt:lpstr>Rockwell</vt:lpstr>
      <vt:lpstr>Rockwell Condensed</vt:lpstr>
      <vt:lpstr>Wingdings</vt:lpstr>
      <vt:lpstr>Wood Type</vt:lpstr>
      <vt:lpstr>Black-Box attack against RNN based Malware Detection Algorithms</vt:lpstr>
      <vt:lpstr>Key Points</vt:lpstr>
      <vt:lpstr>Main Attack Idea</vt:lpstr>
      <vt:lpstr>Main Attack Idea</vt:lpstr>
      <vt:lpstr>Basic of RNN</vt:lpstr>
      <vt:lpstr>Basic of RNN</vt:lpstr>
      <vt:lpstr>Rnn for malware detection</vt:lpstr>
      <vt:lpstr>Rnn for malware detection</vt:lpstr>
      <vt:lpstr>Rnn for malware detection</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Black-Box attack against RNN based Malware Detection Algorithms</dc:title>
  <dc:creator>Manaar Alam</dc:creator>
  <cp:lastModifiedBy>Manaar Alam</cp:lastModifiedBy>
  <cp:revision>64</cp:revision>
  <dcterms:created xsi:type="dcterms:W3CDTF">2017-10-10T17:32:16Z</dcterms:created>
  <dcterms:modified xsi:type="dcterms:W3CDTF">2017-10-10T21:49:33Z</dcterms:modified>
</cp:coreProperties>
</file>